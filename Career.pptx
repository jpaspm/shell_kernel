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–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915"/>
  </p:normalViewPr>
  <p:slideViewPr>
    <p:cSldViewPr snapToGrid="0">
      <p:cViewPr varScale="1">
        <p:scale>
          <a:sx n="109" d="100"/>
          <a:sy n="109" d="100"/>
        </p:scale>
        <p:origin x="6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808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38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97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30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179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165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76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995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17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6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03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E4E50ED-CE37-7E4B-A01B-6795D8DE9D9B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686C0B4-B66D-7C41-8076-26EC767D8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7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02216-A424-67A2-D2D9-65BA080882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General Discussion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FEF5F-BB33-78AC-C0FD-9E28B0CEB1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80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CE9D3-988F-DE86-F6E8-DD44FC2CB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Career &amp; Industry Readiness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DA864-3150-D46D-D8F1-B951B1BF4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Career Paths After Post Graduate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Software Developer (Backend / Full-Stack)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DevOps / SRE / Cloud Engineer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Data Engineer / Data Scientist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Cybersecurity Analyst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QA / Automation Engineer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Product Engineer / Technical Product Manager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Research / Higher Studies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896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400C2-D95A-F4E3-2AFE-5DD66B22C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Computer Science Fundamentals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42305-8B14-F2E5-4E24-9D7161225C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Programming Fundamentals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Data Structures &amp; Algorithms (DSA)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Time &amp; space complexity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Problem-solving approach</a:t>
            </a:r>
          </a:p>
          <a:p>
            <a:r>
              <a:rPr lang="en-IN" b="1" dirty="0"/>
              <a:t> Operating Systems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Processes vs threads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Memory management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Scheduling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System calls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Linux basics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7BB8-AA68-0329-160D-B28BC6FA3E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Databases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SQL vs NoSQL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Normalization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Indexing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Transactions &amp; ACID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Real-world DB design</a:t>
            </a:r>
          </a:p>
          <a:p>
            <a:r>
              <a:rPr lang="en-IN" b="1" dirty="0"/>
              <a:t>Computer Networks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OSI &amp; TCP/IP models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HTTP vs HTTPS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DNS, Load Balancers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REST APIs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414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CE4B-EAC6-3F0A-9760-2D2C2BFE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Modern Software Development 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DB932-7B2F-F07D-4470-9699ACFA92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 Programming Languages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Java / Python / C++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When to use which language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Object-Oriented Programming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Design patterns (basic)</a:t>
            </a:r>
          </a:p>
          <a:p>
            <a:r>
              <a:rPr lang="en-IN" b="1" dirty="0"/>
              <a:t>Web Development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Frontend vs Backend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REST APIs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Authentication &amp; Authorization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MVC architecture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5651A-883F-64AB-F794-1D89B0B22E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Version Control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Git &amp; GitHub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Branching strategies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Pull requests &amp; code reviews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72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F4A21-29D2-61F6-5105-8844B0231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Cloud, DevOps &amp; Emerging Technologies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EB50E-7CDD-733E-10B5-7F5EF4BE36B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Cloud Computing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What is Cloud?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AWS / Azure / GCP basics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IaaS, PaaS, SaaS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Cloud career paths</a:t>
            </a:r>
          </a:p>
          <a:p>
            <a:r>
              <a:rPr lang="en-IN" b="1" dirty="0"/>
              <a:t> DevOps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CI/CD pipelines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Docker &amp; Containers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Kubernetes basics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Infrastructure as Code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0073B-A9E1-203D-5714-57AEF3BA53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Observability &amp; Monitoring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Logs, metrics, traces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Why monitoring matters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Tools like Grafana, Prometheus, Splunk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01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3B375-532D-6340-A960-69CA4CF5B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Data, AI &amp; Analytics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EF663-AA9D-8D61-5FA3-6124E5ADD8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/>
              <a:t>Data Engineering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Data pipelines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ETL concepts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SQL vs Big Data tools</a:t>
            </a:r>
          </a:p>
          <a:p>
            <a:r>
              <a:rPr lang="en-IN" b="1" dirty="0"/>
              <a:t>Data Science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Basics of machine learning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AI vs ML vs Deep Learning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Real-world use cases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BC7934-EFEC-99EE-8E34-3B97D098B7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/>
              <a:t>Responsible AI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Ethics in AI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Data privacy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Bias in models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682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CCCAD-6A4F-E035-532B-ADBB6E87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&amp; Practical Learning 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3A25C6-B872-2916-B5A9-A0B9C17774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/>
              <a:t>Final Year Projects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How to choose a good project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Avoiding “copy-paste” projects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Industry-oriented project ideas</a:t>
            </a:r>
          </a:p>
          <a:p>
            <a:r>
              <a:rPr lang="en-IN" b="1" dirty="0"/>
              <a:t>Live Project Experience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Open-source contributions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Freelancing basics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Hackathons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DE40F-7369-E1DE-2F94-4170D388D23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  <a:p>
            <a:pPr lvl="1"/>
            <a:r>
              <a:rPr lang="en-US" dirty="0"/>
              <a:t>10 times</a:t>
            </a:r>
          </a:p>
          <a:p>
            <a:pPr lvl="1"/>
            <a:r>
              <a:rPr lang="en-US" dirty="0"/>
              <a:t>AI Camp</a:t>
            </a:r>
          </a:p>
          <a:p>
            <a:pPr lvl="1"/>
            <a:r>
              <a:rPr lang="en-US" dirty="0"/>
              <a:t>Meetup</a:t>
            </a:r>
          </a:p>
          <a:p>
            <a:pPr lvl="1"/>
            <a:r>
              <a:rPr lang="en-US" dirty="0"/>
              <a:t>AIOUG</a:t>
            </a:r>
          </a:p>
          <a:p>
            <a:pPr lvl="1"/>
            <a:r>
              <a:rPr lang="en-US" dirty="0"/>
              <a:t>Other User Groups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387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320A575-1D11-1FFE-93FD-1B9CFBAA9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F37C919-064C-6D16-989F-3D60F0A16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Open source software is software whose source code is publicly available for anyone to use, study, modify, and improve.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48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99E0A9-41FF-B5E2-C7EB-4D0EF29C8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Open Source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235DFD-082F-A1E6-39FB-A487DFFA6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Key Ideas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Anyone can see the 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Anyone can suggest improvements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Collaboration over competition</a:t>
            </a:r>
          </a:p>
          <a:p>
            <a:r>
              <a:rPr lang="en-IN" b="1" dirty="0"/>
              <a:t>Examples They Know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Linux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Python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MySQL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Git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React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dirty="0"/>
              <a:t>Kubernetes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867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A43EC-EEC7-062A-774F-3E9EC07E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Myths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60CB81-098D-909F-C4BC-E554CD5E29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9086236"/>
              </p:ext>
            </p:extLst>
          </p:nvPr>
        </p:nvGraphicFramePr>
        <p:xfrm>
          <a:off x="1069975" y="2093976"/>
          <a:ext cx="10058400" cy="2966975"/>
        </p:xfrm>
        <a:graphic>
          <a:graphicData uri="http://schemas.openxmlformats.org/drawingml/2006/table">
            <a:tbl>
              <a:tblPr/>
              <a:tblGrid>
                <a:gridCol w="5029200">
                  <a:extLst>
                    <a:ext uri="{9D8B030D-6E8A-4147-A177-3AD203B41FA5}">
                      <a16:colId xmlns:a16="http://schemas.microsoft.com/office/drawing/2014/main" val="241664087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115957817"/>
                    </a:ext>
                  </a:extLst>
                </a:gridCol>
              </a:tblGrid>
              <a:tr h="593395">
                <a:tc>
                  <a:txBody>
                    <a:bodyPr/>
                    <a:lstStyle/>
                    <a:p>
                      <a:r>
                        <a:rPr lang="en-IN"/>
                        <a:t>Myth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Reality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946255"/>
                  </a:ext>
                </a:extLst>
              </a:tr>
              <a:tr h="593395">
                <a:tc>
                  <a:txBody>
                    <a:bodyPr/>
                    <a:lstStyle/>
                    <a:p>
                      <a:r>
                        <a:rPr lang="en-IN"/>
                        <a:t>“I must be an expert”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Beginners are welcome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972238"/>
                  </a:ext>
                </a:extLst>
              </a:tr>
              <a:tr h="593395">
                <a:tc>
                  <a:txBody>
                    <a:bodyPr/>
                    <a:lstStyle/>
                    <a:p>
                      <a:r>
                        <a:rPr lang="en-IN"/>
                        <a:t>“I need to write big features”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Small fixes matter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768074"/>
                  </a:ext>
                </a:extLst>
              </a:tr>
              <a:tr h="593395">
                <a:tc>
                  <a:txBody>
                    <a:bodyPr/>
                    <a:lstStyle/>
                    <a:p>
                      <a:r>
                        <a:rPr lang="en-IN"/>
                        <a:t>“I’ll break something”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PRs are reviewed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55409"/>
                  </a:ext>
                </a:extLst>
              </a:tr>
              <a:tr h="593395">
                <a:tc>
                  <a:txBody>
                    <a:bodyPr/>
                    <a:lstStyle/>
                    <a:p>
                      <a:r>
                        <a:rPr lang="en-IN"/>
                        <a:t>“Open source is unpaid”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Experience &gt; money initially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051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5251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BD931-B5CD-FC4F-478B-978A62E6E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Does ‘Contributing’ Actually Mean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D30E5-45AD-E069-4DA1-C766DE744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Types of Contributions</a:t>
            </a:r>
          </a:p>
          <a:p>
            <a:pPr lvl="1"/>
            <a:r>
              <a:rPr lang="en-IN" dirty="0"/>
              <a:t>Fixing bugs</a:t>
            </a:r>
          </a:p>
          <a:p>
            <a:pPr lvl="1"/>
            <a:r>
              <a:rPr lang="en-IN" dirty="0"/>
              <a:t>Improving documentation</a:t>
            </a:r>
          </a:p>
          <a:p>
            <a:pPr lvl="1"/>
            <a:r>
              <a:rPr lang="en-IN" dirty="0"/>
              <a:t>Writing tests</a:t>
            </a:r>
          </a:p>
          <a:p>
            <a:pPr lvl="1"/>
            <a:r>
              <a:rPr lang="en-IN" dirty="0"/>
              <a:t>Refactoring code</a:t>
            </a:r>
          </a:p>
          <a:p>
            <a:pPr lvl="1"/>
            <a:r>
              <a:rPr lang="en-IN" dirty="0"/>
              <a:t>Improving README files</a:t>
            </a:r>
          </a:p>
          <a:p>
            <a:pPr lvl="1"/>
            <a:r>
              <a:rPr lang="en-IN" dirty="0"/>
              <a:t>Answering issues</a:t>
            </a:r>
          </a:p>
          <a:p>
            <a:pPr lvl="1"/>
            <a:r>
              <a:rPr lang="en-IN" dirty="0"/>
              <a:t>Adding examples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98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17937-045B-7678-F093-9EE155B24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a Contribution Actually Works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37940-B861-CB71-AD96-8992AA974C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Project → Find Issue → Fix → Submit → Review → Merge 🎉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Simple Steps</a:t>
            </a:r>
          </a:p>
          <a:p>
            <a:pPr lvl="1"/>
            <a:r>
              <a:rPr lang="en-US" dirty="0"/>
              <a:t>Find a project on GitHub</a:t>
            </a:r>
          </a:p>
          <a:p>
            <a:pPr lvl="1"/>
            <a:r>
              <a:rPr lang="en-US" dirty="0"/>
              <a:t>Pick a beginner-friendly issue</a:t>
            </a:r>
          </a:p>
          <a:p>
            <a:pPr lvl="1"/>
            <a:r>
              <a:rPr lang="en-US" dirty="0"/>
              <a:t>Make a small change</a:t>
            </a:r>
          </a:p>
          <a:p>
            <a:pPr lvl="1"/>
            <a:r>
              <a:rPr lang="en-US" dirty="0"/>
              <a:t>Create a Pull Request (PR)</a:t>
            </a:r>
          </a:p>
          <a:p>
            <a:pPr lvl="1"/>
            <a:r>
              <a:rPr lang="en-US" dirty="0"/>
              <a:t>Learn from feedback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CC00F-D29E-014F-F573-131CE648A7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Interview Advantage</a:t>
            </a:r>
          </a:p>
          <a:p>
            <a:r>
              <a:rPr lang="en-IN" dirty="0"/>
              <a:t>Instead of saying:</a:t>
            </a:r>
          </a:p>
          <a:p>
            <a:pPr lvl="1"/>
            <a:r>
              <a:rPr lang="en-IN" dirty="0"/>
              <a:t>“I know Java”</a:t>
            </a:r>
          </a:p>
          <a:p>
            <a:r>
              <a:rPr lang="en-IN" dirty="0"/>
              <a:t>They can say:</a:t>
            </a:r>
          </a:p>
          <a:p>
            <a:pPr lvl="1"/>
            <a:r>
              <a:rPr lang="en-IN" dirty="0"/>
              <a:t>“I contributed to an open-source Java project, fixed a bug, and my code was reviewed by maintainers.”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059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8135D-175A-55FF-6539-C1520B146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Projects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F3CF641-8A83-2ED7-9295-4C80A1C7E3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7308808"/>
              </p:ext>
            </p:extLst>
          </p:nvPr>
        </p:nvGraphicFramePr>
        <p:xfrm>
          <a:off x="1069975" y="2500630"/>
          <a:ext cx="10058400" cy="29260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395487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259403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Student Interest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Best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8714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Java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Apache, Spring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6605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Django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9343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Web / UI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Mozilla, React, FreeCodeCamp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0619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DevOps / Cloud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Docker, Kubernetes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7417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Observability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Grafana, Prometheus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293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OS / Kernel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BusyBox, Linux (docs only)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361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Security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OWASP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07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4548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{1C56BE13-E4BA-3744-8775-32F73419B966}tf10001070</Template>
  <TotalTime>17</TotalTime>
  <Words>537</Words>
  <Application>Microsoft Macintosh PowerPoint</Application>
  <PresentationFormat>Widescreen</PresentationFormat>
  <Paragraphs>155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General Discussion</vt:lpstr>
      <vt:lpstr>Career &amp; Industry Readiness</vt:lpstr>
      <vt:lpstr>Core Computer Science Fundamentals</vt:lpstr>
      <vt:lpstr>Modern Software Development Topics</vt:lpstr>
      <vt:lpstr>Cloud, DevOps &amp; Emerging Technologies</vt:lpstr>
      <vt:lpstr>Data, AI &amp; Analytics </vt:lpstr>
      <vt:lpstr>Project &amp; Practical Learning </vt:lpstr>
      <vt:lpstr>OPEN source</vt:lpstr>
      <vt:lpstr>What Is Open Source</vt:lpstr>
      <vt:lpstr>Common Myths</vt:lpstr>
      <vt:lpstr>What Does ‘Contributing’ Actually Mean</vt:lpstr>
      <vt:lpstr>How a Contribution Actually Works</vt:lpstr>
      <vt:lpstr>Top 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Discussion</dc:title>
  <dc:creator>Jayaprakash Subramanian</dc:creator>
  <cp:lastModifiedBy>Jayaprakash Subramanian</cp:lastModifiedBy>
  <cp:revision>5</cp:revision>
  <dcterms:created xsi:type="dcterms:W3CDTF">2026-01-31T01:42:46Z</dcterms:created>
  <dcterms:modified xsi:type="dcterms:W3CDTF">2026-01-31T01:59:59Z</dcterms:modified>
</cp:coreProperties>
</file>