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71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2" r:id="rId18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74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0408"/>
  </p:normalViewPr>
  <p:slideViewPr>
    <p:cSldViewPr>
      <p:cViewPr varScale="1">
        <p:scale>
          <a:sx n="63" d="100"/>
          <a:sy n="63" d="100"/>
        </p:scale>
        <p:origin x="218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736600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C73A82-33DF-3B4B-A6F1-4B2804452C3A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06888" y="1219200"/>
            <a:ext cx="4391025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736600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F34D2-3189-A84C-83B1-E7D26D48C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71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Simple Definition (</a:t>
            </a:r>
          </a:p>
          <a:p>
            <a:endParaRPr lang="en-IN" b="1" dirty="0"/>
          </a:p>
          <a:p>
            <a:r>
              <a:rPr lang="en-IN" b="1" dirty="0"/>
              <a:t>A system call is a way for a program to request the operating system to do something on its behalf.</a:t>
            </a:r>
            <a:endParaRPr lang="en-IN" dirty="0"/>
          </a:p>
          <a:p>
            <a:r>
              <a:rPr lang="en-IN" dirty="0"/>
              <a:t>Programs </a:t>
            </a:r>
            <a:r>
              <a:rPr lang="en-IN" b="1" dirty="0"/>
              <a:t>cannot directly access hardware</a:t>
            </a:r>
            <a:r>
              <a:rPr lang="en-IN" dirty="0"/>
              <a:t>, so they must </a:t>
            </a:r>
            <a:r>
              <a:rPr lang="en-IN" b="1" dirty="0"/>
              <a:t>ask the OS</a:t>
            </a:r>
            <a:r>
              <a:rPr lang="en-IN" dirty="0"/>
              <a:t>.</a:t>
            </a:r>
          </a:p>
          <a:p>
            <a:r>
              <a:rPr lang="en-IN" dirty="0"/>
              <a:t>That “asking” is done using </a:t>
            </a:r>
            <a:r>
              <a:rPr lang="en-IN" b="1" dirty="0"/>
              <a:t>system calls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4D2-3189-A84C-83B1-E7D26D48CC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32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Why Do System Calls Exist? </a:t>
            </a:r>
          </a:p>
          <a:p>
            <a:endParaRPr lang="en-IN" b="1" dirty="0"/>
          </a:p>
          <a:p>
            <a:r>
              <a:rPr lang="en-IN" dirty="0"/>
              <a:t>Explain this first, before technical details.</a:t>
            </a:r>
          </a:p>
          <a:p>
            <a:r>
              <a:rPr lang="en-IN" b="1" dirty="0"/>
              <a:t>The Core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Hardware is powerful and dangerous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every program accessed hardware directly: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One bug could crash the entire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Security would be impossible</a:t>
            </a:r>
          </a:p>
          <a:p>
            <a:r>
              <a:rPr lang="en-IN" b="1" dirty="0"/>
              <a:t>The Solution</a:t>
            </a:r>
          </a:p>
          <a:p>
            <a:r>
              <a:rPr lang="en-IN" dirty="0"/>
              <a:t>👉 The </a:t>
            </a:r>
            <a:r>
              <a:rPr lang="en-IN" b="1" dirty="0"/>
              <a:t>operating system sits in between</a:t>
            </a:r>
            <a:r>
              <a:rPr lang="en-IN" dirty="0"/>
              <a:t> and controls access.</a:t>
            </a:r>
          </a:p>
          <a:p>
            <a:r>
              <a:rPr lang="en-IN" dirty="0"/>
              <a:t>System calls are the </a:t>
            </a:r>
            <a:r>
              <a:rPr lang="en-IN" b="1" dirty="0"/>
              <a:t>only legal entry point</a:t>
            </a:r>
            <a:r>
              <a:rPr lang="en-IN" dirty="0"/>
              <a:t> into the OS kernel.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4D2-3189-A84C-83B1-E7D26D48CC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5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A Very Simple Analogy </a:t>
            </a:r>
          </a:p>
          <a:p>
            <a:endParaRPr lang="en-IN" b="1" dirty="0"/>
          </a:p>
          <a:p>
            <a:r>
              <a:rPr lang="en-IN" b="1" dirty="0"/>
              <a:t>🔐 Bank Analogy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User program</a:t>
            </a:r>
            <a:r>
              <a:rPr lang="en-IN" dirty="0"/>
              <a:t> → Customer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Operating system</a:t>
            </a:r>
            <a:r>
              <a:rPr lang="en-IN" dirty="0"/>
              <a:t> → Bank manager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Hardware</a:t>
            </a:r>
            <a:r>
              <a:rPr lang="en-IN" dirty="0"/>
              <a:t> → Bank vault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System call</a:t>
            </a:r>
            <a:r>
              <a:rPr lang="en-IN" dirty="0"/>
              <a:t> → Request form</a:t>
            </a:r>
          </a:p>
          <a:p>
            <a:r>
              <a:rPr lang="en-IN" dirty="0"/>
              <a:t>A customer </a:t>
            </a:r>
            <a:r>
              <a:rPr lang="en-IN" b="1" dirty="0"/>
              <a:t>cannot enter the vault directly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They must </a:t>
            </a:r>
            <a:r>
              <a:rPr lang="en-IN" b="1" dirty="0"/>
              <a:t>submit a request</a:t>
            </a:r>
            <a:r>
              <a:rPr lang="en-IN" dirty="0"/>
              <a:t> to the manager.</a:t>
            </a:r>
          </a:p>
          <a:p>
            <a:r>
              <a:rPr lang="en-IN" dirty="0"/>
              <a:t>Same way:</a:t>
            </a:r>
          </a:p>
          <a:p>
            <a:r>
              <a:rPr lang="en-IN" dirty="0"/>
              <a:t>Programs cannot access hardware directly — they must use system calls.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4D2-3189-A84C-83B1-E7D26D48CC7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20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Explain the two worlds clearly:</a:t>
            </a:r>
          </a:p>
          <a:p>
            <a:r>
              <a:rPr lang="en-IN" b="1" dirty="0"/>
              <a:t>🧑‍💻 User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Where applications run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Less privilege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Safe environment</a:t>
            </a:r>
          </a:p>
          <a:p>
            <a:r>
              <a:rPr lang="en-IN" b="1" dirty="0"/>
              <a:t>🧠 Kernel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Where OS runs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Full hardware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Very powerful</a:t>
            </a:r>
          </a:p>
          <a:p>
            <a:r>
              <a:rPr lang="en-IN" dirty="0"/>
              <a:t>System calls </a:t>
            </a:r>
            <a:r>
              <a:rPr lang="en-IN" b="1" dirty="0"/>
              <a:t>switch the CPU</a:t>
            </a:r>
            <a:r>
              <a:rPr lang="en-IN" dirty="0"/>
              <a:t> from user space → kernel space → back.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4D2-3189-A84C-83B1-E7D26D48CC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09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Walk through what happens when a program runs: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Loaded into memory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Given CPU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Executed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Terminated</a:t>
            </a:r>
          </a:p>
          <a:p>
            <a:r>
              <a:rPr lang="en-IN" dirty="0"/>
              <a:t>Mention abnormal termination (crashes)</a:t>
            </a:r>
          </a:p>
          <a:p>
            <a:r>
              <a:rPr lang="en-IN" dirty="0"/>
              <a:t>All of this is handled by </a:t>
            </a:r>
            <a:r>
              <a:rPr lang="en-IN" b="1" dirty="0"/>
              <a:t>OS via system calls</a:t>
            </a:r>
            <a:endParaRPr lang="en-I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4D2-3189-A84C-83B1-E7D26D48CC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80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Explain that reading files, writing files, networking, IPC are </a:t>
            </a:r>
            <a:r>
              <a:rPr lang="en-IN" b="1" dirty="0"/>
              <a:t>OS responsibilities</a:t>
            </a:r>
            <a:endParaRPr lang="en-IN" dirty="0"/>
          </a:p>
          <a:p>
            <a:r>
              <a:rPr lang="en-IN" dirty="0"/>
              <a:t>Programs never access disk or network hardware directly</a:t>
            </a:r>
          </a:p>
          <a:p>
            <a:r>
              <a:rPr lang="en-IN" dirty="0"/>
              <a:t>They must </a:t>
            </a:r>
            <a:r>
              <a:rPr lang="en-IN" b="1" dirty="0"/>
              <a:t>request the OS</a:t>
            </a:r>
            <a:r>
              <a:rPr lang="en-IN" dirty="0"/>
              <a:t> to do 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4D2-3189-A84C-83B1-E7D26D48CC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67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OS detects: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Hardware failures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Memory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Invalid operations</a:t>
            </a:r>
          </a:p>
          <a:p>
            <a:r>
              <a:rPr lang="en-IN" dirty="0"/>
              <a:t>Debugging support and error reporting are OS services</a:t>
            </a:r>
          </a:p>
          <a:p>
            <a:r>
              <a:rPr lang="en-IN" dirty="0"/>
              <a:t>System calls return error codes for this purpose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4D2-3189-A84C-83B1-E7D26D48CC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735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1️⃣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Prevents unauthorized hardware access</a:t>
            </a:r>
          </a:p>
          <a:p>
            <a:r>
              <a:rPr lang="en-IN" b="1" dirty="0"/>
              <a:t>2️⃣ Stability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Buggy programs can’t crash OS</a:t>
            </a:r>
          </a:p>
          <a:p>
            <a:r>
              <a:rPr lang="en-IN" b="1" dirty="0"/>
              <a:t>3️⃣ Resource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OS controls CPU, memory, devices</a:t>
            </a:r>
          </a:p>
          <a:p>
            <a:r>
              <a:rPr lang="en-IN" b="1" dirty="0"/>
              <a:t>4️⃣ Hardware Independence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Programs don’t need device details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4D2-3189-A84C-83B1-E7D26D48CC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31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Clearly define:</a:t>
            </a:r>
          </a:p>
          <a:p>
            <a:r>
              <a:rPr lang="en-IN" dirty="0"/>
              <a:t>A system call is a request made by a user program to the OS kernel</a:t>
            </a:r>
          </a:p>
          <a:p>
            <a:r>
              <a:rPr lang="en-IN" dirty="0"/>
              <a:t>Stress: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User programs </a:t>
            </a:r>
            <a:r>
              <a:rPr lang="en-IN" b="1" dirty="0"/>
              <a:t>cannot talk to hardware directly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System calls are mandatory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4D2-3189-A84C-83B1-E7D26D48CC7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10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Explain difference: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API = programmer-friendly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System call = low-level kernel interface</a:t>
            </a:r>
          </a:p>
          <a:p>
            <a:r>
              <a:rPr lang="en-IN" dirty="0"/>
              <a:t>APIs internally use system calls</a:t>
            </a:r>
          </a:p>
          <a:p>
            <a:r>
              <a:rPr lang="en-IN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Windows: Win32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Linux/macOS: POSIX via </a:t>
            </a:r>
            <a:r>
              <a:rPr lang="en-IN" dirty="0" err="1"/>
              <a:t>libc</a:t>
            </a:r>
            <a:endParaRPr lang="en-I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4D2-3189-A84C-83B1-E7D26D48CC7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97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Explain each point slowly: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Security</a:t>
            </a:r>
            <a:r>
              <a:rPr lang="en-IN" dirty="0"/>
              <a:t>: prevents unauthorized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Stability</a:t>
            </a:r>
            <a:r>
              <a:rPr lang="en-IN" dirty="0"/>
              <a:t>: faulty apps don’t crash kernel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Resource control</a:t>
            </a:r>
            <a:r>
              <a:rPr lang="en-IN" dirty="0"/>
              <a:t>: OS manages fairness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Abstraction</a:t>
            </a:r>
            <a:r>
              <a:rPr lang="en-IN" dirty="0"/>
              <a:t>: hides hardware details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4D2-3189-A84C-83B1-E7D26D48CC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80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7700" y="1968500"/>
            <a:ext cx="11709400" cy="635"/>
          </a:xfrm>
          <a:custGeom>
            <a:avLst/>
            <a:gdLst/>
            <a:ahLst/>
            <a:cxnLst/>
            <a:rect l="l" t="t" r="r" b="b"/>
            <a:pathLst>
              <a:path w="11709400" h="635">
                <a:moveTo>
                  <a:pt x="0" y="0"/>
                </a:moveTo>
                <a:lnTo>
                  <a:pt x="11709400" y="127"/>
                </a:lnTo>
              </a:path>
            </a:pathLst>
          </a:custGeom>
          <a:ln w="12700">
            <a:solidFill>
              <a:srgbClr val="9A9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1016000"/>
            <a:ext cx="8649970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4850" y="2305050"/>
            <a:ext cx="11587480" cy="6550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293600" y="9223985"/>
            <a:ext cx="287020" cy="23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7700" y="4749800"/>
            <a:ext cx="11710035" cy="635"/>
          </a:xfrm>
          <a:custGeom>
            <a:avLst/>
            <a:gdLst/>
            <a:ahLst/>
            <a:cxnLst/>
            <a:rect l="l" t="t" r="r" b="b"/>
            <a:pathLst>
              <a:path w="11710035" h="635">
                <a:moveTo>
                  <a:pt x="0" y="0"/>
                </a:moveTo>
                <a:lnTo>
                  <a:pt x="11709420" y="127"/>
                </a:lnTo>
              </a:path>
            </a:pathLst>
          </a:custGeom>
          <a:ln w="12700">
            <a:solidFill>
              <a:srgbClr val="9A9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3784600"/>
            <a:ext cx="545973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System</a:t>
            </a:r>
            <a:r>
              <a:rPr spc="-125" dirty="0"/>
              <a:t> </a:t>
            </a:r>
            <a:r>
              <a:rPr spc="-80" dirty="0"/>
              <a:t>Calls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306300" y="9220200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016000"/>
            <a:ext cx="14979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5" dirty="0"/>
              <a:t>T</a:t>
            </a:r>
            <a:r>
              <a:rPr spc="-35" dirty="0"/>
              <a:t>opics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2362200"/>
            <a:ext cx="3246120" cy="245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System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Calls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89"/>
              </a:spcBef>
              <a:buClr>
                <a:srgbClr val="747474"/>
              </a:buClr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278765" indent="-266065">
              <a:lnSpc>
                <a:spcPct val="100000"/>
              </a:lnSpc>
              <a:buChar char="•"/>
              <a:tabLst>
                <a:tab pos="278765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Calling</a:t>
            </a:r>
            <a:r>
              <a:rPr sz="2600" spc="-8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Conventions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89"/>
              </a:spcBef>
              <a:buClr>
                <a:srgbClr val="747474"/>
              </a:buClr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278765" indent="-266065">
              <a:lnSpc>
                <a:spcPct val="100000"/>
              </a:lnSpc>
              <a:buChar char="•"/>
              <a:tabLst>
                <a:tab pos="278765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Kernel</a:t>
            </a:r>
            <a:r>
              <a:rPr sz="2600" spc="-1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Designs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Operating</a:t>
            </a:r>
            <a:r>
              <a:rPr spc="-180" dirty="0"/>
              <a:t> </a:t>
            </a:r>
            <a:r>
              <a:rPr spc="-60" dirty="0"/>
              <a:t>System</a:t>
            </a:r>
            <a:r>
              <a:rPr spc="-175" dirty="0"/>
              <a:t> </a:t>
            </a:r>
            <a:r>
              <a:rPr spc="-85" dirty="0"/>
              <a:t>Services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2362200"/>
            <a:ext cx="11776710" cy="631444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79400" marR="619760" indent="-266700">
              <a:lnSpc>
                <a:spcPct val="102600"/>
              </a:lnSpc>
              <a:spcBef>
                <a:spcPts val="15"/>
              </a:spcBef>
              <a:buChar char="•"/>
              <a:tabLst>
                <a:tab pos="279400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OS provides</a:t>
            </a:r>
            <a:r>
              <a:rPr sz="260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an</a:t>
            </a:r>
            <a:r>
              <a:rPr sz="260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environment</a:t>
            </a:r>
            <a:r>
              <a:rPr sz="260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65" dirty="0">
                <a:solidFill>
                  <a:srgbClr val="747474"/>
                </a:solidFill>
                <a:latin typeface="Arial MT"/>
                <a:cs typeface="Arial MT"/>
              </a:rPr>
              <a:t>to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 execute</a:t>
            </a:r>
            <a:r>
              <a:rPr sz="260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programs</a:t>
            </a:r>
            <a:r>
              <a:rPr sz="260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and</a:t>
            </a:r>
            <a:r>
              <a:rPr sz="260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provide services</a:t>
            </a:r>
            <a:r>
              <a:rPr sz="260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40" dirty="0">
                <a:solidFill>
                  <a:srgbClr val="747474"/>
                </a:solidFill>
                <a:latin typeface="Arial MT"/>
                <a:cs typeface="Arial MT"/>
              </a:rPr>
              <a:t>to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programs</a:t>
            </a:r>
            <a:r>
              <a:rPr sz="2600" spc="6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and</a:t>
            </a:r>
            <a:r>
              <a:rPr sz="2600" spc="6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users</a:t>
            </a:r>
            <a:endParaRPr sz="2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89"/>
              </a:spcBef>
              <a:buClr>
                <a:srgbClr val="747474"/>
              </a:buClr>
              <a:buFont typeface="Arial MT"/>
              <a:buChar char="•"/>
            </a:pPr>
            <a:endParaRPr sz="2600" dirty="0">
              <a:latin typeface="Arial MT"/>
              <a:cs typeface="Arial MT"/>
            </a:endParaRPr>
          </a:p>
          <a:p>
            <a:pPr marL="723265" lvl="1" indent="-266065">
              <a:lnSpc>
                <a:spcPct val="100000"/>
              </a:lnSpc>
              <a:spcBef>
                <a:spcPts val="5"/>
              </a:spcBef>
              <a:buChar char="•"/>
              <a:tabLst>
                <a:tab pos="723265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User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interfaces: command line </a:t>
            </a:r>
            <a:r>
              <a:rPr sz="2600" spc="-55" dirty="0">
                <a:solidFill>
                  <a:srgbClr val="747474"/>
                </a:solidFill>
                <a:latin typeface="Arial MT"/>
                <a:cs typeface="Arial MT"/>
              </a:rPr>
              <a:t>(CLI),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 graphical </a:t>
            </a:r>
            <a:r>
              <a:rPr sz="2600" spc="-70" dirty="0">
                <a:solidFill>
                  <a:srgbClr val="747474"/>
                </a:solidFill>
                <a:latin typeface="Arial MT"/>
                <a:cs typeface="Arial MT"/>
              </a:rPr>
              <a:t>(GUI),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batch</a:t>
            </a:r>
            <a:endParaRPr sz="26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805"/>
              </a:spcBef>
              <a:buClr>
                <a:srgbClr val="747474"/>
              </a:buClr>
              <a:buFont typeface="Arial MT"/>
              <a:buChar char="•"/>
            </a:pPr>
            <a:endParaRPr sz="2600" dirty="0">
              <a:latin typeface="Arial MT"/>
              <a:cs typeface="Arial MT"/>
            </a:endParaRPr>
          </a:p>
          <a:p>
            <a:pPr marL="723900" marR="988694" lvl="1" indent="-266700">
              <a:lnSpc>
                <a:spcPct val="102600"/>
              </a:lnSpc>
              <a:buChar char="•"/>
              <a:tabLst>
                <a:tab pos="723900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Program</a:t>
            </a:r>
            <a:r>
              <a:rPr sz="2600" spc="4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execution:</a:t>
            </a:r>
            <a:r>
              <a:rPr sz="2600" spc="5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loading</a:t>
            </a:r>
            <a:r>
              <a:rPr sz="2600" spc="4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program</a:t>
            </a:r>
            <a:r>
              <a:rPr sz="2600" spc="5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into</a:t>
            </a:r>
            <a:r>
              <a:rPr sz="2600" spc="4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memory,</a:t>
            </a:r>
            <a:r>
              <a:rPr sz="2600" spc="5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run</a:t>
            </a:r>
            <a:r>
              <a:rPr sz="2600" spc="4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program,</a:t>
            </a:r>
            <a:r>
              <a:rPr sz="2600" spc="5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747474"/>
                </a:solidFill>
                <a:latin typeface="Arial MT"/>
                <a:cs typeface="Arial MT"/>
              </a:rPr>
              <a:t>end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execution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(normally</a:t>
            </a:r>
            <a:r>
              <a:rPr sz="260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or</a:t>
            </a:r>
            <a:r>
              <a:rPr sz="260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abnormally)</a:t>
            </a:r>
            <a:endParaRPr sz="26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889"/>
              </a:spcBef>
              <a:buClr>
                <a:srgbClr val="747474"/>
              </a:buClr>
              <a:buFont typeface="Arial MT"/>
              <a:buChar char="•"/>
            </a:pPr>
            <a:endParaRPr sz="2600" dirty="0">
              <a:latin typeface="Arial MT"/>
              <a:cs typeface="Arial MT"/>
            </a:endParaRPr>
          </a:p>
          <a:p>
            <a:pPr marL="723265" lvl="1" indent="-266065">
              <a:lnSpc>
                <a:spcPct val="100000"/>
              </a:lnSpc>
              <a:buChar char="•"/>
              <a:tabLst>
                <a:tab pos="723265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I/O</a:t>
            </a:r>
            <a:r>
              <a:rPr sz="2600" spc="5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operations:</a:t>
            </a:r>
            <a:r>
              <a:rPr sz="2600" spc="5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handle</a:t>
            </a:r>
            <a:r>
              <a:rPr sz="2600" spc="5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filesystem,</a:t>
            </a:r>
            <a:r>
              <a:rPr sz="2600" spc="5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networking,</a:t>
            </a:r>
            <a:r>
              <a:rPr sz="2600" spc="5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interprocess</a:t>
            </a:r>
            <a:r>
              <a:rPr sz="2600" spc="5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communication</a:t>
            </a:r>
            <a:endParaRPr sz="26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889"/>
              </a:spcBef>
              <a:buClr>
                <a:srgbClr val="747474"/>
              </a:buClr>
              <a:buFont typeface="Arial MT"/>
              <a:buChar char="•"/>
            </a:pPr>
            <a:endParaRPr sz="2600" dirty="0">
              <a:latin typeface="Arial MT"/>
              <a:cs typeface="Arial MT"/>
            </a:endParaRPr>
          </a:p>
          <a:p>
            <a:pPr marL="723265" lvl="1" indent="-266065">
              <a:lnSpc>
                <a:spcPct val="100000"/>
              </a:lnSpc>
              <a:buChar char="•"/>
              <a:tabLst>
                <a:tab pos="723265" algn="l"/>
              </a:tabLst>
            </a:pP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Error</a:t>
            </a:r>
            <a:r>
              <a:rPr sz="2600" spc="-6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detection:</a:t>
            </a:r>
            <a:r>
              <a:rPr sz="2600" spc="-6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handle</a:t>
            </a:r>
            <a:r>
              <a:rPr sz="2600" spc="-6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hardware</a:t>
            </a:r>
            <a:r>
              <a:rPr sz="2600" spc="-6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failures,</a:t>
            </a:r>
            <a:r>
              <a:rPr sz="2600" spc="-6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debugging</a:t>
            </a:r>
            <a:endParaRPr sz="26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889"/>
              </a:spcBef>
              <a:buClr>
                <a:srgbClr val="747474"/>
              </a:buClr>
              <a:buFont typeface="Arial MT"/>
              <a:buChar char="•"/>
            </a:pPr>
            <a:endParaRPr sz="2600" dirty="0">
              <a:latin typeface="Arial MT"/>
              <a:cs typeface="Arial MT"/>
            </a:endParaRPr>
          </a:p>
          <a:p>
            <a:pPr marL="723265" lvl="1" indent="-266065">
              <a:lnSpc>
                <a:spcPct val="100000"/>
              </a:lnSpc>
              <a:spcBef>
                <a:spcPts val="5"/>
              </a:spcBef>
              <a:buChar char="•"/>
              <a:tabLst>
                <a:tab pos="723265" algn="l"/>
              </a:tabLst>
            </a:pP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Resource</a:t>
            </a:r>
            <a:r>
              <a:rPr sz="2600" spc="15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allocation,</a:t>
            </a:r>
            <a:r>
              <a:rPr sz="2600" spc="15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accounting,</a:t>
            </a:r>
            <a:r>
              <a:rPr sz="2600" spc="15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protection,</a:t>
            </a:r>
            <a:r>
              <a:rPr sz="2600" spc="15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security</a:t>
            </a:r>
            <a:endParaRPr sz="2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Operating</a:t>
            </a:r>
            <a:r>
              <a:rPr spc="-180" dirty="0"/>
              <a:t> </a:t>
            </a:r>
            <a:r>
              <a:rPr spc="-60" dirty="0"/>
              <a:t>System</a:t>
            </a:r>
            <a:r>
              <a:rPr spc="-175" dirty="0"/>
              <a:t> </a:t>
            </a:r>
            <a:r>
              <a:rPr spc="-85" dirty="0"/>
              <a:t>Services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1276" y="2324226"/>
            <a:ext cx="11282248" cy="563243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016000"/>
            <a:ext cx="299910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System</a:t>
            </a:r>
            <a:r>
              <a:rPr spc="-200" dirty="0"/>
              <a:t> </a:t>
            </a:r>
            <a:r>
              <a:rPr spc="-105" dirty="0"/>
              <a:t>Calls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2362200"/>
            <a:ext cx="11785600" cy="62360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On</a:t>
            </a:r>
            <a:r>
              <a:rPr sz="2600" spc="1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modern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operating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systems,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processes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55" dirty="0">
                <a:solidFill>
                  <a:srgbClr val="747474"/>
                </a:solidFill>
                <a:latin typeface="Arial MT"/>
                <a:cs typeface="Arial MT"/>
              </a:rPr>
              <a:t>do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not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talk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65" dirty="0">
                <a:solidFill>
                  <a:srgbClr val="747474"/>
                </a:solidFill>
                <a:latin typeface="Arial MT"/>
                <a:cs typeface="Arial MT"/>
              </a:rPr>
              <a:t>to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hardware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directly,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35" dirty="0">
                <a:solidFill>
                  <a:srgbClr val="747474"/>
                </a:solidFill>
                <a:latin typeface="Arial MT"/>
                <a:cs typeface="Arial MT"/>
              </a:rPr>
              <a:t>but</a:t>
            </a:r>
            <a:endParaRPr sz="2600" dirty="0">
              <a:latin typeface="Arial MT"/>
              <a:cs typeface="Arial MT"/>
            </a:endParaRPr>
          </a:p>
          <a:p>
            <a:pPr marL="279400">
              <a:lnSpc>
                <a:spcPct val="100000"/>
              </a:lnSpc>
              <a:spcBef>
                <a:spcPts val="80"/>
              </a:spcBef>
            </a:pPr>
            <a:r>
              <a:rPr sz="2600" b="1" dirty="0">
                <a:solidFill>
                  <a:srgbClr val="747474"/>
                </a:solidFill>
                <a:latin typeface="Arial"/>
                <a:cs typeface="Arial"/>
              </a:rPr>
              <a:t>must</a:t>
            </a:r>
            <a:r>
              <a:rPr sz="2600" b="1" spc="30" dirty="0">
                <a:solidFill>
                  <a:srgbClr val="747474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go</a:t>
            </a:r>
            <a:r>
              <a:rPr sz="2600" spc="3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through</a:t>
            </a:r>
            <a:r>
              <a:rPr sz="2600" spc="3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747474"/>
                </a:solidFill>
                <a:latin typeface="Arial MT"/>
                <a:cs typeface="Arial MT"/>
              </a:rPr>
              <a:t>OS</a:t>
            </a:r>
            <a:endParaRPr sz="2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5"/>
              </a:spcBef>
            </a:pPr>
            <a:endParaRPr sz="2600" dirty="0">
              <a:latin typeface="Arial MT"/>
              <a:cs typeface="Arial MT"/>
            </a:endParaRPr>
          </a:p>
          <a:p>
            <a:pPr marL="279400" marR="525145" indent="-266700">
              <a:lnSpc>
                <a:spcPct val="102600"/>
              </a:lnSpc>
              <a:spcBef>
                <a:spcPts val="5"/>
              </a:spcBef>
              <a:buClr>
                <a:srgbClr val="747474"/>
              </a:buClr>
              <a:buChar char="•"/>
              <a:tabLst>
                <a:tab pos="279400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System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Call: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request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from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process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for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OS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65" dirty="0">
                <a:solidFill>
                  <a:srgbClr val="747474"/>
                </a:solidFill>
                <a:latin typeface="Arial MT"/>
                <a:cs typeface="Arial MT"/>
              </a:rPr>
              <a:t>to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55" dirty="0">
                <a:solidFill>
                  <a:srgbClr val="747474"/>
                </a:solidFill>
                <a:latin typeface="Arial MT"/>
                <a:cs typeface="Arial MT"/>
              </a:rPr>
              <a:t>do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some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kind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of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work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on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747474"/>
                </a:solidFill>
                <a:latin typeface="Arial MT"/>
                <a:cs typeface="Arial MT"/>
              </a:rPr>
              <a:t>its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behalf</a:t>
            </a:r>
            <a:endParaRPr sz="2600" dirty="0">
              <a:solidFill>
                <a:srgbClr val="747474"/>
              </a:solidFill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5"/>
              </a:spcBef>
              <a:buClr>
                <a:srgbClr val="747474"/>
              </a:buClr>
              <a:buFont typeface="Arial MT"/>
              <a:buChar char="•"/>
            </a:pPr>
            <a:endParaRPr sz="2600" dirty="0">
              <a:latin typeface="Arial MT"/>
              <a:cs typeface="Arial MT"/>
            </a:endParaRPr>
          </a:p>
          <a:p>
            <a:pPr marL="279400" marR="183515" indent="-266700" algn="just">
              <a:lnSpc>
                <a:spcPct val="102600"/>
              </a:lnSpc>
              <a:buClr>
                <a:srgbClr val="747474"/>
              </a:buClr>
              <a:buChar char="•"/>
              <a:tabLst>
                <a:tab pos="279400" algn="l"/>
              </a:tabLst>
            </a:pPr>
            <a:r>
              <a:rPr sz="2600" dirty="0">
                <a:solidFill>
                  <a:srgbClr val="0056D6"/>
                </a:solidFill>
                <a:latin typeface="Arial MT"/>
                <a:cs typeface="Arial MT"/>
              </a:rPr>
              <a:t>Application</a:t>
            </a:r>
            <a:r>
              <a:rPr sz="2600" spc="30" dirty="0">
                <a:solidFill>
                  <a:srgbClr val="0056D6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56D6"/>
                </a:solidFill>
                <a:latin typeface="Arial MT"/>
                <a:cs typeface="Arial MT"/>
              </a:rPr>
              <a:t>Programming</a:t>
            </a:r>
            <a:r>
              <a:rPr sz="2600" spc="30" dirty="0">
                <a:solidFill>
                  <a:srgbClr val="0056D6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56D6"/>
                </a:solidFill>
                <a:latin typeface="Arial MT"/>
                <a:cs typeface="Arial MT"/>
              </a:rPr>
              <a:t>Interface</a:t>
            </a:r>
            <a:r>
              <a:rPr sz="2600" spc="35" dirty="0">
                <a:solidFill>
                  <a:srgbClr val="0056D6"/>
                </a:solidFill>
                <a:latin typeface="Arial MT"/>
                <a:cs typeface="Arial MT"/>
              </a:rPr>
              <a:t> </a:t>
            </a:r>
            <a:r>
              <a:rPr sz="2600" spc="-90" dirty="0">
                <a:solidFill>
                  <a:srgbClr val="747474"/>
                </a:solidFill>
                <a:latin typeface="Arial MT"/>
                <a:cs typeface="Arial MT"/>
              </a:rPr>
              <a:t>(API):</a:t>
            </a:r>
            <a:r>
              <a:rPr sz="2600" spc="3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interface</a:t>
            </a:r>
            <a:r>
              <a:rPr sz="2600" spc="3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provided</a:t>
            </a:r>
            <a:r>
              <a:rPr sz="2600" spc="3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by</a:t>
            </a:r>
            <a:r>
              <a:rPr sz="2600" spc="3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OS,</a:t>
            </a:r>
            <a:r>
              <a:rPr sz="2600" spc="3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usually</a:t>
            </a:r>
            <a:r>
              <a:rPr sz="2600" spc="3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747474"/>
                </a:solidFill>
                <a:latin typeface="Arial MT"/>
                <a:cs typeface="Arial MT"/>
              </a:rPr>
              <a:t>in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high-level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language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20" dirty="0">
                <a:solidFill>
                  <a:srgbClr val="747474"/>
                </a:solidFill>
                <a:latin typeface="Arial MT"/>
                <a:cs typeface="Arial MT"/>
              </a:rPr>
              <a:t>(C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or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C++),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that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is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 easier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65" dirty="0">
                <a:solidFill>
                  <a:srgbClr val="747474"/>
                </a:solidFill>
                <a:latin typeface="Arial MT"/>
                <a:cs typeface="Arial MT"/>
              </a:rPr>
              <a:t>to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work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with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than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raw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system calls</a:t>
            </a:r>
            <a:endParaRPr sz="2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89"/>
              </a:spcBef>
              <a:buClr>
                <a:srgbClr val="747474"/>
              </a:buClr>
              <a:buFont typeface="Arial MT"/>
              <a:buChar char="•"/>
            </a:pPr>
            <a:endParaRPr sz="2600" dirty="0">
              <a:latin typeface="Arial MT"/>
              <a:cs typeface="Arial MT"/>
            </a:endParaRPr>
          </a:p>
          <a:p>
            <a:pPr marL="723265" lvl="1" indent="-266065">
              <a:lnSpc>
                <a:spcPct val="100000"/>
              </a:lnSpc>
              <a:buChar char="•"/>
              <a:tabLst>
                <a:tab pos="723265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Win32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API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for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Windows,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accessible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through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kernel32.dll</a:t>
            </a:r>
            <a:endParaRPr sz="26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889"/>
              </a:spcBef>
              <a:buClr>
                <a:srgbClr val="747474"/>
              </a:buClr>
              <a:buFont typeface="Arial MT"/>
              <a:buChar char="•"/>
            </a:pPr>
            <a:endParaRPr sz="2600" dirty="0">
              <a:latin typeface="Arial MT"/>
              <a:cs typeface="Arial MT"/>
            </a:endParaRPr>
          </a:p>
          <a:p>
            <a:pPr marL="723265" lvl="1" indent="-266065">
              <a:lnSpc>
                <a:spcPct val="100000"/>
              </a:lnSpc>
              <a:buChar char="•"/>
              <a:tabLst>
                <a:tab pos="723265" algn="l"/>
              </a:tabLst>
            </a:pPr>
            <a:r>
              <a:rPr sz="2600" spc="-60" dirty="0">
                <a:solidFill>
                  <a:srgbClr val="747474"/>
                </a:solidFill>
                <a:latin typeface="Arial MT"/>
                <a:cs typeface="Arial MT"/>
              </a:rPr>
              <a:t>POSIX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for</a:t>
            </a:r>
            <a:r>
              <a:rPr sz="2600" spc="3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macOS,</a:t>
            </a:r>
            <a:r>
              <a:rPr sz="2600" spc="3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Linux,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and</a:t>
            </a:r>
            <a:r>
              <a:rPr sz="2600" spc="3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other</a:t>
            </a:r>
            <a:r>
              <a:rPr sz="2600" spc="3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Unix-like,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accessible</a:t>
            </a:r>
            <a:r>
              <a:rPr sz="2600" spc="3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through</a:t>
            </a:r>
            <a:r>
              <a:rPr sz="2600" spc="3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libc.so</a:t>
            </a:r>
            <a:endParaRPr sz="2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3E874-67C0-93FD-688B-F7495BA98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System Calls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B4946-A3B0-2E3A-1E85-7A7720BD2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850" y="2305050"/>
            <a:ext cx="11587480" cy="4832092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IN" sz="2600" dirty="0">
                <a:solidFill>
                  <a:srgbClr val="7474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rgbClr val="7474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Prevents unauthorized hardware access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600" dirty="0">
              <a:solidFill>
                <a:srgbClr val="7474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600" dirty="0">
                <a:solidFill>
                  <a:srgbClr val="7474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Stability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rgbClr val="7474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Faulty user programs cannot crash the kernel directly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600" dirty="0">
              <a:solidFill>
                <a:srgbClr val="7474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600" dirty="0">
                <a:solidFill>
                  <a:srgbClr val="7474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 Control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rgbClr val="7474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Kernel manages CPU, memory, and I/O fairly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600" dirty="0">
              <a:solidFill>
                <a:srgbClr val="7474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600" dirty="0">
                <a:solidFill>
                  <a:srgbClr val="7474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Abstraction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rgbClr val="7474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Programs need not know device details</a:t>
            </a:r>
          </a:p>
          <a:p>
            <a:endParaRPr lang="en-US" sz="2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747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18DA-9B9D-56AC-11BF-DC208748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16000"/>
            <a:ext cx="8649970" cy="646331"/>
          </a:xfrm>
        </p:spPr>
        <p:txBody>
          <a:bodyPr/>
          <a:lstStyle/>
          <a:p>
            <a:r>
              <a:rPr lang="en-US" dirty="0"/>
              <a:t>Common System Calls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5F5A6C-41E6-3AE0-17A3-4968B8ECA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408929"/>
              </p:ext>
            </p:extLst>
          </p:nvPr>
        </p:nvGraphicFramePr>
        <p:xfrm>
          <a:off x="711200" y="2743200"/>
          <a:ext cx="11580812" cy="4705351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5787231">
                  <a:extLst>
                    <a:ext uri="{9D8B030D-6E8A-4147-A177-3AD203B41FA5}">
                      <a16:colId xmlns:a16="http://schemas.microsoft.com/office/drawing/2014/main" val="2150048834"/>
                    </a:ext>
                  </a:extLst>
                </a:gridCol>
                <a:gridCol w="5793581">
                  <a:extLst>
                    <a:ext uri="{9D8B030D-6E8A-4147-A177-3AD203B41FA5}">
                      <a16:colId xmlns:a16="http://schemas.microsoft.com/office/drawing/2014/main" val="2604034193"/>
                    </a:ext>
                  </a:extLst>
                </a:gridCol>
              </a:tblGrid>
              <a:tr h="672193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rgbClr val="747474"/>
                          </a:solidFill>
                        </a:rPr>
                        <a:t>System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rgbClr val="747474"/>
                          </a:solidFill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7189815"/>
                  </a:ext>
                </a:extLst>
              </a:tr>
              <a:tr h="672193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747474"/>
                          </a:solidFill>
                        </a:rPr>
                        <a:t>open()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747474"/>
                          </a:solidFill>
                        </a:rPr>
                        <a:t>Open a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936899"/>
                  </a:ext>
                </a:extLst>
              </a:tr>
              <a:tr h="672193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747474"/>
                          </a:solidFill>
                        </a:rPr>
                        <a:t>read()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747474"/>
                          </a:solidFill>
                        </a:rPr>
                        <a:t>Read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655595"/>
                  </a:ext>
                </a:extLst>
              </a:tr>
              <a:tr h="672193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747474"/>
                          </a:solidFill>
                        </a:rPr>
                        <a:t>write()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747474"/>
                          </a:solidFill>
                        </a:rPr>
                        <a:t>Write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5577188"/>
                  </a:ext>
                </a:extLst>
              </a:tr>
              <a:tr h="672193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rgbClr val="747474"/>
                          </a:solidFill>
                        </a:rPr>
                        <a:t>fork()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747474"/>
                          </a:solidFill>
                        </a:rPr>
                        <a:t>Create a process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474641"/>
                  </a:ext>
                </a:extLst>
              </a:tr>
              <a:tr h="672193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747474"/>
                          </a:solidFill>
                        </a:rPr>
                        <a:t>exec()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747474"/>
                          </a:solidFill>
                        </a:rPr>
                        <a:t>Execute program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912137"/>
                  </a:ext>
                </a:extLst>
              </a:tr>
              <a:tr h="672193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rgbClr val="747474"/>
                          </a:solidFill>
                        </a:rPr>
                        <a:t>exit()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rgbClr val="747474"/>
                          </a:solidFill>
                        </a:rPr>
                        <a:t>Terminate process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2421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830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0E558-E757-46F0-025F-65D9C916E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Call Execution Flow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ACC11-31C0-8D1C-B5FA-D03426023272}"/>
              </a:ext>
            </a:extLst>
          </p:cNvPr>
          <p:cNvSpPr txBox="1"/>
          <p:nvPr/>
        </p:nvSpPr>
        <p:spPr>
          <a:xfrm>
            <a:off x="2463800" y="2438400"/>
            <a:ext cx="72898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>
                <a:solidFill>
                  <a:srgbClr val="747474"/>
                </a:solidFill>
              </a:rPr>
              <a:t>User Program</a:t>
            </a:r>
          </a:p>
          <a:p>
            <a:pPr algn="ctr"/>
            <a:r>
              <a:rPr lang="en-US" sz="2600" dirty="0">
                <a:solidFill>
                  <a:srgbClr val="747474"/>
                </a:solidFill>
              </a:rPr>
              <a:t>   ↓</a:t>
            </a:r>
          </a:p>
          <a:p>
            <a:pPr algn="ctr"/>
            <a:r>
              <a:rPr lang="en-US" sz="2600" dirty="0">
                <a:solidFill>
                  <a:srgbClr val="747474"/>
                </a:solidFill>
              </a:rPr>
              <a:t>Library Function (</a:t>
            </a:r>
            <a:r>
              <a:rPr lang="en-US" sz="2600" dirty="0" err="1">
                <a:solidFill>
                  <a:srgbClr val="747474"/>
                </a:solidFill>
              </a:rPr>
              <a:t>glibc</a:t>
            </a:r>
            <a:r>
              <a:rPr lang="en-US" sz="2600" dirty="0">
                <a:solidFill>
                  <a:srgbClr val="747474"/>
                </a:solidFill>
              </a:rPr>
              <a:t>)</a:t>
            </a:r>
          </a:p>
          <a:p>
            <a:pPr algn="ctr"/>
            <a:r>
              <a:rPr lang="en-US" sz="2600" dirty="0">
                <a:solidFill>
                  <a:srgbClr val="747474"/>
                </a:solidFill>
              </a:rPr>
              <a:t>   ↓</a:t>
            </a:r>
          </a:p>
          <a:p>
            <a:pPr algn="ctr"/>
            <a:r>
              <a:rPr lang="en-US" sz="2600" dirty="0">
                <a:solidFill>
                  <a:srgbClr val="747474"/>
                </a:solidFill>
              </a:rPr>
              <a:t>System Call Instruction</a:t>
            </a:r>
          </a:p>
          <a:p>
            <a:pPr algn="ctr"/>
            <a:r>
              <a:rPr lang="en-US" sz="2600" dirty="0">
                <a:solidFill>
                  <a:srgbClr val="747474"/>
                </a:solidFill>
              </a:rPr>
              <a:t>   ↓</a:t>
            </a:r>
          </a:p>
          <a:p>
            <a:pPr algn="ctr"/>
            <a:r>
              <a:rPr lang="en-US" sz="2600" dirty="0">
                <a:solidFill>
                  <a:srgbClr val="747474"/>
                </a:solidFill>
              </a:rPr>
              <a:t>System Call Handler</a:t>
            </a:r>
          </a:p>
          <a:p>
            <a:pPr algn="ctr"/>
            <a:r>
              <a:rPr lang="en-US" sz="2600" dirty="0">
                <a:solidFill>
                  <a:srgbClr val="747474"/>
                </a:solidFill>
              </a:rPr>
              <a:t>   ↓</a:t>
            </a:r>
          </a:p>
          <a:p>
            <a:pPr algn="ctr"/>
            <a:r>
              <a:rPr lang="en-US" sz="2600" dirty="0">
                <a:solidFill>
                  <a:srgbClr val="747474"/>
                </a:solidFill>
              </a:rPr>
              <a:t>Service Routine</a:t>
            </a:r>
          </a:p>
          <a:p>
            <a:pPr algn="ctr"/>
            <a:r>
              <a:rPr lang="en-US" sz="2600" dirty="0">
                <a:solidFill>
                  <a:srgbClr val="747474"/>
                </a:solidFill>
              </a:rPr>
              <a:t>   ↓</a:t>
            </a:r>
          </a:p>
          <a:p>
            <a:pPr algn="ctr"/>
            <a:r>
              <a:rPr lang="en-US" sz="2600" dirty="0">
                <a:solidFill>
                  <a:srgbClr val="747474"/>
                </a:solidFill>
              </a:rPr>
              <a:t>Return to User Space</a:t>
            </a:r>
          </a:p>
        </p:txBody>
      </p:sp>
    </p:spTree>
    <p:extLst>
      <p:ext uri="{BB962C8B-B14F-4D97-AF65-F5344CB8AC3E}">
        <p14:creationId xmlns:p14="http://schemas.microsoft.com/office/powerpoint/2010/main" val="3628376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016000"/>
            <a:ext cx="570611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Example</a:t>
            </a:r>
            <a:r>
              <a:rPr spc="-155" dirty="0"/>
              <a:t> </a:t>
            </a:r>
            <a:r>
              <a:rPr dirty="0"/>
              <a:t>of</a:t>
            </a:r>
            <a:r>
              <a:rPr spc="-150" dirty="0"/>
              <a:t> </a:t>
            </a:r>
            <a:r>
              <a:rPr spc="-60" dirty="0"/>
              <a:t>System</a:t>
            </a:r>
            <a:r>
              <a:rPr spc="-155" dirty="0"/>
              <a:t> </a:t>
            </a:r>
            <a:r>
              <a:rPr spc="-85" dirty="0"/>
              <a:t>Calls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2362200"/>
            <a:ext cx="1124585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Example:</a:t>
            </a:r>
            <a:r>
              <a:rPr sz="2600" spc="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Sequence</a:t>
            </a:r>
            <a:r>
              <a:rPr sz="2600" spc="1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of</a:t>
            </a:r>
            <a:r>
              <a:rPr sz="2600" spc="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system</a:t>
            </a:r>
            <a:r>
              <a:rPr sz="2600" spc="1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calls</a:t>
            </a:r>
            <a:r>
              <a:rPr sz="2600" spc="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65" dirty="0">
                <a:solidFill>
                  <a:srgbClr val="747474"/>
                </a:solidFill>
                <a:latin typeface="Arial MT"/>
                <a:cs typeface="Arial MT"/>
              </a:rPr>
              <a:t>to</a:t>
            </a:r>
            <a:r>
              <a:rPr sz="2600" spc="1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55" dirty="0">
                <a:solidFill>
                  <a:srgbClr val="747474"/>
                </a:solidFill>
                <a:latin typeface="Arial MT"/>
                <a:cs typeface="Arial MT"/>
              </a:rPr>
              <a:t>copy</a:t>
            </a:r>
            <a:r>
              <a:rPr sz="2600" spc="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contents</a:t>
            </a:r>
            <a:r>
              <a:rPr sz="2600" spc="1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of</a:t>
            </a:r>
            <a:r>
              <a:rPr sz="2600" spc="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one</a:t>
            </a:r>
            <a:r>
              <a:rPr sz="2600" spc="1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file</a:t>
            </a:r>
            <a:r>
              <a:rPr sz="2600" spc="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65" dirty="0">
                <a:solidFill>
                  <a:srgbClr val="747474"/>
                </a:solidFill>
                <a:latin typeface="Arial MT"/>
                <a:cs typeface="Arial MT"/>
              </a:rPr>
              <a:t>to</a:t>
            </a:r>
            <a:r>
              <a:rPr sz="2600" spc="1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another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1530" y="3160063"/>
            <a:ext cx="6414135" cy="4894580"/>
          </a:xfrm>
          <a:prstGeom prst="rect">
            <a:avLst/>
          </a:prstGeom>
          <a:solidFill>
            <a:srgbClr val="B5CDE5"/>
          </a:solidFill>
          <a:ln w="12700">
            <a:solidFill>
              <a:srgbClr val="000000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504825" indent="-444500">
              <a:lnSpc>
                <a:spcPct val="100000"/>
              </a:lnSpc>
              <a:spcBef>
                <a:spcPts val="415"/>
              </a:spcBef>
              <a:buAutoNum type="arabicPeriod"/>
              <a:tabLst>
                <a:tab pos="504825" algn="l"/>
              </a:tabLst>
            </a:pPr>
            <a:r>
              <a:rPr sz="2400" spc="-60" dirty="0">
                <a:latin typeface="Arial MT"/>
                <a:cs typeface="Arial MT"/>
              </a:rPr>
              <a:t>Display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dialog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choose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source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file</a:t>
            </a:r>
            <a:endParaRPr sz="2400">
              <a:latin typeface="Arial MT"/>
              <a:cs typeface="Arial MT"/>
            </a:endParaRPr>
          </a:p>
          <a:p>
            <a:pPr marL="504825" indent="-44450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504825" algn="l"/>
              </a:tabLst>
            </a:pPr>
            <a:r>
              <a:rPr sz="2400" spc="-60" dirty="0">
                <a:latin typeface="Arial MT"/>
                <a:cs typeface="Arial MT"/>
              </a:rPr>
              <a:t>Display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dialog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choose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destination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folder</a:t>
            </a:r>
            <a:endParaRPr sz="2400">
              <a:latin typeface="Arial MT"/>
              <a:cs typeface="Arial MT"/>
            </a:endParaRPr>
          </a:p>
          <a:p>
            <a:pPr marL="504825" indent="-44450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504825" algn="l"/>
              </a:tabLst>
            </a:pPr>
            <a:r>
              <a:rPr sz="2400" spc="-60" dirty="0">
                <a:latin typeface="Arial MT"/>
                <a:cs typeface="Arial MT"/>
              </a:rPr>
              <a:t>Display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progress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dialog</a:t>
            </a:r>
            <a:endParaRPr sz="2400">
              <a:latin typeface="Arial MT"/>
              <a:cs typeface="Arial MT"/>
            </a:endParaRPr>
          </a:p>
          <a:p>
            <a:pPr marL="504825" indent="-44450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504825" algn="l"/>
              </a:tabLst>
            </a:pPr>
            <a:r>
              <a:rPr sz="2400" spc="-25" dirty="0">
                <a:latin typeface="Arial MT"/>
                <a:cs typeface="Arial MT"/>
              </a:rPr>
              <a:t>Open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source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file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reading</a:t>
            </a:r>
            <a:endParaRPr sz="2400">
              <a:latin typeface="Arial MT"/>
              <a:cs typeface="Arial MT"/>
            </a:endParaRPr>
          </a:p>
          <a:p>
            <a:pPr marL="504825" indent="-44450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504825" algn="l"/>
              </a:tabLst>
            </a:pPr>
            <a:r>
              <a:rPr sz="2400" spc="-25" dirty="0">
                <a:latin typeface="Arial MT"/>
                <a:cs typeface="Arial MT"/>
              </a:rPr>
              <a:t>Open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destination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file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creating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writing</a:t>
            </a:r>
            <a:endParaRPr sz="2400">
              <a:latin typeface="Arial MT"/>
              <a:cs typeface="Arial MT"/>
            </a:endParaRPr>
          </a:p>
          <a:p>
            <a:pPr marL="504825" indent="-44450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504825" algn="l"/>
              </a:tabLst>
            </a:pPr>
            <a:r>
              <a:rPr sz="2400" dirty="0">
                <a:latin typeface="Arial MT"/>
                <a:cs typeface="Arial MT"/>
              </a:rPr>
              <a:t>Loop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while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more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source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bytes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remaining:</a:t>
            </a:r>
            <a:endParaRPr sz="2400">
              <a:latin typeface="Arial MT"/>
              <a:cs typeface="Arial MT"/>
            </a:endParaRPr>
          </a:p>
          <a:p>
            <a:pPr marL="1177925" lvl="1" indent="-44450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1177925" algn="l"/>
              </a:tabLst>
            </a:pPr>
            <a:r>
              <a:rPr sz="2400" spc="-50" dirty="0">
                <a:latin typeface="Arial MT"/>
                <a:cs typeface="Arial MT"/>
              </a:rPr>
              <a:t>Read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bytes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from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source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file</a:t>
            </a:r>
            <a:endParaRPr sz="2400">
              <a:latin typeface="Arial MT"/>
              <a:cs typeface="Arial MT"/>
            </a:endParaRPr>
          </a:p>
          <a:p>
            <a:pPr marL="1177925" lvl="1" indent="-44450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1177925" algn="l"/>
              </a:tabLst>
            </a:pPr>
            <a:r>
              <a:rPr sz="2400" spc="-50" dirty="0">
                <a:latin typeface="Arial MT"/>
                <a:cs typeface="Arial MT"/>
              </a:rPr>
              <a:t>Write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bytes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destination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file</a:t>
            </a:r>
            <a:endParaRPr sz="2400">
              <a:latin typeface="Arial MT"/>
              <a:cs typeface="Arial MT"/>
            </a:endParaRPr>
          </a:p>
          <a:p>
            <a:pPr marL="1177925" lvl="1" indent="-44450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1177925" algn="l"/>
              </a:tabLst>
            </a:pPr>
            <a:r>
              <a:rPr sz="2400" dirty="0">
                <a:latin typeface="Arial MT"/>
                <a:cs typeface="Arial MT"/>
              </a:rPr>
              <a:t>Update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progress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dialog</a:t>
            </a:r>
            <a:endParaRPr sz="2400">
              <a:latin typeface="Arial MT"/>
              <a:cs typeface="Arial MT"/>
            </a:endParaRPr>
          </a:p>
          <a:p>
            <a:pPr marL="504825" indent="-44450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504825" algn="l"/>
              </a:tabLst>
            </a:pPr>
            <a:r>
              <a:rPr sz="2400" spc="-45" dirty="0">
                <a:latin typeface="Arial MT"/>
                <a:cs typeface="Arial MT"/>
              </a:rPr>
              <a:t>Close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source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file</a:t>
            </a:r>
            <a:endParaRPr sz="2400">
              <a:latin typeface="Arial MT"/>
              <a:cs typeface="Arial MT"/>
            </a:endParaRPr>
          </a:p>
          <a:p>
            <a:pPr marL="504825" indent="-44450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504825" algn="l"/>
              </a:tabLst>
            </a:pPr>
            <a:r>
              <a:rPr sz="2400" spc="-45" dirty="0">
                <a:latin typeface="Arial MT"/>
                <a:cs typeface="Arial MT"/>
              </a:rPr>
              <a:t>Close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destination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file</a:t>
            </a:r>
            <a:endParaRPr sz="2400">
              <a:latin typeface="Arial MT"/>
              <a:cs typeface="Arial MT"/>
            </a:endParaRPr>
          </a:p>
          <a:p>
            <a:pPr marL="504825" indent="-44450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504825" algn="l"/>
              </a:tabLst>
            </a:pPr>
            <a:r>
              <a:rPr sz="2400" spc="-45" dirty="0">
                <a:latin typeface="Arial MT"/>
                <a:cs typeface="Arial MT"/>
              </a:rPr>
              <a:t>Close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progress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dialog</a:t>
            </a:r>
            <a:endParaRPr sz="2400">
              <a:latin typeface="Arial MT"/>
              <a:cs typeface="Arial MT"/>
            </a:endParaRPr>
          </a:p>
          <a:p>
            <a:pPr marL="504190" indent="-44386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504190" algn="l"/>
              </a:tabLst>
            </a:pPr>
            <a:r>
              <a:rPr sz="2400" spc="-100" dirty="0">
                <a:latin typeface="Arial MT"/>
                <a:cs typeface="Arial MT"/>
              </a:rPr>
              <a:t>Terminate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normally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6719" y="3153713"/>
            <a:ext cx="5689600" cy="29337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5" dirty="0"/>
              <a:t>T</a:t>
            </a:r>
            <a:r>
              <a:rPr spc="-85" dirty="0"/>
              <a:t>ypical</a:t>
            </a:r>
            <a:r>
              <a:rPr spc="-135" dirty="0"/>
              <a:t> </a:t>
            </a:r>
            <a:r>
              <a:rPr spc="-60" dirty="0"/>
              <a:t>System</a:t>
            </a:r>
            <a:r>
              <a:rPr spc="-175" dirty="0"/>
              <a:t> </a:t>
            </a:r>
            <a:r>
              <a:rPr spc="-105" dirty="0"/>
              <a:t>Call</a:t>
            </a:r>
            <a:r>
              <a:rPr spc="-150" dirty="0"/>
              <a:t> </a:t>
            </a:r>
            <a:r>
              <a:rPr spc="-60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2362200"/>
            <a:ext cx="11663045" cy="529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Each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system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call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has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unique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numeric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identifier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89"/>
              </a:spcBef>
              <a:buClr>
                <a:srgbClr val="747474"/>
              </a:buClr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723265" lvl="1" indent="-266065">
              <a:lnSpc>
                <a:spcPct val="100000"/>
              </a:lnSpc>
              <a:buChar char="•"/>
              <a:tabLst>
                <a:tab pos="723265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OS</a:t>
            </a:r>
            <a:r>
              <a:rPr sz="2600" spc="3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has</a:t>
            </a:r>
            <a:r>
              <a:rPr sz="2600" spc="3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</a:t>
            </a:r>
            <a:r>
              <a:rPr sz="2600" spc="3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56D6"/>
                </a:solidFill>
                <a:latin typeface="Arial MT"/>
                <a:cs typeface="Arial MT"/>
              </a:rPr>
              <a:t>system</a:t>
            </a:r>
            <a:r>
              <a:rPr sz="2600" spc="30" dirty="0">
                <a:solidFill>
                  <a:srgbClr val="0056D6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56D6"/>
                </a:solidFill>
                <a:latin typeface="Arial MT"/>
                <a:cs typeface="Arial MT"/>
              </a:rPr>
              <a:t>call</a:t>
            </a:r>
            <a:r>
              <a:rPr sz="2600" spc="30" dirty="0">
                <a:solidFill>
                  <a:srgbClr val="0056D6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56D6"/>
                </a:solidFill>
                <a:latin typeface="Arial MT"/>
                <a:cs typeface="Arial MT"/>
              </a:rPr>
              <a:t>table</a:t>
            </a:r>
            <a:r>
              <a:rPr sz="2600" spc="35" dirty="0">
                <a:solidFill>
                  <a:srgbClr val="0056D6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that</a:t>
            </a:r>
            <a:r>
              <a:rPr sz="2600" spc="3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maps</a:t>
            </a:r>
            <a:r>
              <a:rPr sz="2600" spc="3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numbers</a:t>
            </a:r>
            <a:r>
              <a:rPr sz="2600" spc="3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65" dirty="0">
                <a:solidFill>
                  <a:srgbClr val="747474"/>
                </a:solidFill>
                <a:latin typeface="Arial MT"/>
                <a:cs typeface="Arial MT"/>
              </a:rPr>
              <a:t>to</a:t>
            </a:r>
            <a:r>
              <a:rPr sz="2600" spc="3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functionality</a:t>
            </a:r>
            <a:r>
              <a:rPr sz="2600" spc="3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requested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805"/>
              </a:spcBef>
              <a:buClr>
                <a:srgbClr val="747474"/>
              </a:buClr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279400" marR="5080" indent="-266700">
              <a:lnSpc>
                <a:spcPct val="102600"/>
              </a:lnSpc>
              <a:spcBef>
                <a:spcPts val="5"/>
              </a:spcBef>
              <a:buChar char="•"/>
              <a:tabLst>
                <a:tab pos="279400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When</a:t>
            </a:r>
            <a:r>
              <a:rPr sz="260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invoking</a:t>
            </a:r>
            <a:r>
              <a:rPr sz="260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</a:t>
            </a:r>
            <a:r>
              <a:rPr sz="2600" spc="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system</a:t>
            </a:r>
            <a:r>
              <a:rPr sz="260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call,</a:t>
            </a:r>
            <a:r>
              <a:rPr sz="2600" spc="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user</a:t>
            </a:r>
            <a:r>
              <a:rPr sz="260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places</a:t>
            </a:r>
            <a:r>
              <a:rPr sz="2600" spc="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system</a:t>
            </a:r>
            <a:r>
              <a:rPr sz="260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call</a:t>
            </a:r>
            <a:r>
              <a:rPr sz="260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number</a:t>
            </a:r>
            <a:r>
              <a:rPr sz="2600" spc="1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and</a:t>
            </a:r>
            <a:r>
              <a:rPr sz="260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associated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parameters</a:t>
            </a:r>
            <a:r>
              <a:rPr sz="2600" spc="3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in</a:t>
            </a:r>
            <a:r>
              <a:rPr sz="2600" spc="3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an</a:t>
            </a:r>
            <a:r>
              <a:rPr sz="2600" spc="4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“agreed</a:t>
            </a:r>
            <a:r>
              <a:rPr sz="2600" spc="3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65" dirty="0">
                <a:solidFill>
                  <a:srgbClr val="747474"/>
                </a:solidFill>
                <a:latin typeface="Arial MT"/>
                <a:cs typeface="Arial MT"/>
              </a:rPr>
              <a:t>upon”</a:t>
            </a:r>
            <a:r>
              <a:rPr sz="2600" spc="3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location,</a:t>
            </a:r>
            <a:r>
              <a:rPr sz="2600" spc="4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then</a:t>
            </a:r>
            <a:r>
              <a:rPr sz="2600" spc="3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executes</a:t>
            </a:r>
            <a:r>
              <a:rPr sz="2600" spc="3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the</a:t>
            </a:r>
            <a:r>
              <a:rPr sz="2600" spc="4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56D6"/>
                </a:solidFill>
                <a:latin typeface="Arial MT"/>
                <a:cs typeface="Arial MT"/>
              </a:rPr>
              <a:t>trap</a:t>
            </a:r>
            <a:r>
              <a:rPr sz="2600" spc="35" dirty="0">
                <a:solidFill>
                  <a:srgbClr val="0056D6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instruction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85"/>
              </a:spcBef>
              <a:buClr>
                <a:srgbClr val="747474"/>
              </a:buClr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278765" indent="-266065">
              <a:lnSpc>
                <a:spcPct val="100000"/>
              </a:lnSpc>
              <a:spcBef>
                <a:spcPts val="5"/>
              </a:spcBef>
              <a:buChar char="•"/>
              <a:tabLst>
                <a:tab pos="278765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OS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retrieves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system call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number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and parameters,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then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performs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action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5"/>
              </a:spcBef>
              <a:buClr>
                <a:srgbClr val="747474"/>
              </a:buClr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279400" marR="494030" indent="-266700">
              <a:lnSpc>
                <a:spcPct val="102600"/>
              </a:lnSpc>
              <a:buChar char="•"/>
              <a:tabLst>
                <a:tab pos="279400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OS</a:t>
            </a:r>
            <a:r>
              <a:rPr sz="2600" spc="3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writes</a:t>
            </a:r>
            <a:r>
              <a:rPr sz="2600" spc="4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output</a:t>
            </a:r>
            <a:r>
              <a:rPr sz="2600" spc="4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data</a:t>
            </a:r>
            <a:r>
              <a:rPr sz="2600" spc="4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and</a:t>
            </a:r>
            <a:r>
              <a:rPr sz="2600" spc="4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return</a:t>
            </a:r>
            <a:r>
              <a:rPr sz="2600" spc="4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value</a:t>
            </a:r>
            <a:r>
              <a:rPr sz="2600" spc="4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65" dirty="0">
                <a:solidFill>
                  <a:srgbClr val="747474"/>
                </a:solidFill>
                <a:latin typeface="Arial MT"/>
                <a:cs typeface="Arial MT"/>
              </a:rPr>
              <a:t>to</a:t>
            </a:r>
            <a:r>
              <a:rPr sz="2600" spc="4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an</a:t>
            </a:r>
            <a:r>
              <a:rPr sz="2600" spc="3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“agreed</a:t>
            </a:r>
            <a:r>
              <a:rPr sz="2600" spc="4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65" dirty="0">
                <a:solidFill>
                  <a:srgbClr val="747474"/>
                </a:solidFill>
                <a:latin typeface="Arial MT"/>
                <a:cs typeface="Arial MT"/>
              </a:rPr>
              <a:t>upon”</a:t>
            </a:r>
            <a:r>
              <a:rPr sz="2600" spc="4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location,</a:t>
            </a:r>
            <a:r>
              <a:rPr sz="2600" spc="4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20" dirty="0">
                <a:solidFill>
                  <a:srgbClr val="747474"/>
                </a:solidFill>
                <a:latin typeface="Arial MT"/>
                <a:cs typeface="Arial MT"/>
              </a:rPr>
              <a:t>then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resumes</a:t>
            </a:r>
            <a:r>
              <a:rPr sz="2600" spc="-1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user</a:t>
            </a:r>
            <a:r>
              <a:rPr sz="2600" spc="-1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process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System</a:t>
            </a:r>
            <a:r>
              <a:rPr spc="-180" dirty="0"/>
              <a:t> </a:t>
            </a:r>
            <a:r>
              <a:rPr spc="-105" dirty="0"/>
              <a:t>Call</a:t>
            </a:r>
            <a:r>
              <a:rPr spc="-180" dirty="0"/>
              <a:t> </a:t>
            </a:r>
            <a:r>
              <a:rPr spc="-75" dirty="0"/>
              <a:t>Interface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8554" y="2209926"/>
            <a:ext cx="9987691" cy="60967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016000"/>
            <a:ext cx="596265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Examples</a:t>
            </a:r>
            <a:r>
              <a:rPr spc="-160" dirty="0"/>
              <a:t> </a:t>
            </a:r>
            <a:r>
              <a:rPr dirty="0"/>
              <a:t>of</a:t>
            </a:r>
            <a:r>
              <a:rPr spc="-155" dirty="0"/>
              <a:t> </a:t>
            </a:r>
            <a:r>
              <a:rPr spc="-60" dirty="0"/>
              <a:t>System</a:t>
            </a:r>
            <a:r>
              <a:rPr spc="-155" dirty="0"/>
              <a:t> </a:t>
            </a:r>
            <a:r>
              <a:rPr spc="-80" dirty="0"/>
              <a:t>Calls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2343404"/>
            <a:ext cx="11219815" cy="644652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279400" marR="814705" indent="-266700" algn="just">
              <a:lnSpc>
                <a:spcPts val="3000"/>
              </a:lnSpc>
              <a:spcBef>
                <a:spcPts val="245"/>
              </a:spcBef>
              <a:buChar char="•"/>
              <a:tabLst>
                <a:tab pos="279400" algn="l"/>
              </a:tabLst>
            </a:pP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Process</a:t>
            </a:r>
            <a:r>
              <a:rPr sz="2550" spc="6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control:</a:t>
            </a:r>
            <a:r>
              <a:rPr sz="2550" spc="6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create</a:t>
            </a:r>
            <a:r>
              <a:rPr sz="2550" spc="6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process,</a:t>
            </a:r>
            <a:r>
              <a:rPr sz="2550" spc="6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terminate,</a:t>
            </a:r>
            <a:r>
              <a:rPr sz="2550" spc="6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load</a:t>
            </a:r>
            <a:r>
              <a:rPr sz="2550" spc="6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program,</a:t>
            </a:r>
            <a:r>
              <a:rPr sz="2550" spc="6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get</a:t>
            </a:r>
            <a:r>
              <a:rPr sz="2550" spc="6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747474"/>
                </a:solidFill>
                <a:latin typeface="Arial MT"/>
                <a:cs typeface="Arial MT"/>
              </a:rPr>
              <a:t>process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attributes,</a:t>
            </a:r>
            <a:r>
              <a:rPr sz="2550" spc="7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wait</a:t>
            </a:r>
            <a:r>
              <a:rPr sz="2550" spc="7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for</a:t>
            </a:r>
            <a:r>
              <a:rPr sz="2550" spc="7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time,</a:t>
            </a:r>
            <a:r>
              <a:rPr sz="2550" spc="8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wait</a:t>
            </a:r>
            <a:r>
              <a:rPr sz="2550" spc="7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for</a:t>
            </a:r>
            <a:r>
              <a:rPr sz="2550" spc="8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event,</a:t>
            </a:r>
            <a:r>
              <a:rPr sz="2550" spc="7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allocate</a:t>
            </a:r>
            <a:r>
              <a:rPr sz="2550" spc="8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memory,</a:t>
            </a:r>
            <a:r>
              <a:rPr sz="2550" spc="7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obtain</a:t>
            </a:r>
            <a:r>
              <a:rPr sz="2550" spc="8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747474"/>
                </a:solidFill>
                <a:latin typeface="Arial MT"/>
                <a:cs typeface="Arial MT"/>
              </a:rPr>
              <a:t>locks,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debugging</a:t>
            </a:r>
            <a:r>
              <a:rPr sz="2550" spc="229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747474"/>
                </a:solidFill>
                <a:latin typeface="Arial MT"/>
                <a:cs typeface="Arial MT"/>
              </a:rPr>
              <a:t>support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20"/>
              </a:spcBef>
              <a:buClr>
                <a:srgbClr val="747474"/>
              </a:buClr>
              <a:buFont typeface="Arial MT"/>
              <a:buChar char="•"/>
            </a:pPr>
            <a:endParaRPr sz="2550">
              <a:latin typeface="Arial MT"/>
              <a:cs typeface="Arial MT"/>
            </a:endParaRPr>
          </a:p>
          <a:p>
            <a:pPr marL="278765" indent="-266065">
              <a:lnSpc>
                <a:spcPct val="100000"/>
              </a:lnSpc>
              <a:buChar char="•"/>
              <a:tabLst>
                <a:tab pos="278765" algn="l"/>
              </a:tabLst>
            </a:pP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I/O: create file,</a:t>
            </a:r>
            <a:r>
              <a:rPr sz="255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open</a:t>
            </a:r>
            <a:r>
              <a:rPr sz="255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file,</a:t>
            </a:r>
            <a:r>
              <a:rPr sz="255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read file, get</a:t>
            </a:r>
            <a:r>
              <a:rPr sz="2550" spc="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file</a:t>
            </a:r>
            <a:r>
              <a:rPr sz="255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747474"/>
                </a:solidFill>
                <a:latin typeface="Arial MT"/>
                <a:cs typeface="Arial MT"/>
              </a:rPr>
              <a:t>attributes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5"/>
              </a:spcBef>
              <a:buClr>
                <a:srgbClr val="747474"/>
              </a:buClr>
              <a:buFont typeface="Arial MT"/>
              <a:buChar char="•"/>
            </a:pPr>
            <a:endParaRPr sz="2550">
              <a:latin typeface="Arial MT"/>
              <a:cs typeface="Arial MT"/>
            </a:endParaRPr>
          </a:p>
          <a:p>
            <a:pPr marL="278765" indent="-266065">
              <a:lnSpc>
                <a:spcPct val="100000"/>
              </a:lnSpc>
              <a:buChar char="•"/>
              <a:tabLst>
                <a:tab pos="278765" algn="l"/>
              </a:tabLst>
            </a:pP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Device</a:t>
            </a:r>
            <a:r>
              <a:rPr sz="2550" spc="-1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management:</a:t>
            </a:r>
            <a:r>
              <a:rPr sz="2550" spc="-1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request</a:t>
            </a:r>
            <a:r>
              <a:rPr sz="2550" spc="-1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device,</a:t>
            </a:r>
            <a:r>
              <a:rPr sz="2550" spc="-1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747474"/>
                </a:solidFill>
                <a:latin typeface="Arial MT"/>
                <a:cs typeface="Arial MT"/>
              </a:rPr>
              <a:t>release</a:t>
            </a:r>
            <a:r>
              <a:rPr sz="2550" spc="-1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device,</a:t>
            </a:r>
            <a:r>
              <a:rPr sz="2550" spc="-1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read</a:t>
            </a:r>
            <a:r>
              <a:rPr sz="2550" spc="-1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747474"/>
                </a:solidFill>
                <a:latin typeface="Arial MT"/>
                <a:cs typeface="Arial MT"/>
              </a:rPr>
              <a:t>data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10"/>
              </a:spcBef>
              <a:buClr>
                <a:srgbClr val="747474"/>
              </a:buClr>
              <a:buFont typeface="Arial MT"/>
              <a:buChar char="•"/>
            </a:pPr>
            <a:endParaRPr sz="2550">
              <a:latin typeface="Arial MT"/>
              <a:cs typeface="Arial MT"/>
            </a:endParaRPr>
          </a:p>
          <a:p>
            <a:pPr marL="278765" indent="-266065">
              <a:lnSpc>
                <a:spcPct val="100000"/>
              </a:lnSpc>
              <a:buChar char="•"/>
              <a:tabLst>
                <a:tab pos="278765" algn="l"/>
              </a:tabLst>
            </a:pP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Information</a:t>
            </a:r>
            <a:r>
              <a:rPr sz="2550" spc="5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maintenance:</a:t>
            </a:r>
            <a:r>
              <a:rPr sz="2550" spc="6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get</a:t>
            </a:r>
            <a:r>
              <a:rPr sz="2550" spc="5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system</a:t>
            </a:r>
            <a:r>
              <a:rPr sz="2550" spc="6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time,</a:t>
            </a:r>
            <a:r>
              <a:rPr sz="2550" spc="6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set</a:t>
            </a:r>
            <a:r>
              <a:rPr sz="2550" spc="6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system</a:t>
            </a:r>
            <a:r>
              <a:rPr sz="2550" spc="6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747474"/>
                </a:solidFill>
                <a:latin typeface="Arial MT"/>
                <a:cs typeface="Arial MT"/>
              </a:rPr>
              <a:t>time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5"/>
              </a:spcBef>
              <a:buClr>
                <a:srgbClr val="747474"/>
              </a:buClr>
              <a:buFont typeface="Arial MT"/>
              <a:buChar char="•"/>
            </a:pPr>
            <a:endParaRPr sz="2550">
              <a:latin typeface="Arial MT"/>
              <a:cs typeface="Arial MT"/>
            </a:endParaRPr>
          </a:p>
          <a:p>
            <a:pPr marL="279400" marR="5080" indent="-266700">
              <a:lnSpc>
                <a:spcPts val="3000"/>
              </a:lnSpc>
              <a:buChar char="•"/>
              <a:tabLst>
                <a:tab pos="279400" algn="l"/>
              </a:tabLst>
            </a:pP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Communications:</a:t>
            </a:r>
            <a:r>
              <a:rPr sz="255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send message,</a:t>
            </a:r>
            <a:r>
              <a:rPr sz="255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receive message,</a:t>
            </a:r>
            <a:r>
              <a:rPr sz="255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share data with</a:t>
            </a:r>
            <a:r>
              <a:rPr sz="255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747474"/>
                </a:solidFill>
                <a:latin typeface="Arial MT"/>
                <a:cs typeface="Arial MT"/>
              </a:rPr>
              <a:t>another process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20"/>
              </a:spcBef>
              <a:buClr>
                <a:srgbClr val="747474"/>
              </a:buClr>
              <a:buFont typeface="Arial MT"/>
              <a:buChar char="•"/>
            </a:pPr>
            <a:endParaRPr sz="2550">
              <a:latin typeface="Arial MT"/>
              <a:cs typeface="Arial MT"/>
            </a:endParaRPr>
          </a:p>
          <a:p>
            <a:pPr marL="278765" indent="-266065">
              <a:lnSpc>
                <a:spcPct val="100000"/>
              </a:lnSpc>
              <a:buChar char="•"/>
              <a:tabLst>
                <a:tab pos="278765" algn="l"/>
              </a:tabLst>
            </a:pP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Protection:</a:t>
            </a:r>
            <a:r>
              <a:rPr sz="2550" spc="9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get</a:t>
            </a:r>
            <a:r>
              <a:rPr sz="2550" spc="9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permissions,</a:t>
            </a:r>
            <a:r>
              <a:rPr sz="2550" spc="9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allow</a:t>
            </a:r>
            <a:r>
              <a:rPr sz="2550" spc="9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access,</a:t>
            </a:r>
            <a:r>
              <a:rPr sz="2550" spc="9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747474"/>
                </a:solidFill>
                <a:latin typeface="Arial MT"/>
                <a:cs typeface="Arial MT"/>
              </a:rPr>
              <a:t>deny</a:t>
            </a:r>
            <a:r>
              <a:rPr sz="2550" spc="9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747474"/>
                </a:solidFill>
                <a:latin typeface="Arial MT"/>
                <a:cs typeface="Arial MT"/>
              </a:rPr>
              <a:t>access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Parameter</a:t>
            </a:r>
            <a:r>
              <a:rPr spc="-130" dirty="0"/>
              <a:t> </a:t>
            </a:r>
            <a:r>
              <a:rPr spc="-85" dirty="0"/>
              <a:t>Passing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2362200"/>
            <a:ext cx="11563350" cy="570484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79400" marR="139065" indent="-266700">
              <a:lnSpc>
                <a:spcPct val="102600"/>
              </a:lnSpc>
              <a:spcBef>
                <a:spcPts val="15"/>
              </a:spcBef>
              <a:buChar char="•"/>
              <a:tabLst>
                <a:tab pos="279400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OS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writer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and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user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programs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rely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upon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convention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when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choosing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where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40" dirty="0">
                <a:solidFill>
                  <a:srgbClr val="747474"/>
                </a:solidFill>
                <a:latin typeface="Arial MT"/>
                <a:cs typeface="Arial MT"/>
              </a:rPr>
              <a:t>to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store parameters and return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values: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89"/>
              </a:spcBef>
              <a:buClr>
                <a:srgbClr val="747474"/>
              </a:buClr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723265" lvl="1" indent="-266065">
              <a:lnSpc>
                <a:spcPct val="100000"/>
              </a:lnSpc>
              <a:spcBef>
                <a:spcPts val="5"/>
              </a:spcBef>
              <a:buChar char="•"/>
              <a:tabLst>
                <a:tab pos="723265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Simplest:</a:t>
            </a:r>
            <a:r>
              <a:rPr sz="2600" spc="-6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60" dirty="0">
                <a:solidFill>
                  <a:srgbClr val="747474"/>
                </a:solidFill>
                <a:latin typeface="Arial MT"/>
                <a:cs typeface="Arial MT"/>
              </a:rPr>
              <a:t>put</a:t>
            </a:r>
            <a:r>
              <a:rPr sz="2600" spc="-6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all</a:t>
            </a:r>
            <a:r>
              <a:rPr sz="2600" spc="-6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values</a:t>
            </a:r>
            <a:r>
              <a:rPr sz="2600" spc="-6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in</a:t>
            </a:r>
            <a:r>
              <a:rPr sz="2600" spc="-6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56D6"/>
                </a:solidFill>
                <a:latin typeface="Arial MT"/>
                <a:cs typeface="Arial MT"/>
              </a:rPr>
              <a:t>registers</a:t>
            </a:r>
            <a:r>
              <a:rPr sz="2600" spc="-65" dirty="0">
                <a:solidFill>
                  <a:srgbClr val="0056D6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(hopefully</a:t>
            </a:r>
            <a:r>
              <a:rPr sz="2600" spc="-6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there</a:t>
            </a:r>
            <a:r>
              <a:rPr sz="2600" spc="-6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are</a:t>
            </a:r>
            <a:r>
              <a:rPr sz="2600" spc="-6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enough!)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805"/>
              </a:spcBef>
              <a:buClr>
                <a:srgbClr val="747474"/>
              </a:buClr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723900" marR="5080" lvl="1" indent="-266700">
              <a:lnSpc>
                <a:spcPct val="102600"/>
              </a:lnSpc>
              <a:buClr>
                <a:srgbClr val="747474"/>
              </a:buClr>
              <a:buChar char="•"/>
              <a:tabLst>
                <a:tab pos="723900" algn="l"/>
              </a:tabLst>
            </a:pPr>
            <a:r>
              <a:rPr sz="2600" dirty="0">
                <a:solidFill>
                  <a:srgbClr val="0056D6"/>
                </a:solidFill>
                <a:latin typeface="Arial MT"/>
                <a:cs typeface="Arial MT"/>
              </a:rPr>
              <a:t>Memory</a:t>
            </a:r>
            <a:r>
              <a:rPr sz="2600" spc="20" dirty="0">
                <a:solidFill>
                  <a:srgbClr val="0056D6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56D6"/>
                </a:solidFill>
                <a:latin typeface="Arial MT"/>
                <a:cs typeface="Arial MT"/>
              </a:rPr>
              <a:t>region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: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write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65" dirty="0">
                <a:solidFill>
                  <a:srgbClr val="747474"/>
                </a:solidFill>
                <a:latin typeface="Arial MT"/>
                <a:cs typeface="Arial MT"/>
              </a:rPr>
              <a:t>to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memory,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then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store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starting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memory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address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in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50" dirty="0">
                <a:solidFill>
                  <a:srgbClr val="747474"/>
                </a:solidFill>
                <a:latin typeface="Arial MT"/>
                <a:cs typeface="Arial MT"/>
              </a:rPr>
              <a:t>a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register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810"/>
              </a:spcBef>
              <a:buClr>
                <a:srgbClr val="747474"/>
              </a:buClr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723900" marR="640715" lvl="1" indent="-266700">
              <a:lnSpc>
                <a:spcPct val="102600"/>
              </a:lnSpc>
              <a:buChar char="•"/>
              <a:tabLst>
                <a:tab pos="723900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Push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values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onto </a:t>
            </a:r>
            <a:r>
              <a:rPr sz="2600" dirty="0">
                <a:solidFill>
                  <a:srgbClr val="0056D6"/>
                </a:solidFill>
                <a:latin typeface="Arial MT"/>
                <a:cs typeface="Arial MT"/>
              </a:rPr>
              <a:t>stack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;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OS will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70" dirty="0">
                <a:solidFill>
                  <a:srgbClr val="747474"/>
                </a:solidFill>
                <a:latin typeface="Arial MT"/>
                <a:cs typeface="Arial MT"/>
              </a:rPr>
              <a:t>pop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 values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off the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stack (based</a:t>
            </a:r>
            <a:r>
              <a:rPr sz="2600" spc="-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20" dirty="0">
                <a:solidFill>
                  <a:srgbClr val="747474"/>
                </a:solidFill>
                <a:latin typeface="Arial MT"/>
                <a:cs typeface="Arial MT"/>
              </a:rPr>
              <a:t>upon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stack</a:t>
            </a:r>
            <a:r>
              <a:rPr sz="2600" spc="18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register)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889"/>
              </a:spcBef>
              <a:buClr>
                <a:srgbClr val="747474"/>
              </a:buClr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278765" indent="-266065">
              <a:lnSpc>
                <a:spcPct val="100000"/>
              </a:lnSpc>
              <a:buChar char="•"/>
              <a:tabLst>
                <a:tab pos="278765" algn="l"/>
              </a:tabLst>
            </a:pPr>
            <a:r>
              <a:rPr sz="2600" spc="-20" dirty="0">
                <a:solidFill>
                  <a:srgbClr val="747474"/>
                </a:solidFill>
                <a:latin typeface="Arial MT"/>
                <a:cs typeface="Arial MT"/>
              </a:rPr>
              <a:t>Usually,</a:t>
            </a:r>
            <a:r>
              <a:rPr sz="2600" spc="7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hardware</a:t>
            </a:r>
            <a:r>
              <a:rPr sz="2600" spc="8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constraints</a:t>
            </a:r>
            <a:r>
              <a:rPr sz="2600" spc="8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dictate</a:t>
            </a:r>
            <a:r>
              <a:rPr sz="2600" spc="7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which</a:t>
            </a:r>
            <a:r>
              <a:rPr sz="2600" spc="8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56D6"/>
                </a:solidFill>
                <a:latin typeface="Arial MT"/>
                <a:cs typeface="Arial MT"/>
              </a:rPr>
              <a:t>system</a:t>
            </a:r>
            <a:r>
              <a:rPr sz="2600" spc="80" dirty="0">
                <a:solidFill>
                  <a:srgbClr val="0056D6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56D6"/>
                </a:solidFill>
                <a:latin typeface="Arial MT"/>
                <a:cs typeface="Arial MT"/>
              </a:rPr>
              <a:t>call</a:t>
            </a:r>
            <a:r>
              <a:rPr sz="2600" spc="75" dirty="0">
                <a:solidFill>
                  <a:srgbClr val="0056D6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56D6"/>
                </a:solidFill>
                <a:latin typeface="Arial MT"/>
                <a:cs typeface="Arial MT"/>
              </a:rPr>
              <a:t>convention</a:t>
            </a:r>
            <a:r>
              <a:rPr sz="2600" spc="80" dirty="0">
                <a:solidFill>
                  <a:srgbClr val="0056D6"/>
                </a:solidFill>
                <a:latin typeface="Arial MT"/>
                <a:cs typeface="Arial MT"/>
              </a:rPr>
              <a:t> </a:t>
            </a:r>
            <a:r>
              <a:rPr sz="2600" spc="-20" dirty="0">
                <a:solidFill>
                  <a:srgbClr val="747474"/>
                </a:solidFill>
                <a:latin typeface="Arial MT"/>
                <a:cs typeface="Arial MT"/>
              </a:rPr>
              <a:t>used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Linux</a:t>
            </a:r>
            <a:r>
              <a:rPr spc="-145" dirty="0"/>
              <a:t> </a:t>
            </a:r>
            <a:r>
              <a:rPr dirty="0"/>
              <a:t>x86-64</a:t>
            </a:r>
            <a:r>
              <a:rPr spc="-140" dirty="0"/>
              <a:t> </a:t>
            </a:r>
            <a:r>
              <a:rPr spc="-60" dirty="0"/>
              <a:t>System</a:t>
            </a:r>
            <a:r>
              <a:rPr spc="-140" dirty="0"/>
              <a:t> </a:t>
            </a:r>
            <a:r>
              <a:rPr spc="-105" dirty="0"/>
              <a:t>Call</a:t>
            </a:r>
            <a:r>
              <a:rPr spc="-140" dirty="0"/>
              <a:t> </a:t>
            </a:r>
            <a:r>
              <a:rPr spc="-55" dirty="0"/>
              <a:t>Convention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19000" y="9215450"/>
            <a:ext cx="2235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11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10753" y="2100822"/>
            <a:ext cx="11583670" cy="5791200"/>
            <a:chOff x="710753" y="2100822"/>
            <a:chExt cx="11583670" cy="5791200"/>
          </a:xfrm>
        </p:grpSpPr>
        <p:sp>
          <p:nvSpPr>
            <p:cNvPr id="5" name="object 5"/>
            <p:cNvSpPr/>
            <p:nvPr/>
          </p:nvSpPr>
          <p:spPr>
            <a:xfrm>
              <a:off x="717103" y="2107172"/>
              <a:ext cx="11570970" cy="5778500"/>
            </a:xfrm>
            <a:custGeom>
              <a:avLst/>
              <a:gdLst/>
              <a:ahLst/>
              <a:cxnLst/>
              <a:rect l="l" t="t" r="r" b="b"/>
              <a:pathLst>
                <a:path w="11570970" h="5778500">
                  <a:moveTo>
                    <a:pt x="0" y="0"/>
                  </a:moveTo>
                  <a:lnTo>
                    <a:pt x="11570591" y="0"/>
                  </a:lnTo>
                  <a:lnTo>
                    <a:pt x="11570591" y="5778500"/>
                  </a:lnTo>
                  <a:lnTo>
                    <a:pt x="0" y="5778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CA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7103" y="2107172"/>
              <a:ext cx="11570970" cy="5778500"/>
            </a:xfrm>
            <a:custGeom>
              <a:avLst/>
              <a:gdLst/>
              <a:ahLst/>
              <a:cxnLst/>
              <a:rect l="l" t="t" r="r" b="b"/>
              <a:pathLst>
                <a:path w="11570970" h="5778500">
                  <a:moveTo>
                    <a:pt x="0" y="0"/>
                  </a:moveTo>
                  <a:lnTo>
                    <a:pt x="11570592" y="0"/>
                  </a:lnTo>
                  <a:lnTo>
                    <a:pt x="11570592" y="5778500"/>
                  </a:lnTo>
                  <a:lnTo>
                    <a:pt x="0" y="57785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01700" y="2133600"/>
            <a:ext cx="11332210" cy="5687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0" indent="-3175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30200" algn="l"/>
              </a:tabLst>
            </a:pPr>
            <a:r>
              <a:rPr sz="2400" spc="-25" dirty="0">
                <a:latin typeface="Times New Roman"/>
                <a:cs typeface="Times New Roman"/>
              </a:rPr>
              <a:t>User-</a:t>
            </a:r>
            <a:r>
              <a:rPr sz="2400" dirty="0">
                <a:latin typeface="Times New Roman"/>
                <a:cs typeface="Times New Roman"/>
              </a:rPr>
              <a:t>level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registers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sequence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%rdi,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%rsi,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%rdx,</a:t>
            </a:r>
            <a:endParaRPr sz="2400">
              <a:latin typeface="Times New Roman"/>
              <a:cs typeface="Times New Roman"/>
            </a:endParaRPr>
          </a:p>
          <a:p>
            <a:pPr marL="330200">
              <a:lnSpc>
                <a:spcPct val="100000"/>
              </a:lnSpc>
              <a:spcBef>
                <a:spcPts val="20"/>
              </a:spcBef>
            </a:pPr>
            <a:r>
              <a:rPr sz="2400" dirty="0">
                <a:latin typeface="Times New Roman"/>
                <a:cs typeface="Times New Roman"/>
              </a:rPr>
              <a:t>%rcx,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%r8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%r9.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kernel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interface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%rdi,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%rsi,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%rdx,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%r10,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%r8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%r9.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400">
              <a:latin typeface="Times New Roman"/>
              <a:cs typeface="Times New Roman"/>
            </a:endParaRPr>
          </a:p>
          <a:p>
            <a:pPr marL="330200" indent="-317500">
              <a:lnSpc>
                <a:spcPct val="100000"/>
              </a:lnSpc>
              <a:buAutoNum type="arabicPeriod" startAt="2"/>
              <a:tabLst>
                <a:tab pos="330200" algn="l"/>
              </a:tabLst>
            </a:pP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system-</a:t>
            </a:r>
            <a:r>
              <a:rPr sz="2400" dirty="0">
                <a:latin typeface="Times New Roman"/>
                <a:cs typeface="Times New Roman"/>
              </a:rPr>
              <a:t>call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syscall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instruction.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kernel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destroys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registers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%rcx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330200">
              <a:lnSpc>
                <a:spcPct val="100000"/>
              </a:lnSpc>
              <a:spcBef>
                <a:spcPts val="20"/>
              </a:spcBef>
            </a:pPr>
            <a:r>
              <a:rPr sz="2400" spc="-10" dirty="0">
                <a:latin typeface="Times New Roman"/>
                <a:cs typeface="Times New Roman"/>
              </a:rPr>
              <a:t>%r11.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400">
              <a:latin typeface="Times New Roman"/>
              <a:cs typeface="Times New Roman"/>
            </a:endParaRPr>
          </a:p>
          <a:p>
            <a:pPr marL="330200" indent="-317500">
              <a:lnSpc>
                <a:spcPct val="100000"/>
              </a:lnSpc>
              <a:buAutoNum type="arabicPeriod" startAt="3"/>
              <a:tabLst>
                <a:tab pos="3302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syscall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register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%rax.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0"/>
              </a:spcBef>
              <a:buFont typeface="Times New Roman"/>
              <a:buAutoNum type="arabicPeriod" startAt="3"/>
            </a:pPr>
            <a:endParaRPr sz="2400">
              <a:latin typeface="Times New Roman"/>
              <a:cs typeface="Times New Roman"/>
            </a:endParaRPr>
          </a:p>
          <a:p>
            <a:pPr marL="330200" indent="-317500">
              <a:lnSpc>
                <a:spcPct val="100000"/>
              </a:lnSpc>
              <a:buAutoNum type="arabicPeriod" startAt="3"/>
              <a:tabLst>
                <a:tab pos="330200" algn="l"/>
              </a:tabLst>
            </a:pPr>
            <a:r>
              <a:rPr sz="2400" spc="-10" dirty="0">
                <a:latin typeface="Times New Roman"/>
                <a:cs typeface="Times New Roman"/>
              </a:rPr>
              <a:t>System-</a:t>
            </a:r>
            <a:r>
              <a:rPr sz="2400" dirty="0">
                <a:latin typeface="Times New Roman"/>
                <a:cs typeface="Times New Roman"/>
              </a:rPr>
              <a:t>calls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limited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six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arguments,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argument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directly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stack.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40"/>
              </a:spcBef>
              <a:buFont typeface="Times New Roman"/>
              <a:buAutoNum type="arabicPeriod" startAt="3"/>
            </a:pPr>
            <a:endParaRPr sz="2400">
              <a:latin typeface="Times New Roman"/>
              <a:cs typeface="Times New Roman"/>
            </a:endParaRPr>
          </a:p>
          <a:p>
            <a:pPr marL="330200" marR="40005" indent="-317500">
              <a:lnSpc>
                <a:spcPct val="100699"/>
              </a:lnSpc>
              <a:buAutoNum type="arabicPeriod" startAt="3"/>
              <a:tabLst>
                <a:tab pos="330200" algn="l"/>
              </a:tabLst>
            </a:pPr>
            <a:r>
              <a:rPr sz="2400" dirty="0">
                <a:latin typeface="Times New Roman"/>
                <a:cs typeface="Times New Roman"/>
              </a:rPr>
              <a:t>Returning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syscall,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register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%rax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result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system-call.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range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-</a:t>
            </a:r>
            <a:r>
              <a:rPr sz="2400" dirty="0">
                <a:latin typeface="Times New Roman"/>
                <a:cs typeface="Times New Roman"/>
              </a:rPr>
              <a:t>4095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-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indicates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error,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0" dirty="0">
                <a:latin typeface="Times New Roman"/>
                <a:cs typeface="Times New Roman"/>
              </a:rPr>
              <a:t>errno.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0"/>
              </a:spcBef>
              <a:buFont typeface="Times New Roman"/>
              <a:buAutoNum type="arabicPeriod" startAt="3"/>
            </a:pPr>
            <a:endParaRPr sz="2400">
              <a:latin typeface="Times New Roman"/>
              <a:cs typeface="Times New Roman"/>
            </a:endParaRPr>
          </a:p>
          <a:p>
            <a:pPr marL="330200" indent="-317500">
              <a:lnSpc>
                <a:spcPct val="100000"/>
              </a:lnSpc>
              <a:buAutoNum type="arabicPeriod" startAt="3"/>
              <a:tabLst>
                <a:tab pos="330200" algn="l"/>
              </a:tabLst>
            </a:pP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MEMORY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kernel.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91300" y="9194800"/>
            <a:ext cx="5605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47474"/>
                </a:solidFill>
                <a:latin typeface="Arial MT"/>
                <a:cs typeface="Arial MT"/>
              </a:rPr>
              <a:t>https://github.com/hjl-tools/x86-psABI/wiki/X86-</a:t>
            </a:r>
            <a:r>
              <a:rPr sz="1800" spc="-10" dirty="0">
                <a:solidFill>
                  <a:srgbClr val="747474"/>
                </a:solidFill>
                <a:latin typeface="Arial MT"/>
                <a:cs typeface="Arial MT"/>
              </a:rPr>
              <a:t>psABI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016000"/>
            <a:ext cx="81559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Linux</a:t>
            </a:r>
            <a:r>
              <a:rPr spc="-145" dirty="0"/>
              <a:t> </a:t>
            </a:r>
            <a:r>
              <a:rPr dirty="0"/>
              <a:t>x86-64</a:t>
            </a:r>
            <a:r>
              <a:rPr spc="-140" dirty="0"/>
              <a:t> </a:t>
            </a:r>
            <a:r>
              <a:rPr spc="-60" dirty="0"/>
              <a:t>System</a:t>
            </a:r>
            <a:r>
              <a:rPr spc="-140" dirty="0"/>
              <a:t> </a:t>
            </a:r>
            <a:r>
              <a:rPr spc="-105" dirty="0"/>
              <a:t>Call</a:t>
            </a:r>
            <a:r>
              <a:rPr spc="-140" dirty="0"/>
              <a:t> </a:t>
            </a:r>
            <a:r>
              <a:rPr spc="-25" dirty="0"/>
              <a:t>Numbers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19000" y="9215450"/>
            <a:ext cx="2235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12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200" y="2641600"/>
            <a:ext cx="11152505" cy="29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</a:pPr>
            <a:r>
              <a:rPr sz="2000" spc="-50" dirty="0">
                <a:latin typeface="Courier New"/>
                <a:cs typeface="Courier New"/>
              </a:rPr>
              <a:t>#</a:t>
            </a:r>
            <a:endParaRPr sz="2000">
              <a:latin typeface="Courier New"/>
              <a:cs typeface="Courier New"/>
            </a:endParaRPr>
          </a:p>
          <a:p>
            <a:pPr marL="12700" marR="4120515">
              <a:lnSpc>
                <a:spcPts val="2300"/>
              </a:lnSpc>
              <a:spcBef>
                <a:spcPts val="110"/>
              </a:spcBef>
              <a:tabLst>
                <a:tab pos="316865" algn="l"/>
                <a:tab pos="1384300" algn="l"/>
                <a:tab pos="2451100" algn="l"/>
                <a:tab pos="3213100" algn="l"/>
                <a:tab pos="4432935" algn="l"/>
                <a:tab pos="5042535" algn="l"/>
                <a:tab pos="5956935" algn="l"/>
              </a:tabLst>
            </a:pPr>
            <a:r>
              <a:rPr sz="2000" spc="-50" dirty="0">
                <a:latin typeface="Courier New"/>
                <a:cs typeface="Courier New"/>
              </a:rPr>
              <a:t>#</a:t>
            </a:r>
            <a:r>
              <a:rPr sz="2000" dirty="0">
                <a:latin typeface="Courier New"/>
                <a:cs typeface="Courier New"/>
              </a:rPr>
              <a:t>	64-</a:t>
            </a:r>
            <a:r>
              <a:rPr sz="2000" spc="-25" dirty="0">
                <a:latin typeface="Courier New"/>
                <a:cs typeface="Courier New"/>
              </a:rPr>
              <a:t>bit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system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call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numbers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and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entry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vectors </a:t>
            </a:r>
            <a:r>
              <a:rPr sz="2000" spc="-50" dirty="0">
                <a:latin typeface="Courier New"/>
                <a:cs typeface="Courier New"/>
              </a:rPr>
              <a:t>#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90"/>
              </a:lnSpc>
              <a:tabLst>
                <a:tab pos="316865" algn="l"/>
                <a:tab pos="927100" algn="l"/>
                <a:tab pos="1993900" algn="l"/>
              </a:tabLst>
            </a:pPr>
            <a:r>
              <a:rPr sz="2000" spc="-50" dirty="0">
                <a:latin typeface="Courier New"/>
                <a:cs typeface="Courier New"/>
              </a:rPr>
              <a:t>#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The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format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is:</a:t>
            </a:r>
            <a:endParaRPr sz="2000">
              <a:latin typeface="Courier New"/>
              <a:cs typeface="Courier New"/>
            </a:endParaRPr>
          </a:p>
          <a:p>
            <a:pPr marL="12700" marR="5492115">
              <a:lnSpc>
                <a:spcPts val="2300"/>
              </a:lnSpc>
              <a:spcBef>
                <a:spcPts val="110"/>
              </a:spcBef>
              <a:tabLst>
                <a:tab pos="316865" algn="l"/>
                <a:tab pos="1689100" algn="l"/>
                <a:tab pos="2603500" algn="l"/>
                <a:tab pos="3670300" algn="l"/>
                <a:tab pos="4737735" algn="l"/>
              </a:tabLst>
            </a:pPr>
            <a:r>
              <a:rPr sz="2000" spc="-50" dirty="0">
                <a:latin typeface="Courier New"/>
                <a:cs typeface="Courier New"/>
              </a:rPr>
              <a:t>#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&lt;number&gt;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&lt;abi&gt;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&lt;name&gt;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&lt;entry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point&gt; </a:t>
            </a:r>
            <a:r>
              <a:rPr sz="2000" spc="-50" dirty="0">
                <a:latin typeface="Courier New"/>
                <a:cs typeface="Courier New"/>
              </a:rPr>
              <a:t>#</a:t>
            </a:r>
            <a:endParaRPr sz="2000">
              <a:latin typeface="Courier New"/>
              <a:cs typeface="Courier New"/>
            </a:endParaRPr>
          </a:p>
          <a:p>
            <a:pPr marL="12700" marR="5080">
              <a:lnSpc>
                <a:spcPts val="2300"/>
              </a:lnSpc>
              <a:tabLst>
                <a:tab pos="316865" algn="l"/>
                <a:tab pos="927100" algn="l"/>
                <a:tab pos="3060700" algn="l"/>
                <a:tab pos="3975100" algn="l"/>
                <a:tab pos="4585335" algn="l"/>
                <a:tab pos="5804535" algn="l"/>
                <a:tab pos="7480934" algn="l"/>
                <a:tab pos="8091170" algn="l"/>
                <a:tab pos="9310370" algn="l"/>
                <a:tab pos="10377170" algn="l"/>
              </a:tabLst>
            </a:pPr>
            <a:r>
              <a:rPr sz="2000" spc="-50" dirty="0">
                <a:latin typeface="Courier New"/>
                <a:cs typeface="Courier New"/>
              </a:rPr>
              <a:t>#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The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u="sng" spc="5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x64_sys_*()	</a:t>
            </a:r>
            <a:r>
              <a:rPr sz="2000" spc="-10" dirty="0">
                <a:latin typeface="Courier New"/>
                <a:cs typeface="Courier New"/>
              </a:rPr>
              <a:t>stubs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are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created</a:t>
            </a:r>
            <a:r>
              <a:rPr sz="2000" dirty="0">
                <a:latin typeface="Courier New"/>
                <a:cs typeface="Courier New"/>
              </a:rPr>
              <a:t>	on-the-</a:t>
            </a:r>
            <a:r>
              <a:rPr sz="2000" spc="-25" dirty="0">
                <a:latin typeface="Courier New"/>
                <a:cs typeface="Courier New"/>
              </a:rPr>
              <a:t>fly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for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sys_*()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system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calls </a:t>
            </a:r>
            <a:r>
              <a:rPr sz="2000" spc="-50" dirty="0">
                <a:latin typeface="Courier New"/>
                <a:cs typeface="Courier New"/>
              </a:rPr>
              <a:t>#</a:t>
            </a:r>
            <a:endParaRPr sz="2000">
              <a:latin typeface="Courier New"/>
              <a:cs typeface="Courier New"/>
            </a:endParaRPr>
          </a:p>
          <a:p>
            <a:pPr marL="12700" marR="3357879">
              <a:lnSpc>
                <a:spcPts val="2300"/>
              </a:lnSpc>
              <a:tabLst>
                <a:tab pos="316865" algn="l"/>
                <a:tab pos="927100" algn="l"/>
                <a:tab pos="1536700" algn="l"/>
                <a:tab pos="1993900" algn="l"/>
                <a:tab pos="3517900" algn="l"/>
                <a:tab pos="4280535" algn="l"/>
                <a:tab pos="4737735" algn="l"/>
                <a:tab pos="5652135" algn="l"/>
                <a:tab pos="6261735" algn="l"/>
                <a:tab pos="7023734" algn="l"/>
              </a:tabLst>
            </a:pPr>
            <a:r>
              <a:rPr sz="2000" spc="-50" dirty="0">
                <a:latin typeface="Courier New"/>
                <a:cs typeface="Courier New"/>
              </a:rPr>
              <a:t>#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The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abi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is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"common",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"64"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or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"x32"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5" dirty="0">
                <a:latin typeface="Courier New"/>
                <a:cs typeface="Courier New"/>
              </a:rPr>
              <a:t>for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this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file. </a:t>
            </a:r>
            <a:r>
              <a:rPr sz="2000" spc="-50" dirty="0">
                <a:latin typeface="Courier New"/>
                <a:cs typeface="Courier New"/>
              </a:rPr>
              <a:t>#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200" y="5562600"/>
            <a:ext cx="1397635" cy="29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ts val="2350"/>
              </a:lnSpc>
              <a:spcBef>
                <a:spcPts val="100"/>
              </a:spcBef>
              <a:buAutoNum type="arabicPlain"/>
              <a:tabLst>
                <a:tab pos="469265" algn="l"/>
              </a:tabLst>
            </a:pPr>
            <a:r>
              <a:rPr sz="2000" spc="-10" dirty="0">
                <a:latin typeface="Courier New"/>
                <a:cs typeface="Courier New"/>
              </a:rPr>
              <a:t>common</a:t>
            </a:r>
            <a:endParaRPr sz="2000">
              <a:latin typeface="Courier New"/>
              <a:cs typeface="Courier New"/>
            </a:endParaRPr>
          </a:p>
          <a:p>
            <a:pPr marL="469265" indent="-456565">
              <a:lnSpc>
                <a:spcPts val="2300"/>
              </a:lnSpc>
              <a:buAutoNum type="arabicPlain"/>
              <a:tabLst>
                <a:tab pos="469265" algn="l"/>
              </a:tabLst>
            </a:pPr>
            <a:r>
              <a:rPr sz="2000" spc="-10" dirty="0">
                <a:latin typeface="Courier New"/>
                <a:cs typeface="Courier New"/>
              </a:rPr>
              <a:t>common</a:t>
            </a:r>
            <a:endParaRPr sz="2000">
              <a:latin typeface="Courier New"/>
              <a:cs typeface="Courier New"/>
            </a:endParaRPr>
          </a:p>
          <a:p>
            <a:pPr marL="469265" indent="-456565">
              <a:lnSpc>
                <a:spcPts val="2300"/>
              </a:lnSpc>
              <a:buAutoNum type="arabicPlain"/>
              <a:tabLst>
                <a:tab pos="469265" algn="l"/>
              </a:tabLst>
            </a:pPr>
            <a:r>
              <a:rPr sz="2000" spc="-10" dirty="0">
                <a:latin typeface="Courier New"/>
                <a:cs typeface="Courier New"/>
              </a:rPr>
              <a:t>common</a:t>
            </a:r>
            <a:endParaRPr sz="2000">
              <a:latin typeface="Courier New"/>
              <a:cs typeface="Courier New"/>
            </a:endParaRPr>
          </a:p>
          <a:p>
            <a:pPr marL="469265" indent="-456565">
              <a:lnSpc>
                <a:spcPts val="2300"/>
              </a:lnSpc>
              <a:buAutoNum type="arabicPlain"/>
              <a:tabLst>
                <a:tab pos="469265" algn="l"/>
              </a:tabLst>
            </a:pPr>
            <a:r>
              <a:rPr sz="2000" spc="-10" dirty="0">
                <a:latin typeface="Courier New"/>
                <a:cs typeface="Courier New"/>
              </a:rPr>
              <a:t>common</a:t>
            </a:r>
            <a:endParaRPr sz="2000">
              <a:latin typeface="Courier New"/>
              <a:cs typeface="Courier New"/>
            </a:endParaRPr>
          </a:p>
          <a:p>
            <a:pPr marL="469265" indent="-456565">
              <a:lnSpc>
                <a:spcPts val="2300"/>
              </a:lnSpc>
              <a:buAutoNum type="arabicPlain"/>
              <a:tabLst>
                <a:tab pos="469265" algn="l"/>
              </a:tabLst>
            </a:pPr>
            <a:r>
              <a:rPr sz="2000" spc="-10" dirty="0">
                <a:latin typeface="Courier New"/>
                <a:cs typeface="Courier New"/>
              </a:rPr>
              <a:t>common</a:t>
            </a:r>
            <a:endParaRPr sz="2000">
              <a:latin typeface="Courier New"/>
              <a:cs typeface="Courier New"/>
            </a:endParaRPr>
          </a:p>
          <a:p>
            <a:pPr marL="469265" indent="-456565">
              <a:lnSpc>
                <a:spcPts val="2300"/>
              </a:lnSpc>
              <a:buAutoNum type="arabicPlain"/>
              <a:tabLst>
                <a:tab pos="469265" algn="l"/>
              </a:tabLst>
            </a:pPr>
            <a:r>
              <a:rPr sz="2000" spc="-10" dirty="0">
                <a:latin typeface="Courier New"/>
                <a:cs typeface="Courier New"/>
              </a:rPr>
              <a:t>common</a:t>
            </a:r>
            <a:endParaRPr sz="2000">
              <a:latin typeface="Courier New"/>
              <a:cs typeface="Courier New"/>
            </a:endParaRPr>
          </a:p>
          <a:p>
            <a:pPr marL="469265" indent="-456565">
              <a:lnSpc>
                <a:spcPts val="2300"/>
              </a:lnSpc>
              <a:buAutoNum type="arabicPlain"/>
              <a:tabLst>
                <a:tab pos="469265" algn="l"/>
              </a:tabLst>
            </a:pPr>
            <a:r>
              <a:rPr sz="2000" spc="-10" dirty="0">
                <a:latin typeface="Courier New"/>
                <a:cs typeface="Courier New"/>
              </a:rPr>
              <a:t>common</a:t>
            </a:r>
            <a:endParaRPr sz="2000">
              <a:latin typeface="Courier New"/>
              <a:cs typeface="Courier New"/>
            </a:endParaRPr>
          </a:p>
          <a:p>
            <a:pPr marL="469265" indent="-456565">
              <a:lnSpc>
                <a:spcPts val="2300"/>
              </a:lnSpc>
              <a:buAutoNum type="arabicPlain"/>
              <a:tabLst>
                <a:tab pos="469265" algn="l"/>
              </a:tabLst>
            </a:pPr>
            <a:r>
              <a:rPr sz="2000" spc="-10" dirty="0">
                <a:latin typeface="Courier New"/>
                <a:cs typeface="Courier New"/>
              </a:rPr>
              <a:t>common</a:t>
            </a:r>
            <a:endParaRPr sz="2000">
              <a:latin typeface="Courier New"/>
              <a:cs typeface="Courier New"/>
            </a:endParaRPr>
          </a:p>
          <a:p>
            <a:pPr marL="469265" indent="-456565">
              <a:lnSpc>
                <a:spcPts val="2300"/>
              </a:lnSpc>
              <a:buAutoNum type="arabicPlain"/>
              <a:tabLst>
                <a:tab pos="469265" algn="l"/>
              </a:tabLst>
            </a:pPr>
            <a:r>
              <a:rPr sz="2000" spc="-10" dirty="0">
                <a:latin typeface="Courier New"/>
                <a:cs typeface="Courier New"/>
              </a:rPr>
              <a:t>common</a:t>
            </a:r>
            <a:endParaRPr sz="2000">
              <a:latin typeface="Courier New"/>
              <a:cs typeface="Courier New"/>
            </a:endParaRPr>
          </a:p>
          <a:p>
            <a:pPr marL="469265" indent="-456565">
              <a:lnSpc>
                <a:spcPts val="2350"/>
              </a:lnSpc>
              <a:buAutoNum type="arabicPlain"/>
              <a:tabLst>
                <a:tab pos="469265" algn="l"/>
              </a:tabLst>
            </a:pPr>
            <a:r>
              <a:rPr sz="2000" spc="-10" dirty="0">
                <a:latin typeface="Courier New"/>
                <a:cs typeface="Courier New"/>
              </a:rPr>
              <a:t>common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66974" y="5562600"/>
            <a:ext cx="788035" cy="29591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60"/>
              </a:spcBef>
            </a:pPr>
            <a:r>
              <a:rPr sz="2000" spc="-20" dirty="0">
                <a:latin typeface="Courier New"/>
                <a:cs typeface="Courier New"/>
              </a:rPr>
              <a:t>read </a:t>
            </a:r>
            <a:r>
              <a:rPr sz="2000" spc="-10" dirty="0">
                <a:latin typeface="Courier New"/>
                <a:cs typeface="Courier New"/>
              </a:rPr>
              <a:t>write </a:t>
            </a:r>
            <a:r>
              <a:rPr sz="2000" spc="-20" dirty="0">
                <a:latin typeface="Courier New"/>
                <a:cs typeface="Courier New"/>
              </a:rPr>
              <a:t>open </a:t>
            </a:r>
            <a:r>
              <a:rPr sz="2000" spc="-10" dirty="0">
                <a:latin typeface="Courier New"/>
                <a:cs typeface="Courier New"/>
              </a:rPr>
              <a:t>close </a:t>
            </a:r>
            <a:r>
              <a:rPr sz="2000" spc="-20" dirty="0">
                <a:latin typeface="Courier New"/>
                <a:cs typeface="Courier New"/>
              </a:rPr>
              <a:t>stat </a:t>
            </a:r>
            <a:r>
              <a:rPr sz="2000" spc="-10" dirty="0">
                <a:latin typeface="Courier New"/>
                <a:cs typeface="Courier New"/>
              </a:rPr>
              <a:t>fstat lstat </a:t>
            </a:r>
            <a:r>
              <a:rPr sz="2000" spc="-20" dirty="0">
                <a:latin typeface="Courier New"/>
                <a:cs typeface="Courier New"/>
              </a:rPr>
              <a:t>poll </a:t>
            </a:r>
            <a:r>
              <a:rPr sz="2000" spc="-10" dirty="0">
                <a:latin typeface="Courier New"/>
                <a:cs typeface="Courier New"/>
              </a:rPr>
              <a:t>lseek </a:t>
            </a:r>
            <a:r>
              <a:rPr sz="2000" spc="-20" dirty="0">
                <a:latin typeface="Courier New"/>
                <a:cs typeface="Courier New"/>
              </a:rPr>
              <a:t>mmap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95724" y="5562600"/>
            <a:ext cx="2769235" cy="29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spc="-10" dirty="0">
                <a:latin typeface="Courier New"/>
                <a:cs typeface="Courier New"/>
              </a:rPr>
              <a:t>x64_sys_read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spc="-10" dirty="0">
                <a:latin typeface="Courier New"/>
                <a:cs typeface="Courier New"/>
              </a:rPr>
              <a:t>x64_sys_write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spc="-10" dirty="0">
                <a:latin typeface="Courier New"/>
                <a:cs typeface="Courier New"/>
              </a:rPr>
              <a:t>x64_sys_open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spc="-10" dirty="0">
                <a:latin typeface="Courier New"/>
                <a:cs typeface="Courier New"/>
              </a:rPr>
              <a:t>x64_sys_close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spc="-10" dirty="0">
                <a:latin typeface="Courier New"/>
                <a:cs typeface="Courier New"/>
              </a:rPr>
              <a:t>x64_sys_newstat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spc="-10" dirty="0">
                <a:latin typeface="Courier New"/>
                <a:cs typeface="Courier New"/>
              </a:rPr>
              <a:t>x64_sys_newfstat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spc="-10" dirty="0">
                <a:latin typeface="Courier New"/>
                <a:cs typeface="Courier New"/>
              </a:rPr>
              <a:t>x64_sys_newlstat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spc="-10" dirty="0">
                <a:latin typeface="Courier New"/>
                <a:cs typeface="Courier New"/>
              </a:rPr>
              <a:t>x64_sys_poll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spc="-10" dirty="0">
                <a:latin typeface="Courier New"/>
                <a:cs typeface="Courier New"/>
              </a:rPr>
              <a:t>x64_sys_lseek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50"/>
              </a:lnSpc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000" spc="-10" dirty="0">
                <a:latin typeface="Courier New"/>
                <a:cs typeface="Courier New"/>
              </a:rPr>
              <a:t>x64_sys_mmap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5400" y="9055100"/>
            <a:ext cx="4509135" cy="5791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55"/>
              </a:spcBef>
            </a:pPr>
            <a:r>
              <a:rPr sz="1800" spc="-10" dirty="0">
                <a:solidFill>
                  <a:srgbClr val="747474"/>
                </a:solidFill>
                <a:latin typeface="Arial MT"/>
                <a:cs typeface="Arial MT"/>
              </a:rPr>
              <a:t>https://elixir.bootlin.com/linux/latest/source/</a:t>
            </a:r>
            <a:r>
              <a:rPr sz="1800" spc="50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47474"/>
                </a:solidFill>
                <a:latin typeface="Arial MT"/>
                <a:cs typeface="Arial MT"/>
              </a:rPr>
              <a:t>arch/x86/entry/syscalls/syscall_64.tbl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016000"/>
            <a:ext cx="647763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Standard</a:t>
            </a:r>
            <a:r>
              <a:rPr spc="-185" dirty="0"/>
              <a:t> </a:t>
            </a:r>
            <a:r>
              <a:rPr dirty="0"/>
              <a:t>C</a:t>
            </a:r>
            <a:r>
              <a:rPr spc="-185" dirty="0"/>
              <a:t> </a:t>
            </a:r>
            <a:r>
              <a:rPr spc="-60" dirty="0"/>
              <a:t>Library</a:t>
            </a:r>
            <a:r>
              <a:rPr spc="-185" dirty="0"/>
              <a:t> </a:t>
            </a:r>
            <a:r>
              <a:rPr spc="-9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2336800"/>
            <a:ext cx="11196955" cy="1869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Many</a:t>
            </a:r>
            <a:r>
              <a:rPr sz="2600" spc="4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standard</a:t>
            </a:r>
            <a:r>
              <a:rPr sz="2600" spc="4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C</a:t>
            </a:r>
            <a:r>
              <a:rPr sz="2600" spc="5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functions</a:t>
            </a:r>
            <a:r>
              <a:rPr sz="2600" spc="4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invoke</a:t>
            </a:r>
            <a:r>
              <a:rPr sz="2600" spc="4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underlying</a:t>
            </a:r>
            <a:r>
              <a:rPr sz="2600" spc="5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system</a:t>
            </a:r>
            <a:r>
              <a:rPr sz="2600" spc="4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calls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279400" marR="5080" indent="-266700">
              <a:lnSpc>
                <a:spcPct val="109000"/>
              </a:lnSpc>
              <a:spcBef>
                <a:spcPts val="5"/>
              </a:spcBef>
              <a:buChar char="•"/>
              <a:tabLst>
                <a:tab pos="279400" algn="l"/>
              </a:tabLst>
            </a:pP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Example: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on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Linux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x86-64,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747474"/>
                </a:solidFill>
                <a:latin typeface="Courier New"/>
                <a:cs typeface="Courier New"/>
              </a:rPr>
              <a:t>printf()</a:t>
            </a:r>
            <a:r>
              <a:rPr sz="2600" spc="-819" dirty="0">
                <a:solidFill>
                  <a:srgbClr val="747474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internally</a:t>
            </a:r>
            <a:r>
              <a:rPr sz="2600" spc="20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invokes</a:t>
            </a:r>
            <a:r>
              <a:rPr sz="2600" spc="25" dirty="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747474"/>
                </a:solidFill>
                <a:latin typeface="Courier New"/>
                <a:cs typeface="Courier New"/>
              </a:rPr>
              <a:t>write()</a:t>
            </a:r>
            <a:r>
              <a:rPr sz="2600" spc="-819" dirty="0">
                <a:solidFill>
                  <a:srgbClr val="747474"/>
                </a:solidFill>
                <a:latin typeface="Courier New"/>
                <a:cs typeface="Courier New"/>
              </a:rPr>
              <a:t> </a:t>
            </a:r>
            <a:r>
              <a:rPr sz="2600" spc="-10" dirty="0">
                <a:solidFill>
                  <a:srgbClr val="747474"/>
                </a:solidFill>
                <a:latin typeface="Arial MT"/>
                <a:cs typeface="Arial MT"/>
              </a:rPr>
              <a:t>(syscall </a:t>
            </a:r>
            <a:r>
              <a:rPr sz="2600" dirty="0">
                <a:solidFill>
                  <a:srgbClr val="747474"/>
                </a:solidFill>
                <a:latin typeface="Arial MT"/>
                <a:cs typeface="Arial MT"/>
              </a:rPr>
              <a:t>number </a:t>
            </a:r>
            <a:r>
              <a:rPr sz="2600" spc="-25" dirty="0">
                <a:solidFill>
                  <a:srgbClr val="747474"/>
                </a:solidFill>
                <a:latin typeface="Arial MT"/>
                <a:cs typeface="Arial MT"/>
              </a:rPr>
              <a:t>1)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3306" y="3859212"/>
            <a:ext cx="5358185" cy="54173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F2A9BA-E133-A482-715B-BC55C167F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646331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60837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603</TotalTime>
  <Words>1474</Words>
  <Application>Microsoft Macintosh PowerPoint</Application>
  <PresentationFormat>Custom</PresentationFormat>
  <Paragraphs>268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MT</vt:lpstr>
      <vt:lpstr>Calibri</vt:lpstr>
      <vt:lpstr>Courier New</vt:lpstr>
      <vt:lpstr>Times New Roman</vt:lpstr>
      <vt:lpstr>Office Theme</vt:lpstr>
      <vt:lpstr>System Calls</vt:lpstr>
      <vt:lpstr>Topics</vt:lpstr>
      <vt:lpstr>Operating System Services</vt:lpstr>
      <vt:lpstr>Operating System Services</vt:lpstr>
      <vt:lpstr>System Calls</vt:lpstr>
      <vt:lpstr>Why System Calls</vt:lpstr>
      <vt:lpstr>Common System Calls</vt:lpstr>
      <vt:lpstr>System Call Execution Flow</vt:lpstr>
      <vt:lpstr>Example of System Calls</vt:lpstr>
      <vt:lpstr>Typical System Call Implementation</vt:lpstr>
      <vt:lpstr>System Call Interface</vt:lpstr>
      <vt:lpstr>Examples of System Calls</vt:lpstr>
      <vt:lpstr>Parameter Passing</vt:lpstr>
      <vt:lpstr>Linux x86-64 System Call Convention</vt:lpstr>
      <vt:lpstr>Linux x86-64 System Call Numbers</vt:lpstr>
      <vt:lpstr>Standard C Library Example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Calls</dc:title>
  <cp:lastModifiedBy>Jayaprakash Subramanian</cp:lastModifiedBy>
  <cp:revision>4</cp:revision>
  <dcterms:created xsi:type="dcterms:W3CDTF">2026-01-30T13:37:51Z</dcterms:created>
  <dcterms:modified xsi:type="dcterms:W3CDTF">2026-01-31T02:09:07Z</dcterms:modified>
</cp:coreProperties>
</file>