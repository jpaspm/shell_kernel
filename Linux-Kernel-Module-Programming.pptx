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2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1" r:id="rId27"/>
    <p:sldId id="280" r:id="rId2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72"/>
    <p:restoredTop sz="94705"/>
  </p:normalViewPr>
  <p:slideViewPr>
    <p:cSldViewPr>
      <p:cViewPr varScale="1">
        <p:scale>
          <a:sx n="108" d="100"/>
          <a:sy n="108" d="100"/>
        </p:scale>
        <p:origin x="664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7209" y="335279"/>
            <a:ext cx="347217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B6E938-57C8-05CE-7EAC-00E4723390B4}"/>
              </a:ext>
            </a:extLst>
          </p:cNvPr>
          <p:cNvSpPr/>
          <p:nvPr userDrawn="1"/>
        </p:nvSpPr>
        <p:spPr>
          <a:xfrm>
            <a:off x="0" y="6019800"/>
            <a:ext cx="1981200" cy="574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71CCB4-2326-EE86-14DA-E691172E8628}"/>
              </a:ext>
            </a:extLst>
          </p:cNvPr>
          <p:cNvSpPr/>
          <p:nvPr userDrawn="1"/>
        </p:nvSpPr>
        <p:spPr>
          <a:xfrm>
            <a:off x="0" y="6019800"/>
            <a:ext cx="1981200" cy="574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FF5720-6864-26BB-2E74-998B2FE0DD49}"/>
              </a:ext>
            </a:extLst>
          </p:cNvPr>
          <p:cNvSpPr/>
          <p:nvPr userDrawn="1"/>
        </p:nvSpPr>
        <p:spPr>
          <a:xfrm>
            <a:off x="152400" y="6157527"/>
            <a:ext cx="1981200" cy="440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E1B3C9-D749-1900-EB1D-13CAA7D99E1D}"/>
              </a:ext>
            </a:extLst>
          </p:cNvPr>
          <p:cNvSpPr/>
          <p:nvPr userDrawn="1"/>
        </p:nvSpPr>
        <p:spPr>
          <a:xfrm>
            <a:off x="0" y="6172200"/>
            <a:ext cx="1981200" cy="426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D4DCE5-6E93-26D6-9942-8FBCDE35307A}"/>
              </a:ext>
            </a:extLst>
          </p:cNvPr>
          <p:cNvSpPr/>
          <p:nvPr userDrawn="1"/>
        </p:nvSpPr>
        <p:spPr>
          <a:xfrm>
            <a:off x="76200" y="6096000"/>
            <a:ext cx="1949605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0190" cy="1088390"/>
          </a:xfrm>
          <a:custGeom>
            <a:avLst/>
            <a:gdLst/>
            <a:ahLst/>
            <a:cxnLst/>
            <a:rect l="l" t="t" r="r" b="b"/>
            <a:pathLst>
              <a:path w="9140190" h="1088390">
                <a:moveTo>
                  <a:pt x="0" y="1088389"/>
                </a:moveTo>
                <a:lnTo>
                  <a:pt x="9140190" y="1088389"/>
                </a:lnTo>
                <a:lnTo>
                  <a:pt x="9140190" y="0"/>
                </a:lnTo>
                <a:lnTo>
                  <a:pt x="0" y="0"/>
                </a:lnTo>
                <a:lnTo>
                  <a:pt x="0" y="1088389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1088389"/>
            <a:ext cx="9144000" cy="217170"/>
          </a:xfrm>
          <a:custGeom>
            <a:avLst/>
            <a:gdLst/>
            <a:ahLst/>
            <a:cxnLst/>
            <a:rect l="l" t="t" r="r" b="b"/>
            <a:pathLst>
              <a:path w="9144000" h="217169">
                <a:moveTo>
                  <a:pt x="9144000" y="0"/>
                </a:moveTo>
                <a:lnTo>
                  <a:pt x="0" y="0"/>
                </a:lnTo>
                <a:lnTo>
                  <a:pt x="0" y="217170"/>
                </a:lnTo>
                <a:lnTo>
                  <a:pt x="9144000" y="21717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605270"/>
            <a:ext cx="9138920" cy="252729"/>
          </a:xfrm>
          <a:custGeom>
            <a:avLst/>
            <a:gdLst/>
            <a:ahLst/>
            <a:cxnLst/>
            <a:rect l="l" t="t" r="r" b="b"/>
            <a:pathLst>
              <a:path w="9138920" h="252729">
                <a:moveTo>
                  <a:pt x="0" y="252729"/>
                </a:moveTo>
                <a:lnTo>
                  <a:pt x="0" y="0"/>
                </a:lnTo>
                <a:lnTo>
                  <a:pt x="9138920" y="0"/>
                </a:lnTo>
                <a:lnTo>
                  <a:pt x="9138920" y="252729"/>
                </a:lnTo>
                <a:lnTo>
                  <a:pt x="0" y="252729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389" y="6192520"/>
            <a:ext cx="1799589" cy="50419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7209" y="335279"/>
            <a:ext cx="806958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25500" y="1398777"/>
            <a:ext cx="7772400" cy="4518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kyamputar.blogspot.in/" TargetMode="External"/><Relationship Id="rId2" Type="http://schemas.openxmlformats.org/officeDocument/2006/relationships/hyperlink" Target="http://digitallocha.blogspot.in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2420620"/>
          </a:xfrm>
          <a:custGeom>
            <a:avLst/>
            <a:gdLst/>
            <a:ahLst/>
            <a:cxnLst/>
            <a:rect l="l" t="t" r="r" b="b"/>
            <a:pathLst>
              <a:path w="9144000" h="2420620">
                <a:moveTo>
                  <a:pt x="9144000" y="0"/>
                </a:moveTo>
                <a:lnTo>
                  <a:pt x="0" y="0"/>
                </a:lnTo>
                <a:lnTo>
                  <a:pt x="0" y="2420620"/>
                </a:lnTo>
                <a:lnTo>
                  <a:pt x="4572000" y="2420620"/>
                </a:lnTo>
                <a:lnTo>
                  <a:pt x="9144000" y="2420620"/>
                </a:lnTo>
                <a:lnTo>
                  <a:pt x="914400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605269"/>
            <a:ext cx="9138920" cy="252729"/>
          </a:xfrm>
          <a:custGeom>
            <a:avLst/>
            <a:gdLst/>
            <a:ahLst/>
            <a:cxnLst/>
            <a:rect l="l" t="t" r="r" b="b"/>
            <a:pathLst>
              <a:path w="9138920" h="252729">
                <a:moveTo>
                  <a:pt x="0" y="252729"/>
                </a:moveTo>
                <a:lnTo>
                  <a:pt x="0" y="0"/>
                </a:lnTo>
                <a:lnTo>
                  <a:pt x="9138920" y="0"/>
                </a:lnTo>
                <a:lnTo>
                  <a:pt x="9138920" y="252729"/>
                </a:lnTo>
                <a:lnTo>
                  <a:pt x="0" y="252729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420620"/>
            <a:ext cx="9144000" cy="215900"/>
          </a:xfrm>
          <a:custGeom>
            <a:avLst/>
            <a:gdLst/>
            <a:ahLst/>
            <a:cxnLst/>
            <a:rect l="l" t="t" r="r" b="b"/>
            <a:pathLst>
              <a:path w="9144000" h="215900">
                <a:moveTo>
                  <a:pt x="9144000" y="0"/>
                </a:moveTo>
                <a:lnTo>
                  <a:pt x="0" y="0"/>
                </a:lnTo>
                <a:lnTo>
                  <a:pt x="0" y="215900"/>
                </a:lnTo>
                <a:lnTo>
                  <a:pt x="9144000" y="2159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2000" y="4046854"/>
            <a:ext cx="7391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bg2">
                    <a:lumMod val="25000"/>
                  </a:schemeClr>
                </a:solidFill>
                <a:latin typeface="Times New Roman"/>
                <a:cs typeface="Times New Roman"/>
              </a:rPr>
              <a:t>Linux</a:t>
            </a:r>
            <a:r>
              <a:rPr spc="-70" dirty="0">
                <a:solidFill>
                  <a:schemeClr val="bg2">
                    <a:lumMod val="2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bg2">
                    <a:lumMod val="25000"/>
                  </a:schemeClr>
                </a:solidFill>
                <a:latin typeface="Times New Roman"/>
                <a:cs typeface="Times New Roman"/>
              </a:rPr>
              <a:t>Kernel</a:t>
            </a:r>
            <a:r>
              <a:rPr spc="-80" dirty="0">
                <a:solidFill>
                  <a:schemeClr val="bg2">
                    <a:lumMod val="2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bg2">
                    <a:lumMod val="25000"/>
                  </a:schemeClr>
                </a:solidFill>
                <a:latin typeface="Times New Roman"/>
                <a:cs typeface="Times New Roman"/>
              </a:rPr>
              <a:t>Module</a:t>
            </a:r>
            <a:r>
              <a:rPr spc="-75" dirty="0">
                <a:solidFill>
                  <a:schemeClr val="bg2">
                    <a:lumMod val="2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chemeClr val="bg2">
                    <a:lumMod val="25000"/>
                  </a:schemeClr>
                </a:solidFill>
                <a:latin typeface="Times New Roman"/>
                <a:cs typeface="Times New Roman"/>
              </a:rPr>
              <a:t>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">
              <a:lnSpc>
                <a:spcPct val="100000"/>
              </a:lnSpc>
              <a:spcBef>
                <a:spcPts val="100"/>
              </a:spcBef>
            </a:pPr>
            <a:r>
              <a:rPr dirty="0"/>
              <a:t>Kernel</a:t>
            </a:r>
            <a:r>
              <a:rPr spc="45" dirty="0"/>
              <a:t> </a:t>
            </a:r>
            <a:r>
              <a:rPr spc="40" dirty="0"/>
              <a:t>Modules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8919"/>
            <a:ext cx="8114665" cy="41573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66700" marR="37465" indent="-254000">
              <a:lnSpc>
                <a:spcPct val="101099"/>
              </a:lnSpc>
              <a:spcBef>
                <a:spcPts val="85"/>
              </a:spcBef>
              <a:buClr>
                <a:srgbClr val="6697CC"/>
              </a:buClr>
              <a:buFont typeface="Arial MT"/>
              <a:buChar char="•"/>
              <a:tabLst>
                <a:tab pos="266700" algn="l"/>
              </a:tabLst>
            </a:pPr>
            <a:r>
              <a:rPr sz="2350" dirty="0">
                <a:latin typeface="Microsoft Sans Serif"/>
                <a:cs typeface="Microsoft Sans Serif"/>
              </a:rPr>
              <a:t>Kernel</a:t>
            </a:r>
            <a:r>
              <a:rPr sz="2350" spc="-10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modules</a:t>
            </a:r>
            <a:r>
              <a:rPr sz="2350" spc="-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are</a:t>
            </a:r>
            <a:r>
              <a:rPr sz="2350" spc="20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piece</a:t>
            </a:r>
            <a:r>
              <a:rPr sz="2350" spc="5" dirty="0">
                <a:latin typeface="Microsoft Sans Serif"/>
                <a:cs typeface="Microsoft Sans Serif"/>
              </a:rPr>
              <a:t> </a:t>
            </a:r>
            <a:r>
              <a:rPr sz="2350" spc="165" dirty="0">
                <a:latin typeface="Microsoft Sans Serif"/>
                <a:cs typeface="Microsoft Sans Serif"/>
              </a:rPr>
              <a:t>of</a:t>
            </a:r>
            <a:r>
              <a:rPr sz="2350" spc="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code,</a:t>
            </a:r>
            <a:r>
              <a:rPr sz="2350" spc="15" dirty="0">
                <a:latin typeface="Microsoft Sans Serif"/>
                <a:cs typeface="Microsoft Sans Serif"/>
              </a:rPr>
              <a:t> </a:t>
            </a:r>
            <a:r>
              <a:rPr sz="2350" spc="135" dirty="0">
                <a:latin typeface="Microsoft Sans Serif"/>
                <a:cs typeface="Microsoft Sans Serif"/>
              </a:rPr>
              <a:t>that</a:t>
            </a:r>
            <a:r>
              <a:rPr sz="2350" spc="5" dirty="0">
                <a:latin typeface="Microsoft Sans Serif"/>
                <a:cs typeface="Microsoft Sans Serif"/>
              </a:rPr>
              <a:t> </a:t>
            </a:r>
            <a:r>
              <a:rPr sz="2350" spc="-35" dirty="0">
                <a:latin typeface="Microsoft Sans Serif"/>
                <a:cs typeface="Microsoft Sans Serif"/>
              </a:rPr>
              <a:t>can</a:t>
            </a:r>
            <a:r>
              <a:rPr sz="2350" spc="1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be</a:t>
            </a:r>
            <a:r>
              <a:rPr sz="2350" spc="20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loaded</a:t>
            </a:r>
            <a:r>
              <a:rPr sz="2350" spc="20" dirty="0">
                <a:latin typeface="Microsoft Sans Serif"/>
                <a:cs typeface="Microsoft Sans Serif"/>
              </a:rPr>
              <a:t> </a:t>
            </a:r>
            <a:r>
              <a:rPr sz="2350" spc="-25" dirty="0">
                <a:latin typeface="Microsoft Sans Serif"/>
                <a:cs typeface="Microsoft Sans Serif"/>
              </a:rPr>
              <a:t>and </a:t>
            </a:r>
            <a:r>
              <a:rPr sz="2350" dirty="0">
                <a:latin typeface="Microsoft Sans Serif"/>
                <a:cs typeface="Microsoft Sans Serif"/>
              </a:rPr>
              <a:t>unloaded</a:t>
            </a:r>
            <a:r>
              <a:rPr sz="2350" spc="75" dirty="0">
                <a:latin typeface="Microsoft Sans Serif"/>
                <a:cs typeface="Microsoft Sans Serif"/>
              </a:rPr>
              <a:t> </a:t>
            </a:r>
            <a:r>
              <a:rPr sz="2350" spc="135" dirty="0">
                <a:latin typeface="Microsoft Sans Serif"/>
                <a:cs typeface="Microsoft Sans Serif"/>
              </a:rPr>
              <a:t>from</a:t>
            </a:r>
            <a:r>
              <a:rPr sz="2350" spc="7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kernel</a:t>
            </a:r>
            <a:r>
              <a:rPr sz="2350" spc="70" dirty="0">
                <a:latin typeface="Microsoft Sans Serif"/>
                <a:cs typeface="Microsoft Sans Serif"/>
              </a:rPr>
              <a:t> </a:t>
            </a:r>
            <a:r>
              <a:rPr sz="2350" spc="65" dirty="0">
                <a:latin typeface="Microsoft Sans Serif"/>
                <a:cs typeface="Microsoft Sans Serif"/>
              </a:rPr>
              <a:t>on</a:t>
            </a:r>
            <a:r>
              <a:rPr sz="2350" spc="85" dirty="0">
                <a:latin typeface="Microsoft Sans Serif"/>
                <a:cs typeface="Microsoft Sans Serif"/>
              </a:rPr>
              <a:t> </a:t>
            </a:r>
            <a:r>
              <a:rPr sz="2350" spc="-10" dirty="0">
                <a:latin typeface="Microsoft Sans Serif"/>
                <a:cs typeface="Microsoft Sans Serif"/>
              </a:rPr>
              <a:t>demand.</a:t>
            </a:r>
            <a:endParaRPr sz="2350" dirty="0">
              <a:latin typeface="Microsoft Sans Serif"/>
              <a:cs typeface="Microsoft Sans Serif"/>
            </a:endParaRPr>
          </a:p>
          <a:p>
            <a:pPr marL="266700" marR="50800" indent="-254000">
              <a:lnSpc>
                <a:spcPct val="101099"/>
              </a:lnSpc>
              <a:spcBef>
                <a:spcPts val="590"/>
              </a:spcBef>
              <a:buClr>
                <a:srgbClr val="6697CC"/>
              </a:buClr>
              <a:buFont typeface="Arial MT"/>
              <a:buChar char="•"/>
              <a:tabLst>
                <a:tab pos="266700" algn="l"/>
              </a:tabLst>
            </a:pPr>
            <a:r>
              <a:rPr sz="2350" dirty="0">
                <a:latin typeface="Microsoft Sans Serif"/>
                <a:cs typeface="Microsoft Sans Serif"/>
              </a:rPr>
              <a:t>Kernel</a:t>
            </a:r>
            <a:r>
              <a:rPr sz="2350" spc="-3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modules</a:t>
            </a:r>
            <a:r>
              <a:rPr sz="2350" spc="-35" dirty="0">
                <a:latin typeface="Microsoft Sans Serif"/>
                <a:cs typeface="Microsoft Sans Serif"/>
              </a:rPr>
              <a:t> </a:t>
            </a:r>
            <a:r>
              <a:rPr sz="2350" spc="105" dirty="0">
                <a:latin typeface="Microsoft Sans Serif"/>
                <a:cs typeface="Microsoft Sans Serif"/>
              </a:rPr>
              <a:t>offers</a:t>
            </a:r>
            <a:r>
              <a:rPr sz="2350" spc="-30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an</a:t>
            </a:r>
            <a:r>
              <a:rPr sz="2350" spc="-20" dirty="0">
                <a:latin typeface="Microsoft Sans Serif"/>
                <a:cs typeface="Microsoft Sans Serif"/>
              </a:rPr>
              <a:t> </a:t>
            </a:r>
            <a:r>
              <a:rPr sz="2350" spc="-45" dirty="0">
                <a:latin typeface="Microsoft Sans Serif"/>
                <a:cs typeface="Microsoft Sans Serif"/>
              </a:rPr>
              <a:t>easy</a:t>
            </a:r>
            <a:r>
              <a:rPr sz="2350" spc="-2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way</a:t>
            </a:r>
            <a:r>
              <a:rPr sz="2350" spc="-35" dirty="0">
                <a:latin typeface="Microsoft Sans Serif"/>
                <a:cs typeface="Microsoft Sans Serif"/>
              </a:rPr>
              <a:t> </a:t>
            </a:r>
            <a:r>
              <a:rPr sz="2350" spc="175" dirty="0">
                <a:latin typeface="Microsoft Sans Serif"/>
                <a:cs typeface="Microsoft Sans Serif"/>
              </a:rPr>
              <a:t>to</a:t>
            </a:r>
            <a:r>
              <a:rPr sz="2350" spc="-30" dirty="0">
                <a:latin typeface="Microsoft Sans Serif"/>
                <a:cs typeface="Microsoft Sans Serif"/>
              </a:rPr>
              <a:t> </a:t>
            </a:r>
            <a:r>
              <a:rPr sz="2350" spc="70" dirty="0">
                <a:latin typeface="Microsoft Sans Serif"/>
                <a:cs typeface="Microsoft Sans Serif"/>
              </a:rPr>
              <a:t>extend</a:t>
            </a:r>
            <a:r>
              <a:rPr sz="2350" spc="-15" dirty="0">
                <a:latin typeface="Microsoft Sans Serif"/>
                <a:cs typeface="Microsoft Sans Serif"/>
              </a:rPr>
              <a:t> </a:t>
            </a:r>
            <a:r>
              <a:rPr sz="2350" spc="85" dirty="0">
                <a:latin typeface="Microsoft Sans Serif"/>
                <a:cs typeface="Microsoft Sans Serif"/>
              </a:rPr>
              <a:t>the functionality</a:t>
            </a:r>
            <a:r>
              <a:rPr sz="2350" spc="-45" dirty="0">
                <a:latin typeface="Microsoft Sans Serif"/>
                <a:cs typeface="Microsoft Sans Serif"/>
              </a:rPr>
              <a:t> </a:t>
            </a:r>
            <a:r>
              <a:rPr sz="2350" spc="170" dirty="0">
                <a:latin typeface="Microsoft Sans Serif"/>
                <a:cs typeface="Microsoft Sans Serif"/>
              </a:rPr>
              <a:t>of</a:t>
            </a:r>
            <a:r>
              <a:rPr sz="2350" spc="-45" dirty="0">
                <a:latin typeface="Microsoft Sans Serif"/>
                <a:cs typeface="Microsoft Sans Serif"/>
              </a:rPr>
              <a:t> </a:t>
            </a:r>
            <a:r>
              <a:rPr sz="2350" spc="110" dirty="0">
                <a:latin typeface="Microsoft Sans Serif"/>
                <a:cs typeface="Microsoft Sans Serif"/>
              </a:rPr>
              <a:t>the</a:t>
            </a:r>
            <a:r>
              <a:rPr sz="2350" spc="-35" dirty="0">
                <a:latin typeface="Microsoft Sans Serif"/>
                <a:cs typeface="Microsoft Sans Serif"/>
              </a:rPr>
              <a:t> </a:t>
            </a:r>
            <a:r>
              <a:rPr sz="2350" spc="-10" dirty="0">
                <a:latin typeface="Microsoft Sans Serif"/>
                <a:cs typeface="Microsoft Sans Serif"/>
              </a:rPr>
              <a:t>base</a:t>
            </a:r>
            <a:r>
              <a:rPr sz="2350" spc="-3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kernel</a:t>
            </a:r>
            <a:r>
              <a:rPr sz="2350" spc="-45" dirty="0">
                <a:latin typeface="Microsoft Sans Serif"/>
                <a:cs typeface="Microsoft Sans Serif"/>
              </a:rPr>
              <a:t> </a:t>
            </a:r>
            <a:r>
              <a:rPr sz="2350" spc="135" dirty="0">
                <a:latin typeface="Microsoft Sans Serif"/>
                <a:cs typeface="Microsoft Sans Serif"/>
              </a:rPr>
              <a:t>without</a:t>
            </a:r>
            <a:r>
              <a:rPr sz="2350" spc="-2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having</a:t>
            </a:r>
            <a:r>
              <a:rPr sz="2350" spc="-40" dirty="0">
                <a:latin typeface="Microsoft Sans Serif"/>
                <a:cs typeface="Microsoft Sans Serif"/>
              </a:rPr>
              <a:t> </a:t>
            </a:r>
            <a:r>
              <a:rPr sz="2350" spc="170" dirty="0">
                <a:latin typeface="Microsoft Sans Serif"/>
                <a:cs typeface="Microsoft Sans Serif"/>
              </a:rPr>
              <a:t>to</a:t>
            </a:r>
            <a:r>
              <a:rPr sz="2350" spc="-30" dirty="0">
                <a:latin typeface="Microsoft Sans Serif"/>
                <a:cs typeface="Microsoft Sans Serif"/>
              </a:rPr>
              <a:t> </a:t>
            </a:r>
            <a:r>
              <a:rPr sz="2350" spc="60" dirty="0">
                <a:latin typeface="Microsoft Sans Serif"/>
                <a:cs typeface="Microsoft Sans Serif"/>
              </a:rPr>
              <a:t>rebuild </a:t>
            </a:r>
            <a:r>
              <a:rPr sz="2350" spc="105" dirty="0">
                <a:latin typeface="Microsoft Sans Serif"/>
                <a:cs typeface="Microsoft Sans Serif"/>
              </a:rPr>
              <a:t>or</a:t>
            </a:r>
            <a:r>
              <a:rPr sz="2350" spc="-35" dirty="0">
                <a:latin typeface="Microsoft Sans Serif"/>
                <a:cs typeface="Microsoft Sans Serif"/>
              </a:rPr>
              <a:t> </a:t>
            </a:r>
            <a:r>
              <a:rPr sz="2350" spc="45" dirty="0">
                <a:latin typeface="Microsoft Sans Serif"/>
                <a:cs typeface="Microsoft Sans Serif"/>
              </a:rPr>
              <a:t>recompile</a:t>
            </a:r>
            <a:r>
              <a:rPr sz="2350" spc="-20" dirty="0">
                <a:latin typeface="Microsoft Sans Serif"/>
                <a:cs typeface="Microsoft Sans Serif"/>
              </a:rPr>
              <a:t> </a:t>
            </a:r>
            <a:r>
              <a:rPr sz="2350" spc="110" dirty="0">
                <a:latin typeface="Microsoft Sans Serif"/>
                <a:cs typeface="Microsoft Sans Serif"/>
              </a:rPr>
              <a:t>the</a:t>
            </a:r>
            <a:r>
              <a:rPr sz="2350" spc="-10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kernel</a:t>
            </a:r>
            <a:r>
              <a:rPr sz="2350" spc="-25" dirty="0">
                <a:latin typeface="Microsoft Sans Serif"/>
                <a:cs typeface="Microsoft Sans Serif"/>
              </a:rPr>
              <a:t> </a:t>
            </a:r>
            <a:r>
              <a:rPr sz="2350" spc="-10" dirty="0">
                <a:latin typeface="Microsoft Sans Serif"/>
                <a:cs typeface="Microsoft Sans Serif"/>
              </a:rPr>
              <a:t>again.</a:t>
            </a:r>
            <a:r>
              <a:rPr sz="2350" spc="-25" dirty="0">
                <a:latin typeface="Microsoft Sans Serif"/>
                <a:cs typeface="Microsoft Sans Serif"/>
              </a:rPr>
              <a:t> </a:t>
            </a:r>
            <a:r>
              <a:rPr sz="2350" spc="85" dirty="0">
                <a:latin typeface="Microsoft Sans Serif"/>
                <a:cs typeface="Microsoft Sans Serif"/>
              </a:rPr>
              <a:t>Most</a:t>
            </a:r>
            <a:r>
              <a:rPr sz="2350" spc="-20" dirty="0">
                <a:latin typeface="Microsoft Sans Serif"/>
                <a:cs typeface="Microsoft Sans Serif"/>
              </a:rPr>
              <a:t> </a:t>
            </a:r>
            <a:r>
              <a:rPr sz="2350" spc="165" dirty="0">
                <a:latin typeface="Microsoft Sans Serif"/>
                <a:cs typeface="Microsoft Sans Serif"/>
              </a:rPr>
              <a:t>of</a:t>
            </a:r>
            <a:r>
              <a:rPr sz="2350" spc="-30" dirty="0">
                <a:latin typeface="Microsoft Sans Serif"/>
                <a:cs typeface="Microsoft Sans Serif"/>
              </a:rPr>
              <a:t> </a:t>
            </a:r>
            <a:r>
              <a:rPr sz="2350" spc="110" dirty="0">
                <a:latin typeface="Microsoft Sans Serif"/>
                <a:cs typeface="Microsoft Sans Serif"/>
              </a:rPr>
              <a:t>the</a:t>
            </a:r>
            <a:r>
              <a:rPr sz="2350" spc="-10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drivers</a:t>
            </a:r>
            <a:r>
              <a:rPr sz="2350" spc="-25" dirty="0">
                <a:latin typeface="Microsoft Sans Serif"/>
                <a:cs typeface="Microsoft Sans Serif"/>
              </a:rPr>
              <a:t> are </a:t>
            </a:r>
            <a:r>
              <a:rPr sz="2350" spc="70" dirty="0">
                <a:latin typeface="Microsoft Sans Serif"/>
                <a:cs typeface="Microsoft Sans Serif"/>
              </a:rPr>
              <a:t>implemented</a:t>
            </a:r>
            <a:r>
              <a:rPr sz="2350" spc="-5" dirty="0">
                <a:latin typeface="Microsoft Sans Serif"/>
                <a:cs typeface="Microsoft Sans Serif"/>
              </a:rPr>
              <a:t> </a:t>
            </a:r>
            <a:r>
              <a:rPr sz="2350" spc="-100" dirty="0">
                <a:latin typeface="Microsoft Sans Serif"/>
                <a:cs typeface="Microsoft Sans Serif"/>
              </a:rPr>
              <a:t>as</a:t>
            </a:r>
            <a:r>
              <a:rPr sz="2350" spc="-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a</a:t>
            </a:r>
            <a:r>
              <a:rPr sz="2350" spc="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Linux</a:t>
            </a:r>
            <a:r>
              <a:rPr sz="2350" spc="-10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kernel</a:t>
            </a:r>
            <a:r>
              <a:rPr sz="2350" spc="-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modules. When</a:t>
            </a:r>
            <a:r>
              <a:rPr sz="2350" spc="5" dirty="0">
                <a:latin typeface="Microsoft Sans Serif"/>
                <a:cs typeface="Microsoft Sans Serif"/>
              </a:rPr>
              <a:t> </a:t>
            </a:r>
            <a:r>
              <a:rPr sz="2350" spc="35" dirty="0">
                <a:latin typeface="Microsoft Sans Serif"/>
                <a:cs typeface="Microsoft Sans Serif"/>
              </a:rPr>
              <a:t>those </a:t>
            </a:r>
            <a:r>
              <a:rPr sz="2350" dirty="0">
                <a:latin typeface="Microsoft Sans Serif"/>
                <a:cs typeface="Microsoft Sans Serif"/>
              </a:rPr>
              <a:t>drivers</a:t>
            </a:r>
            <a:r>
              <a:rPr sz="2350" spc="-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are</a:t>
            </a:r>
            <a:r>
              <a:rPr sz="2350" spc="5" dirty="0">
                <a:latin typeface="Microsoft Sans Serif"/>
                <a:cs typeface="Microsoft Sans Serif"/>
              </a:rPr>
              <a:t> </a:t>
            </a:r>
            <a:r>
              <a:rPr sz="2350" spc="135" dirty="0">
                <a:latin typeface="Microsoft Sans Serif"/>
                <a:cs typeface="Microsoft Sans Serif"/>
              </a:rPr>
              <a:t>not</a:t>
            </a:r>
            <a:r>
              <a:rPr sz="2350" spc="-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needed, </a:t>
            </a:r>
            <a:r>
              <a:rPr sz="2350" spc="70" dirty="0">
                <a:latin typeface="Microsoft Sans Serif"/>
                <a:cs typeface="Microsoft Sans Serif"/>
              </a:rPr>
              <a:t>we</a:t>
            </a:r>
            <a:r>
              <a:rPr sz="2350" spc="-5" dirty="0">
                <a:latin typeface="Microsoft Sans Serif"/>
                <a:cs typeface="Microsoft Sans Serif"/>
              </a:rPr>
              <a:t> </a:t>
            </a:r>
            <a:r>
              <a:rPr sz="2350" spc="-25" dirty="0">
                <a:latin typeface="Microsoft Sans Serif"/>
                <a:cs typeface="Microsoft Sans Serif"/>
              </a:rPr>
              <a:t>can</a:t>
            </a:r>
            <a:r>
              <a:rPr sz="2350" spc="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unload</a:t>
            </a:r>
            <a:r>
              <a:rPr sz="2350" spc="-10" dirty="0">
                <a:latin typeface="Microsoft Sans Serif"/>
                <a:cs typeface="Microsoft Sans Serif"/>
              </a:rPr>
              <a:t> </a:t>
            </a:r>
            <a:r>
              <a:rPr sz="2350" spc="55" dirty="0">
                <a:latin typeface="Microsoft Sans Serif"/>
                <a:cs typeface="Microsoft Sans Serif"/>
              </a:rPr>
              <a:t>only</a:t>
            </a:r>
            <a:r>
              <a:rPr sz="2350" spc="-15" dirty="0">
                <a:latin typeface="Microsoft Sans Serif"/>
                <a:cs typeface="Microsoft Sans Serif"/>
              </a:rPr>
              <a:t> </a:t>
            </a:r>
            <a:r>
              <a:rPr sz="2350" spc="135" dirty="0">
                <a:latin typeface="Microsoft Sans Serif"/>
                <a:cs typeface="Microsoft Sans Serif"/>
              </a:rPr>
              <a:t>that</a:t>
            </a:r>
            <a:r>
              <a:rPr sz="2350" spc="-5" dirty="0">
                <a:latin typeface="Microsoft Sans Serif"/>
                <a:cs typeface="Microsoft Sans Serif"/>
              </a:rPr>
              <a:t> </a:t>
            </a:r>
            <a:r>
              <a:rPr sz="2350" spc="-10" dirty="0">
                <a:latin typeface="Microsoft Sans Serif"/>
                <a:cs typeface="Microsoft Sans Serif"/>
              </a:rPr>
              <a:t>specific </a:t>
            </a:r>
            <a:r>
              <a:rPr sz="2350" dirty="0">
                <a:latin typeface="Microsoft Sans Serif"/>
                <a:cs typeface="Microsoft Sans Serif"/>
              </a:rPr>
              <a:t>driver,</a:t>
            </a:r>
            <a:r>
              <a:rPr sz="2350" spc="3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which</a:t>
            </a:r>
            <a:r>
              <a:rPr sz="2350" spc="50" dirty="0">
                <a:latin typeface="Microsoft Sans Serif"/>
                <a:cs typeface="Microsoft Sans Serif"/>
              </a:rPr>
              <a:t> </a:t>
            </a:r>
            <a:r>
              <a:rPr sz="2350" spc="100" dirty="0">
                <a:latin typeface="Microsoft Sans Serif"/>
                <a:cs typeface="Microsoft Sans Serif"/>
              </a:rPr>
              <a:t>will</a:t>
            </a:r>
            <a:r>
              <a:rPr sz="2350" spc="4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reduce</a:t>
            </a:r>
            <a:r>
              <a:rPr sz="2350" spc="50" dirty="0">
                <a:latin typeface="Microsoft Sans Serif"/>
                <a:cs typeface="Microsoft Sans Serif"/>
              </a:rPr>
              <a:t> </a:t>
            </a:r>
            <a:r>
              <a:rPr sz="2350" spc="110" dirty="0">
                <a:latin typeface="Microsoft Sans Serif"/>
                <a:cs typeface="Microsoft Sans Serif"/>
              </a:rPr>
              <a:t>the</a:t>
            </a:r>
            <a:r>
              <a:rPr sz="2350" spc="5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kernel</a:t>
            </a:r>
            <a:r>
              <a:rPr sz="2350" spc="4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image</a:t>
            </a:r>
            <a:r>
              <a:rPr sz="2350" spc="65" dirty="0">
                <a:latin typeface="Microsoft Sans Serif"/>
                <a:cs typeface="Microsoft Sans Serif"/>
              </a:rPr>
              <a:t> </a:t>
            </a:r>
            <a:r>
              <a:rPr sz="2350" spc="-10" dirty="0">
                <a:latin typeface="Microsoft Sans Serif"/>
                <a:cs typeface="Microsoft Sans Serif"/>
              </a:rPr>
              <a:t>size.</a:t>
            </a:r>
            <a:endParaRPr sz="2350" dirty="0">
              <a:latin typeface="Microsoft Sans Serif"/>
              <a:cs typeface="Microsoft Sans Serif"/>
            </a:endParaRPr>
          </a:p>
          <a:p>
            <a:pPr marL="266700" marR="5080" indent="-254000">
              <a:lnSpc>
                <a:spcPct val="101099"/>
              </a:lnSpc>
              <a:spcBef>
                <a:spcPts val="590"/>
              </a:spcBef>
              <a:buClr>
                <a:srgbClr val="6697CC"/>
              </a:buClr>
              <a:buFont typeface="Arial MT"/>
              <a:buChar char="•"/>
              <a:tabLst>
                <a:tab pos="266700" algn="l"/>
              </a:tabLst>
            </a:pPr>
            <a:r>
              <a:rPr sz="2350" spc="-10" dirty="0">
                <a:latin typeface="Microsoft Sans Serif"/>
                <a:cs typeface="Microsoft Sans Serif"/>
              </a:rPr>
              <a:t>The</a:t>
            </a:r>
            <a:r>
              <a:rPr sz="2350" spc="-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kernel modules </a:t>
            </a:r>
            <a:r>
              <a:rPr sz="2350" spc="100" dirty="0">
                <a:latin typeface="Microsoft Sans Serif"/>
                <a:cs typeface="Microsoft Sans Serif"/>
              </a:rPr>
              <a:t>will</a:t>
            </a:r>
            <a:r>
              <a:rPr sz="2350" dirty="0">
                <a:latin typeface="Microsoft Sans Serif"/>
                <a:cs typeface="Microsoft Sans Serif"/>
              </a:rPr>
              <a:t> </a:t>
            </a:r>
            <a:r>
              <a:rPr sz="2350" spc="-10" dirty="0">
                <a:latin typeface="Microsoft Sans Serif"/>
                <a:cs typeface="Microsoft Sans Serif"/>
              </a:rPr>
              <a:t>have</a:t>
            </a:r>
            <a:r>
              <a:rPr sz="2350" spc="10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a</a:t>
            </a:r>
            <a:r>
              <a:rPr sz="2350" spc="65" dirty="0">
                <a:latin typeface="Microsoft Sans Serif"/>
                <a:cs typeface="Microsoft Sans Serif"/>
              </a:rPr>
              <a:t> </a:t>
            </a:r>
            <a:r>
              <a:rPr sz="2350" b="1" spc="-35" dirty="0">
                <a:solidFill>
                  <a:srgbClr val="0000FF"/>
                </a:solidFill>
                <a:latin typeface="Arial"/>
                <a:cs typeface="Arial"/>
              </a:rPr>
              <a:t>.ko</a:t>
            </a:r>
            <a:r>
              <a:rPr sz="235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extension.</a:t>
            </a:r>
            <a:r>
              <a:rPr sz="2350" spc="10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On</a:t>
            </a:r>
            <a:r>
              <a:rPr sz="2350" spc="10" dirty="0">
                <a:latin typeface="Microsoft Sans Serif"/>
                <a:cs typeface="Microsoft Sans Serif"/>
              </a:rPr>
              <a:t> </a:t>
            </a:r>
            <a:r>
              <a:rPr sz="2350" spc="-50" dirty="0">
                <a:latin typeface="Microsoft Sans Serif"/>
                <a:cs typeface="Microsoft Sans Serif"/>
              </a:rPr>
              <a:t>a</a:t>
            </a:r>
            <a:r>
              <a:rPr sz="2350" spc="585" dirty="0">
                <a:latin typeface="Microsoft Sans Serif"/>
                <a:cs typeface="Microsoft Sans Serif"/>
              </a:rPr>
              <a:t> </a:t>
            </a:r>
            <a:r>
              <a:rPr sz="2350" spc="55" dirty="0">
                <a:latin typeface="Microsoft Sans Serif"/>
                <a:cs typeface="Microsoft Sans Serif"/>
              </a:rPr>
              <a:t>normal</a:t>
            </a:r>
            <a:r>
              <a:rPr sz="2350" spc="10" dirty="0">
                <a:latin typeface="Microsoft Sans Serif"/>
                <a:cs typeface="Microsoft Sans Serif"/>
              </a:rPr>
              <a:t> </a:t>
            </a:r>
            <a:r>
              <a:rPr sz="2350" spc="50" dirty="0">
                <a:latin typeface="Microsoft Sans Serif"/>
                <a:cs typeface="Microsoft Sans Serif"/>
              </a:rPr>
              <a:t>linux</a:t>
            </a:r>
            <a:r>
              <a:rPr sz="2350" spc="10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system,</a:t>
            </a:r>
            <a:r>
              <a:rPr sz="2350" spc="15" dirty="0">
                <a:latin typeface="Microsoft Sans Serif"/>
                <a:cs typeface="Microsoft Sans Serif"/>
              </a:rPr>
              <a:t> </a:t>
            </a:r>
            <a:r>
              <a:rPr sz="2350" spc="110" dirty="0">
                <a:latin typeface="Microsoft Sans Serif"/>
                <a:cs typeface="Microsoft Sans Serif"/>
              </a:rPr>
              <a:t>the</a:t>
            </a:r>
            <a:r>
              <a:rPr sz="2350" spc="30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kernel</a:t>
            </a:r>
            <a:r>
              <a:rPr sz="2350" spc="20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modules</a:t>
            </a:r>
            <a:r>
              <a:rPr sz="2350" spc="5" dirty="0">
                <a:latin typeface="Microsoft Sans Serif"/>
                <a:cs typeface="Microsoft Sans Serif"/>
              </a:rPr>
              <a:t> </a:t>
            </a:r>
            <a:r>
              <a:rPr sz="2350" spc="100" dirty="0">
                <a:latin typeface="Microsoft Sans Serif"/>
                <a:cs typeface="Microsoft Sans Serif"/>
              </a:rPr>
              <a:t>will</a:t>
            </a:r>
            <a:r>
              <a:rPr sz="2350" spc="15" dirty="0">
                <a:latin typeface="Microsoft Sans Serif"/>
                <a:cs typeface="Microsoft Sans Serif"/>
              </a:rPr>
              <a:t> </a:t>
            </a:r>
            <a:r>
              <a:rPr sz="2350" dirty="0">
                <a:latin typeface="Microsoft Sans Serif"/>
                <a:cs typeface="Microsoft Sans Serif"/>
              </a:rPr>
              <a:t>reside</a:t>
            </a:r>
            <a:r>
              <a:rPr sz="2350" spc="30" dirty="0">
                <a:latin typeface="Microsoft Sans Serif"/>
                <a:cs typeface="Microsoft Sans Serif"/>
              </a:rPr>
              <a:t> </a:t>
            </a:r>
            <a:r>
              <a:rPr sz="2350" spc="-10" dirty="0">
                <a:latin typeface="Microsoft Sans Serif"/>
                <a:cs typeface="Microsoft Sans Serif"/>
              </a:rPr>
              <a:t>inside</a:t>
            </a:r>
            <a:endParaRPr sz="2350" dirty="0">
              <a:latin typeface="Microsoft Sans Serif"/>
              <a:cs typeface="Microsoft Sans Serif"/>
            </a:endParaRPr>
          </a:p>
          <a:p>
            <a:pPr marL="266700">
              <a:lnSpc>
                <a:spcPct val="100000"/>
              </a:lnSpc>
              <a:spcBef>
                <a:spcPts val="30"/>
              </a:spcBef>
            </a:pPr>
            <a:r>
              <a:rPr sz="2350" spc="55" dirty="0">
                <a:solidFill>
                  <a:srgbClr val="FF0000"/>
                </a:solidFill>
                <a:latin typeface="Microsoft Sans Serif"/>
                <a:cs typeface="Microsoft Sans Serif"/>
              </a:rPr>
              <a:t>/lib/modules/&lt;kernel_version&gt;/kernel/ </a:t>
            </a:r>
            <a:r>
              <a:rPr sz="2350" spc="50" dirty="0">
                <a:latin typeface="Microsoft Sans Serif"/>
                <a:cs typeface="Microsoft Sans Serif"/>
              </a:rPr>
              <a:t>directory.</a:t>
            </a:r>
            <a:endParaRPr sz="23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Examples: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17138"/>
            <a:ext cx="3746500" cy="2167255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10"/>
              </a:spcBef>
              <a:buClr>
                <a:srgbClr val="6697CC"/>
              </a:buClr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Microsoft Sans Serif"/>
                <a:cs typeface="Microsoft Sans Serif"/>
              </a:rPr>
              <a:t>Typical</a:t>
            </a:r>
            <a:r>
              <a:rPr sz="3200" spc="-200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modules:</a:t>
            </a:r>
            <a:endParaRPr sz="3200">
              <a:latin typeface="Microsoft Sans Serif"/>
              <a:cs typeface="Microsoft Sans Serif"/>
            </a:endParaRPr>
          </a:p>
          <a:p>
            <a:pPr marL="754380" lvl="1" indent="-284480">
              <a:lnSpc>
                <a:spcPct val="100000"/>
              </a:lnSpc>
              <a:spcBef>
                <a:spcPts val="710"/>
              </a:spcBef>
              <a:buClr>
                <a:srgbClr val="6697CC"/>
              </a:buClr>
              <a:buFont typeface="Arial MT"/>
              <a:buChar char="–"/>
              <a:tabLst>
                <a:tab pos="754380" algn="l"/>
              </a:tabLst>
            </a:pPr>
            <a:r>
              <a:rPr sz="2800" spc="-10" dirty="0">
                <a:latin typeface="Microsoft Sans Serif"/>
                <a:cs typeface="Microsoft Sans Serif"/>
              </a:rPr>
              <a:t>Device</a:t>
            </a:r>
            <a:r>
              <a:rPr sz="2800" spc="-16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drivers</a:t>
            </a:r>
            <a:endParaRPr sz="2800">
              <a:latin typeface="Microsoft Sans Serif"/>
              <a:cs typeface="Microsoft Sans Serif"/>
            </a:endParaRPr>
          </a:p>
          <a:p>
            <a:pPr marL="754380" lvl="1" indent="-284480">
              <a:lnSpc>
                <a:spcPct val="100000"/>
              </a:lnSpc>
              <a:spcBef>
                <a:spcPts val="710"/>
              </a:spcBef>
              <a:buClr>
                <a:srgbClr val="6697CC"/>
              </a:buClr>
              <a:buFont typeface="Arial MT"/>
              <a:buChar char="–"/>
              <a:tabLst>
                <a:tab pos="754380" algn="l"/>
              </a:tabLst>
            </a:pPr>
            <a:r>
              <a:rPr sz="2800" dirty="0">
                <a:latin typeface="Microsoft Sans Serif"/>
                <a:cs typeface="Microsoft Sans Serif"/>
              </a:rPr>
              <a:t>File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system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drivers</a:t>
            </a:r>
            <a:endParaRPr sz="2800">
              <a:latin typeface="Microsoft Sans Serif"/>
              <a:cs typeface="Microsoft Sans Serif"/>
            </a:endParaRPr>
          </a:p>
          <a:p>
            <a:pPr marL="754380" lvl="1" indent="-284480">
              <a:lnSpc>
                <a:spcPct val="100000"/>
              </a:lnSpc>
              <a:spcBef>
                <a:spcPts val="710"/>
              </a:spcBef>
              <a:buClr>
                <a:srgbClr val="6697CC"/>
              </a:buClr>
              <a:buFont typeface="Arial MT"/>
              <a:buChar char="–"/>
              <a:tabLst>
                <a:tab pos="754380" algn="l"/>
              </a:tabLst>
            </a:pPr>
            <a:r>
              <a:rPr sz="2800" spc="-25" dirty="0">
                <a:latin typeface="Microsoft Sans Serif"/>
                <a:cs typeface="Microsoft Sans Serif"/>
              </a:rPr>
              <a:t>System</a:t>
            </a:r>
            <a:r>
              <a:rPr sz="2800" spc="-13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calls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Advantages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0189"/>
            <a:ext cx="7933690" cy="4474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2729" marR="178435" indent="-240029">
              <a:lnSpc>
                <a:spcPct val="101099"/>
              </a:lnSpc>
              <a:spcBef>
                <a:spcPts val="90"/>
              </a:spcBef>
              <a:buClr>
                <a:srgbClr val="6697CC"/>
              </a:buClr>
              <a:buFont typeface="Arial MT"/>
              <a:buChar char="•"/>
              <a:tabLst>
                <a:tab pos="252729" algn="l"/>
              </a:tabLst>
            </a:pPr>
            <a:r>
              <a:rPr sz="3050" dirty="0">
                <a:latin typeface="Microsoft Sans Serif"/>
                <a:cs typeface="Microsoft Sans Serif"/>
              </a:rPr>
              <a:t>There</a:t>
            </a:r>
            <a:r>
              <a:rPr sz="3050" spc="-75" dirty="0">
                <a:latin typeface="Microsoft Sans Serif"/>
                <a:cs typeface="Microsoft Sans Serif"/>
              </a:rPr>
              <a:t> </a:t>
            </a:r>
            <a:r>
              <a:rPr sz="3050" dirty="0">
                <a:latin typeface="Microsoft Sans Serif"/>
                <a:cs typeface="Microsoft Sans Serif"/>
              </a:rPr>
              <a:t>is</a:t>
            </a:r>
            <a:r>
              <a:rPr sz="3050" spc="-70" dirty="0">
                <a:latin typeface="Microsoft Sans Serif"/>
                <a:cs typeface="Microsoft Sans Serif"/>
              </a:rPr>
              <a:t> </a:t>
            </a:r>
            <a:r>
              <a:rPr sz="3050" spc="75" dirty="0">
                <a:latin typeface="Microsoft Sans Serif"/>
                <a:cs typeface="Microsoft Sans Serif"/>
              </a:rPr>
              <a:t>no</a:t>
            </a:r>
            <a:r>
              <a:rPr sz="3050" spc="-65" dirty="0">
                <a:latin typeface="Microsoft Sans Serif"/>
                <a:cs typeface="Microsoft Sans Serif"/>
              </a:rPr>
              <a:t> </a:t>
            </a:r>
            <a:r>
              <a:rPr sz="3050" dirty="0">
                <a:latin typeface="Microsoft Sans Serif"/>
                <a:cs typeface="Microsoft Sans Serif"/>
              </a:rPr>
              <a:t>necessity</a:t>
            </a:r>
            <a:r>
              <a:rPr sz="3050" spc="-65" dirty="0">
                <a:latin typeface="Microsoft Sans Serif"/>
                <a:cs typeface="Microsoft Sans Serif"/>
              </a:rPr>
              <a:t> </a:t>
            </a:r>
            <a:r>
              <a:rPr sz="3050" spc="215" dirty="0">
                <a:latin typeface="Microsoft Sans Serif"/>
                <a:cs typeface="Microsoft Sans Serif"/>
              </a:rPr>
              <a:t>to</a:t>
            </a:r>
            <a:r>
              <a:rPr sz="3050" spc="-70" dirty="0">
                <a:latin typeface="Microsoft Sans Serif"/>
                <a:cs typeface="Microsoft Sans Serif"/>
              </a:rPr>
              <a:t> </a:t>
            </a:r>
            <a:r>
              <a:rPr sz="3050" spc="95" dirty="0">
                <a:latin typeface="Microsoft Sans Serif"/>
                <a:cs typeface="Microsoft Sans Serif"/>
              </a:rPr>
              <a:t>rebuild</a:t>
            </a:r>
            <a:r>
              <a:rPr sz="3050" spc="-75" dirty="0">
                <a:latin typeface="Microsoft Sans Serif"/>
                <a:cs typeface="Microsoft Sans Serif"/>
              </a:rPr>
              <a:t> </a:t>
            </a:r>
            <a:r>
              <a:rPr sz="3050" spc="155" dirty="0">
                <a:latin typeface="Microsoft Sans Serif"/>
                <a:cs typeface="Microsoft Sans Serif"/>
              </a:rPr>
              <a:t>the</a:t>
            </a:r>
            <a:r>
              <a:rPr sz="3050" spc="-65" dirty="0">
                <a:latin typeface="Microsoft Sans Serif"/>
                <a:cs typeface="Microsoft Sans Serif"/>
              </a:rPr>
              <a:t> </a:t>
            </a:r>
            <a:r>
              <a:rPr sz="3050" spc="-10" dirty="0">
                <a:latin typeface="Microsoft Sans Serif"/>
                <a:cs typeface="Microsoft Sans Serif"/>
              </a:rPr>
              <a:t>kernel, </a:t>
            </a:r>
            <a:r>
              <a:rPr sz="3050" spc="75" dirty="0">
                <a:latin typeface="Microsoft Sans Serif"/>
                <a:cs typeface="Microsoft Sans Serif"/>
              </a:rPr>
              <a:t>when</a:t>
            </a:r>
            <a:r>
              <a:rPr sz="3050" spc="-125" dirty="0">
                <a:latin typeface="Microsoft Sans Serif"/>
                <a:cs typeface="Microsoft Sans Serif"/>
              </a:rPr>
              <a:t> </a:t>
            </a:r>
            <a:r>
              <a:rPr sz="3050" dirty="0">
                <a:latin typeface="Microsoft Sans Serif"/>
                <a:cs typeface="Microsoft Sans Serif"/>
              </a:rPr>
              <a:t>a</a:t>
            </a:r>
            <a:r>
              <a:rPr sz="3050" spc="-125" dirty="0">
                <a:latin typeface="Microsoft Sans Serif"/>
                <a:cs typeface="Microsoft Sans Serif"/>
              </a:rPr>
              <a:t> </a:t>
            </a:r>
            <a:r>
              <a:rPr sz="3050" spc="80" dirty="0">
                <a:latin typeface="Microsoft Sans Serif"/>
                <a:cs typeface="Microsoft Sans Serif"/>
              </a:rPr>
              <a:t>new</a:t>
            </a:r>
            <a:r>
              <a:rPr sz="3050" spc="-120" dirty="0">
                <a:latin typeface="Microsoft Sans Serif"/>
                <a:cs typeface="Microsoft Sans Serif"/>
              </a:rPr>
              <a:t> </a:t>
            </a:r>
            <a:r>
              <a:rPr sz="3050" spc="65" dirty="0">
                <a:latin typeface="Microsoft Sans Serif"/>
                <a:cs typeface="Microsoft Sans Serif"/>
              </a:rPr>
              <a:t>kernel</a:t>
            </a:r>
            <a:r>
              <a:rPr sz="3050" spc="-125" dirty="0">
                <a:latin typeface="Microsoft Sans Serif"/>
                <a:cs typeface="Microsoft Sans Serif"/>
              </a:rPr>
              <a:t> </a:t>
            </a:r>
            <a:r>
              <a:rPr sz="3050" spc="135" dirty="0">
                <a:latin typeface="Microsoft Sans Serif"/>
                <a:cs typeface="Microsoft Sans Serif"/>
              </a:rPr>
              <a:t>option</a:t>
            </a:r>
            <a:r>
              <a:rPr sz="3050" spc="-125" dirty="0">
                <a:latin typeface="Microsoft Sans Serif"/>
                <a:cs typeface="Microsoft Sans Serif"/>
              </a:rPr>
              <a:t> </a:t>
            </a:r>
            <a:r>
              <a:rPr sz="3050" dirty="0">
                <a:latin typeface="Microsoft Sans Serif"/>
                <a:cs typeface="Microsoft Sans Serif"/>
              </a:rPr>
              <a:t>is</a:t>
            </a:r>
            <a:r>
              <a:rPr sz="3050" spc="-120" dirty="0">
                <a:latin typeface="Microsoft Sans Serif"/>
                <a:cs typeface="Microsoft Sans Serif"/>
              </a:rPr>
              <a:t> </a:t>
            </a:r>
            <a:r>
              <a:rPr sz="3050" spc="-10" dirty="0">
                <a:latin typeface="Microsoft Sans Serif"/>
                <a:cs typeface="Microsoft Sans Serif"/>
              </a:rPr>
              <a:t>added.</a:t>
            </a:r>
            <a:endParaRPr sz="3050">
              <a:latin typeface="Microsoft Sans Serif"/>
              <a:cs typeface="Microsoft Sans Serif"/>
            </a:endParaRPr>
          </a:p>
          <a:p>
            <a:pPr marL="252729" marR="5080" indent="-240029">
              <a:lnSpc>
                <a:spcPct val="101200"/>
              </a:lnSpc>
              <a:spcBef>
                <a:spcPts val="565"/>
              </a:spcBef>
              <a:buClr>
                <a:srgbClr val="6697CC"/>
              </a:buClr>
              <a:buFont typeface="Arial MT"/>
              <a:buChar char="•"/>
              <a:tabLst>
                <a:tab pos="252729" algn="l"/>
              </a:tabLst>
            </a:pPr>
            <a:r>
              <a:rPr sz="3050" spc="50" dirty="0">
                <a:latin typeface="Microsoft Sans Serif"/>
                <a:cs typeface="Microsoft Sans Serif"/>
              </a:rPr>
              <a:t>Modules</a:t>
            </a:r>
            <a:r>
              <a:rPr sz="3050" spc="-60" dirty="0">
                <a:latin typeface="Microsoft Sans Serif"/>
                <a:cs typeface="Microsoft Sans Serif"/>
              </a:rPr>
              <a:t> </a:t>
            </a:r>
            <a:r>
              <a:rPr sz="3050" spc="75" dirty="0">
                <a:latin typeface="Microsoft Sans Serif"/>
                <a:cs typeface="Microsoft Sans Serif"/>
              </a:rPr>
              <a:t>help</a:t>
            </a:r>
            <a:r>
              <a:rPr sz="3050" spc="-70" dirty="0">
                <a:latin typeface="Microsoft Sans Serif"/>
                <a:cs typeface="Microsoft Sans Serif"/>
              </a:rPr>
              <a:t> </a:t>
            </a:r>
            <a:r>
              <a:rPr sz="3050" spc="145" dirty="0">
                <a:latin typeface="Microsoft Sans Serif"/>
                <a:cs typeface="Microsoft Sans Serif"/>
              </a:rPr>
              <a:t>find</a:t>
            </a:r>
            <a:r>
              <a:rPr sz="3050" spc="-65" dirty="0">
                <a:latin typeface="Microsoft Sans Serif"/>
                <a:cs typeface="Microsoft Sans Serif"/>
              </a:rPr>
              <a:t> </a:t>
            </a:r>
            <a:r>
              <a:rPr sz="3050" dirty="0">
                <a:latin typeface="Microsoft Sans Serif"/>
                <a:cs typeface="Microsoft Sans Serif"/>
              </a:rPr>
              <a:t>system</a:t>
            </a:r>
            <a:r>
              <a:rPr sz="3050" spc="-65" dirty="0">
                <a:latin typeface="Microsoft Sans Serif"/>
                <a:cs typeface="Microsoft Sans Serif"/>
              </a:rPr>
              <a:t> </a:t>
            </a:r>
            <a:r>
              <a:rPr sz="3050" spc="70" dirty="0">
                <a:latin typeface="Microsoft Sans Serif"/>
                <a:cs typeface="Microsoft Sans Serif"/>
              </a:rPr>
              <a:t>problems</a:t>
            </a:r>
            <a:r>
              <a:rPr sz="3050" spc="-55" dirty="0">
                <a:latin typeface="Microsoft Sans Serif"/>
                <a:cs typeface="Microsoft Sans Serif"/>
              </a:rPr>
              <a:t> </a:t>
            </a:r>
            <a:r>
              <a:rPr sz="3050" spc="95" dirty="0">
                <a:latin typeface="Microsoft Sans Serif"/>
                <a:cs typeface="Microsoft Sans Serif"/>
              </a:rPr>
              <a:t>(if </a:t>
            </a:r>
            <a:r>
              <a:rPr sz="3050" dirty="0">
                <a:latin typeface="Microsoft Sans Serif"/>
                <a:cs typeface="Microsoft Sans Serif"/>
              </a:rPr>
              <a:t>system</a:t>
            </a:r>
            <a:r>
              <a:rPr sz="3050" spc="-100" dirty="0">
                <a:latin typeface="Microsoft Sans Serif"/>
                <a:cs typeface="Microsoft Sans Serif"/>
              </a:rPr>
              <a:t> </a:t>
            </a:r>
            <a:r>
              <a:rPr sz="3050" spc="105" dirty="0">
                <a:latin typeface="Microsoft Sans Serif"/>
                <a:cs typeface="Microsoft Sans Serif"/>
              </a:rPr>
              <a:t>problem</a:t>
            </a:r>
            <a:r>
              <a:rPr sz="3050" spc="-100" dirty="0">
                <a:latin typeface="Microsoft Sans Serif"/>
                <a:cs typeface="Microsoft Sans Serif"/>
              </a:rPr>
              <a:t> </a:t>
            </a:r>
            <a:r>
              <a:rPr sz="3050" spc="-20" dirty="0">
                <a:latin typeface="Microsoft Sans Serif"/>
                <a:cs typeface="Microsoft Sans Serif"/>
              </a:rPr>
              <a:t>caused</a:t>
            </a:r>
            <a:r>
              <a:rPr sz="3050" spc="-100" dirty="0">
                <a:latin typeface="Microsoft Sans Serif"/>
                <a:cs typeface="Microsoft Sans Serif"/>
              </a:rPr>
              <a:t> </a:t>
            </a:r>
            <a:r>
              <a:rPr sz="3050" dirty="0">
                <a:latin typeface="Microsoft Sans Serif"/>
                <a:cs typeface="Microsoft Sans Serif"/>
              </a:rPr>
              <a:t>a</a:t>
            </a:r>
            <a:r>
              <a:rPr sz="3050" spc="-95" dirty="0">
                <a:latin typeface="Microsoft Sans Serif"/>
                <a:cs typeface="Microsoft Sans Serif"/>
              </a:rPr>
              <a:t> </a:t>
            </a:r>
            <a:r>
              <a:rPr sz="3050" spc="85" dirty="0">
                <a:latin typeface="Microsoft Sans Serif"/>
                <a:cs typeface="Microsoft Sans Serif"/>
              </a:rPr>
              <a:t>module</a:t>
            </a:r>
            <a:r>
              <a:rPr sz="3050" spc="-100" dirty="0">
                <a:latin typeface="Microsoft Sans Serif"/>
                <a:cs typeface="Microsoft Sans Serif"/>
              </a:rPr>
              <a:t> </a:t>
            </a:r>
            <a:r>
              <a:rPr sz="3050" spc="90" dirty="0">
                <a:latin typeface="Microsoft Sans Serif"/>
                <a:cs typeface="Microsoft Sans Serif"/>
              </a:rPr>
              <a:t>just</a:t>
            </a:r>
            <a:r>
              <a:rPr sz="3050" spc="-100" dirty="0">
                <a:latin typeface="Microsoft Sans Serif"/>
                <a:cs typeface="Microsoft Sans Serif"/>
              </a:rPr>
              <a:t> </a:t>
            </a:r>
            <a:r>
              <a:rPr sz="3050" spc="125" dirty="0">
                <a:latin typeface="Microsoft Sans Serif"/>
                <a:cs typeface="Microsoft Sans Serif"/>
              </a:rPr>
              <a:t>don't </a:t>
            </a:r>
            <a:r>
              <a:rPr sz="3050" spc="55" dirty="0">
                <a:latin typeface="Microsoft Sans Serif"/>
                <a:cs typeface="Microsoft Sans Serif"/>
              </a:rPr>
              <a:t>load</a:t>
            </a:r>
            <a:r>
              <a:rPr sz="3050" spc="-95" dirty="0">
                <a:latin typeface="Microsoft Sans Serif"/>
                <a:cs typeface="Microsoft Sans Serif"/>
              </a:rPr>
              <a:t> </a:t>
            </a:r>
            <a:r>
              <a:rPr sz="3050" spc="65" dirty="0">
                <a:latin typeface="Microsoft Sans Serif"/>
                <a:cs typeface="Microsoft Sans Serif"/>
              </a:rPr>
              <a:t>it).</a:t>
            </a:r>
            <a:endParaRPr sz="3050">
              <a:latin typeface="Microsoft Sans Serif"/>
              <a:cs typeface="Microsoft Sans Serif"/>
            </a:endParaRPr>
          </a:p>
          <a:p>
            <a:pPr marL="252729" marR="419100" indent="-240029">
              <a:lnSpc>
                <a:spcPct val="101400"/>
              </a:lnSpc>
              <a:spcBef>
                <a:spcPts val="560"/>
              </a:spcBef>
              <a:buClr>
                <a:srgbClr val="6697CC"/>
              </a:buClr>
              <a:buFont typeface="Arial MT"/>
              <a:buChar char="•"/>
              <a:tabLst>
                <a:tab pos="252729" algn="l"/>
              </a:tabLst>
            </a:pPr>
            <a:r>
              <a:rPr sz="3050" spc="50" dirty="0">
                <a:latin typeface="Microsoft Sans Serif"/>
                <a:cs typeface="Microsoft Sans Serif"/>
              </a:rPr>
              <a:t>Modules</a:t>
            </a:r>
            <a:r>
              <a:rPr sz="3050" spc="-60" dirty="0">
                <a:latin typeface="Microsoft Sans Serif"/>
                <a:cs typeface="Microsoft Sans Serif"/>
              </a:rPr>
              <a:t> </a:t>
            </a:r>
            <a:r>
              <a:rPr sz="3050" dirty="0">
                <a:latin typeface="Microsoft Sans Serif"/>
                <a:cs typeface="Microsoft Sans Serif"/>
              </a:rPr>
              <a:t>are</a:t>
            </a:r>
            <a:r>
              <a:rPr sz="3050" spc="-60" dirty="0">
                <a:latin typeface="Microsoft Sans Serif"/>
                <a:cs typeface="Microsoft Sans Serif"/>
              </a:rPr>
              <a:t> </a:t>
            </a:r>
            <a:r>
              <a:rPr sz="3050" dirty="0">
                <a:latin typeface="Microsoft Sans Serif"/>
                <a:cs typeface="Microsoft Sans Serif"/>
              </a:rPr>
              <a:t>much</a:t>
            </a:r>
            <a:r>
              <a:rPr sz="3050" spc="-55" dirty="0">
                <a:latin typeface="Microsoft Sans Serif"/>
                <a:cs typeface="Microsoft Sans Serif"/>
              </a:rPr>
              <a:t> </a:t>
            </a:r>
            <a:r>
              <a:rPr sz="3050" spc="100" dirty="0">
                <a:latin typeface="Microsoft Sans Serif"/>
                <a:cs typeface="Microsoft Sans Serif"/>
              </a:rPr>
              <a:t>faster</a:t>
            </a:r>
            <a:r>
              <a:rPr sz="3050" spc="-65" dirty="0">
                <a:latin typeface="Microsoft Sans Serif"/>
                <a:cs typeface="Microsoft Sans Serif"/>
              </a:rPr>
              <a:t> </a:t>
            </a:r>
            <a:r>
              <a:rPr sz="3050" spc="215" dirty="0">
                <a:latin typeface="Microsoft Sans Serif"/>
                <a:cs typeface="Microsoft Sans Serif"/>
              </a:rPr>
              <a:t>to</a:t>
            </a:r>
            <a:r>
              <a:rPr sz="3050" spc="-60" dirty="0">
                <a:latin typeface="Microsoft Sans Serif"/>
                <a:cs typeface="Microsoft Sans Serif"/>
              </a:rPr>
              <a:t> </a:t>
            </a:r>
            <a:r>
              <a:rPr sz="3050" spc="65" dirty="0">
                <a:latin typeface="Microsoft Sans Serif"/>
                <a:cs typeface="Microsoft Sans Serif"/>
              </a:rPr>
              <a:t>maintain</a:t>
            </a:r>
            <a:r>
              <a:rPr sz="3050" spc="-45" dirty="0">
                <a:latin typeface="Microsoft Sans Serif"/>
                <a:cs typeface="Microsoft Sans Serif"/>
              </a:rPr>
              <a:t> </a:t>
            </a:r>
            <a:r>
              <a:rPr sz="3050" spc="-25" dirty="0">
                <a:latin typeface="Microsoft Sans Serif"/>
                <a:cs typeface="Microsoft Sans Serif"/>
              </a:rPr>
              <a:t>and </a:t>
            </a:r>
            <a:r>
              <a:rPr sz="3050" spc="-10" dirty="0">
                <a:latin typeface="Microsoft Sans Serif"/>
                <a:cs typeface="Microsoft Sans Serif"/>
              </a:rPr>
              <a:t>debug.</a:t>
            </a:r>
            <a:endParaRPr sz="3050">
              <a:latin typeface="Microsoft Sans Serif"/>
              <a:cs typeface="Microsoft Sans Serif"/>
            </a:endParaRPr>
          </a:p>
          <a:p>
            <a:pPr marL="252729" marR="33020" indent="-240029">
              <a:lnSpc>
                <a:spcPct val="101400"/>
              </a:lnSpc>
              <a:spcBef>
                <a:spcPts val="545"/>
              </a:spcBef>
              <a:buClr>
                <a:srgbClr val="6697CC"/>
              </a:buClr>
              <a:buFont typeface="Arial MT"/>
              <a:buChar char="•"/>
              <a:tabLst>
                <a:tab pos="252729" algn="l"/>
              </a:tabLst>
            </a:pPr>
            <a:r>
              <a:rPr sz="3050" spc="50" dirty="0">
                <a:latin typeface="Microsoft Sans Serif"/>
                <a:cs typeface="Microsoft Sans Serif"/>
              </a:rPr>
              <a:t>Modules</a:t>
            </a:r>
            <a:r>
              <a:rPr sz="3050" spc="-60" dirty="0">
                <a:latin typeface="Microsoft Sans Serif"/>
                <a:cs typeface="Microsoft Sans Serif"/>
              </a:rPr>
              <a:t> </a:t>
            </a:r>
            <a:r>
              <a:rPr sz="3050" dirty="0">
                <a:latin typeface="Microsoft Sans Serif"/>
                <a:cs typeface="Microsoft Sans Serif"/>
              </a:rPr>
              <a:t>once</a:t>
            </a:r>
            <a:r>
              <a:rPr sz="3050" spc="-50" dirty="0">
                <a:latin typeface="Microsoft Sans Serif"/>
                <a:cs typeface="Microsoft Sans Serif"/>
              </a:rPr>
              <a:t> </a:t>
            </a:r>
            <a:r>
              <a:rPr sz="3050" spc="55" dirty="0">
                <a:latin typeface="Microsoft Sans Serif"/>
                <a:cs typeface="Microsoft Sans Serif"/>
              </a:rPr>
              <a:t>loaded</a:t>
            </a:r>
            <a:r>
              <a:rPr sz="3050" spc="-60" dirty="0">
                <a:latin typeface="Microsoft Sans Serif"/>
                <a:cs typeface="Microsoft Sans Serif"/>
              </a:rPr>
              <a:t> </a:t>
            </a:r>
            <a:r>
              <a:rPr sz="3050" dirty="0">
                <a:latin typeface="Microsoft Sans Serif"/>
                <a:cs typeface="Microsoft Sans Serif"/>
              </a:rPr>
              <a:t>are</a:t>
            </a:r>
            <a:r>
              <a:rPr sz="3050" spc="-65" dirty="0">
                <a:latin typeface="Microsoft Sans Serif"/>
                <a:cs typeface="Microsoft Sans Serif"/>
              </a:rPr>
              <a:t> </a:t>
            </a:r>
            <a:r>
              <a:rPr sz="3050" spc="70" dirty="0">
                <a:latin typeface="Microsoft Sans Serif"/>
                <a:cs typeface="Microsoft Sans Serif"/>
              </a:rPr>
              <a:t>in</a:t>
            </a:r>
            <a:r>
              <a:rPr sz="3050" spc="-45" dirty="0">
                <a:latin typeface="Microsoft Sans Serif"/>
                <a:cs typeface="Microsoft Sans Serif"/>
              </a:rPr>
              <a:t> </a:t>
            </a:r>
            <a:r>
              <a:rPr sz="3050" spc="-140" dirty="0">
                <a:latin typeface="Microsoft Sans Serif"/>
                <a:cs typeface="Microsoft Sans Serif"/>
              </a:rPr>
              <a:t>as</a:t>
            </a:r>
            <a:r>
              <a:rPr sz="3050" spc="-55" dirty="0">
                <a:latin typeface="Microsoft Sans Serif"/>
                <a:cs typeface="Microsoft Sans Serif"/>
              </a:rPr>
              <a:t> </a:t>
            </a:r>
            <a:r>
              <a:rPr sz="3050" dirty="0">
                <a:latin typeface="Microsoft Sans Serif"/>
                <a:cs typeface="Microsoft Sans Serif"/>
              </a:rPr>
              <a:t>much</a:t>
            </a:r>
            <a:r>
              <a:rPr sz="3050" spc="-55" dirty="0">
                <a:latin typeface="Microsoft Sans Serif"/>
                <a:cs typeface="Microsoft Sans Serif"/>
              </a:rPr>
              <a:t> </a:t>
            </a:r>
            <a:r>
              <a:rPr sz="3050" spc="114" dirty="0">
                <a:latin typeface="Microsoft Sans Serif"/>
                <a:cs typeface="Microsoft Sans Serif"/>
              </a:rPr>
              <a:t>fast</a:t>
            </a:r>
            <a:r>
              <a:rPr sz="3050" spc="-70" dirty="0">
                <a:latin typeface="Microsoft Sans Serif"/>
                <a:cs typeface="Microsoft Sans Serif"/>
              </a:rPr>
              <a:t> </a:t>
            </a:r>
            <a:r>
              <a:rPr sz="3050" spc="-25" dirty="0">
                <a:latin typeface="Microsoft Sans Serif"/>
                <a:cs typeface="Microsoft Sans Serif"/>
              </a:rPr>
              <a:t>as </a:t>
            </a:r>
            <a:r>
              <a:rPr sz="3050" spc="-10" dirty="0">
                <a:latin typeface="Microsoft Sans Serif"/>
                <a:cs typeface="Microsoft Sans Serif"/>
              </a:rPr>
              <a:t>kernel.</a:t>
            </a:r>
            <a:endParaRPr sz="3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Utilities</a:t>
            </a:r>
            <a:r>
              <a:rPr spc="-135" dirty="0"/>
              <a:t> </a:t>
            </a:r>
            <a:r>
              <a:rPr spc="254" dirty="0"/>
              <a:t>to</a:t>
            </a:r>
            <a:r>
              <a:rPr spc="-120" dirty="0"/>
              <a:t> </a:t>
            </a:r>
            <a:r>
              <a:rPr spc="65" dirty="0"/>
              <a:t>manipulate</a:t>
            </a:r>
            <a:r>
              <a:rPr spc="-120" dirty="0"/>
              <a:t> </a:t>
            </a:r>
            <a:r>
              <a:rPr spc="60" dirty="0"/>
              <a:t>kernel</a:t>
            </a:r>
            <a:r>
              <a:rPr spc="-120" dirty="0"/>
              <a:t> </a:t>
            </a:r>
            <a:r>
              <a:rPr spc="35" dirty="0"/>
              <a:t>modules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98269"/>
            <a:ext cx="141605" cy="252603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1416050"/>
            <a:ext cx="1608455" cy="2526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6200"/>
              </a:lnSpc>
              <a:spcBef>
                <a:spcPts val="100"/>
              </a:spcBef>
            </a:pPr>
            <a:r>
              <a:rPr sz="2600" b="1" spc="-10" dirty="0">
                <a:latin typeface="Courier New"/>
                <a:cs typeface="Courier New"/>
              </a:rPr>
              <a:t>lsmod insmod modinfo rmmod modprobe</a:t>
            </a:r>
            <a:endParaRPr sz="2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lsmod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3679"/>
            <a:ext cx="132080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0900" y="1521460"/>
            <a:ext cx="5278755" cy="389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latin typeface="Microsoft Sans Serif"/>
                <a:cs typeface="Microsoft Sans Serif"/>
              </a:rPr>
              <a:t>Lists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modules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that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are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loaded </a:t>
            </a:r>
            <a:r>
              <a:rPr sz="2400" spc="-10" dirty="0">
                <a:latin typeface="Microsoft Sans Serif"/>
                <a:cs typeface="Microsoft Sans Serif"/>
              </a:rPr>
              <a:t>already.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5641340"/>
            <a:ext cx="123825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0900" y="5656579"/>
            <a:ext cx="2677795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spc="-30" dirty="0">
                <a:latin typeface="Microsoft Sans Serif"/>
                <a:cs typeface="Microsoft Sans Serif"/>
              </a:rPr>
              <a:t>Check</a:t>
            </a:r>
            <a:r>
              <a:rPr sz="2200" spc="-90" dirty="0">
                <a:latin typeface="Microsoft Sans Serif"/>
                <a:cs typeface="Microsoft Sans Serif"/>
              </a:rPr>
              <a:t> </a:t>
            </a:r>
            <a:r>
              <a:rPr sz="2200" spc="105" dirty="0">
                <a:latin typeface="Microsoft Sans Serif"/>
                <a:cs typeface="Microsoft Sans Serif"/>
              </a:rPr>
              <a:t>the</a:t>
            </a:r>
            <a:r>
              <a:rPr sz="2200" spc="-10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command: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00170" y="5656579"/>
            <a:ext cx="2896235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b="1" dirty="0">
                <a:solidFill>
                  <a:srgbClr val="0000CC"/>
                </a:solidFill>
                <a:latin typeface="Courier New"/>
                <a:cs typeface="Courier New"/>
              </a:rPr>
              <a:t>cat</a:t>
            </a:r>
            <a:r>
              <a:rPr sz="2200" b="1" spc="15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srgbClr val="0000CC"/>
                </a:solidFill>
                <a:latin typeface="Courier New"/>
                <a:cs typeface="Courier New"/>
              </a:rPr>
              <a:t>/proc/modules</a:t>
            </a:r>
            <a:endParaRPr sz="2200">
              <a:latin typeface="Courier New"/>
              <a:cs typeface="Courier New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600" y="1907539"/>
            <a:ext cx="7056120" cy="37604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492250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8839" y="1499870"/>
            <a:ext cx="39300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Microsoft Sans Serif"/>
                <a:cs typeface="Microsoft Sans Serif"/>
              </a:rPr>
              <a:t>Display</a:t>
            </a:r>
            <a:r>
              <a:rPr sz="2400" spc="-100" dirty="0">
                <a:latin typeface="Microsoft Sans Serif"/>
                <a:cs typeface="Microsoft Sans Serif"/>
              </a:rPr>
              <a:t> </a:t>
            </a:r>
            <a:r>
              <a:rPr sz="2400" spc="50" dirty="0">
                <a:latin typeface="Microsoft Sans Serif"/>
                <a:cs typeface="Microsoft Sans Serif"/>
              </a:rPr>
              <a:t>module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information.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modinfo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388620" y="2213419"/>
            <a:ext cx="8432800" cy="3264535"/>
            <a:chOff x="388620" y="2213419"/>
            <a:chExt cx="8432800" cy="32645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620" y="2231390"/>
              <a:ext cx="8432800" cy="324612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07970" y="2231390"/>
              <a:ext cx="2087880" cy="217170"/>
            </a:xfrm>
            <a:custGeom>
              <a:avLst/>
              <a:gdLst/>
              <a:ahLst/>
              <a:cxnLst/>
              <a:rect l="l" t="t" r="r" b="b"/>
              <a:pathLst>
                <a:path w="2087879" h="217169">
                  <a:moveTo>
                    <a:pt x="1043940" y="217170"/>
                  </a:moveTo>
                  <a:lnTo>
                    <a:pt x="0" y="217170"/>
                  </a:lnTo>
                  <a:lnTo>
                    <a:pt x="0" y="0"/>
                  </a:lnTo>
                  <a:lnTo>
                    <a:pt x="2087880" y="0"/>
                  </a:lnTo>
                  <a:lnTo>
                    <a:pt x="2087880" y="217170"/>
                  </a:lnTo>
                  <a:lnTo>
                    <a:pt x="1043940" y="217170"/>
                  </a:lnTo>
                  <a:close/>
                </a:path>
              </a:pathLst>
            </a:custGeom>
            <a:ln w="35941">
              <a:solidFill>
                <a:srgbClr val="ADC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416050"/>
            <a:ext cx="6376670" cy="1788160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20"/>
              </a:spcBef>
              <a:buClr>
                <a:srgbClr val="6697CC"/>
              </a:buClr>
              <a:buFont typeface="Arial MT"/>
              <a:buChar char="•"/>
              <a:tabLst>
                <a:tab pos="354965" algn="l"/>
              </a:tabLst>
            </a:pPr>
            <a:r>
              <a:rPr sz="3200" spc="65" dirty="0">
                <a:latin typeface="Microsoft Sans Serif"/>
                <a:cs typeface="Microsoft Sans Serif"/>
              </a:rPr>
              <a:t>Insert</a:t>
            </a:r>
            <a:r>
              <a:rPr sz="3200" spc="-114" dirty="0">
                <a:latin typeface="Microsoft Sans Serif"/>
                <a:cs typeface="Microsoft Sans Serif"/>
              </a:rPr>
              <a:t> </a:t>
            </a:r>
            <a:r>
              <a:rPr sz="3200" spc="80" dirty="0">
                <a:latin typeface="Microsoft Sans Serif"/>
                <a:cs typeface="Microsoft Sans Serif"/>
              </a:rPr>
              <a:t>module</a:t>
            </a:r>
            <a:r>
              <a:rPr sz="3200" spc="-100" dirty="0">
                <a:latin typeface="Microsoft Sans Serif"/>
                <a:cs typeface="Microsoft Sans Serif"/>
              </a:rPr>
              <a:t> </a:t>
            </a:r>
            <a:r>
              <a:rPr sz="3200" spc="145" dirty="0">
                <a:latin typeface="Microsoft Sans Serif"/>
                <a:cs typeface="Microsoft Sans Serif"/>
              </a:rPr>
              <a:t>into</a:t>
            </a:r>
            <a:r>
              <a:rPr sz="3200" spc="-100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kernel.</a:t>
            </a:r>
            <a:endParaRPr sz="32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Clr>
                <a:srgbClr val="6697CC"/>
              </a:buClr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Microsoft Sans Serif"/>
                <a:cs typeface="Microsoft Sans Serif"/>
              </a:rPr>
              <a:t>Syntax:</a:t>
            </a:r>
            <a:endParaRPr sz="32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  <a:spcBef>
                <a:spcPts val="720"/>
              </a:spcBef>
            </a:pPr>
            <a:r>
              <a:rPr sz="4800" baseline="3472" dirty="0">
                <a:solidFill>
                  <a:srgbClr val="6697CC"/>
                </a:solidFill>
                <a:latin typeface="Arial MT"/>
                <a:cs typeface="Arial MT"/>
              </a:rPr>
              <a:t>–</a:t>
            </a:r>
            <a:r>
              <a:rPr sz="4800" spc="-630" baseline="3472" dirty="0">
                <a:solidFill>
                  <a:srgbClr val="6697CC"/>
                </a:solidFill>
                <a:latin typeface="Arial MT"/>
                <a:cs typeface="Arial MT"/>
              </a:rPr>
              <a:t> </a:t>
            </a:r>
            <a:r>
              <a:rPr sz="3200" b="1" dirty="0">
                <a:latin typeface="Courier New"/>
                <a:cs typeface="Courier New"/>
              </a:rPr>
              <a:t>insmod</a:t>
            </a:r>
            <a:r>
              <a:rPr sz="3200" b="1" spc="-125" dirty="0">
                <a:latin typeface="Courier New"/>
                <a:cs typeface="Courier New"/>
              </a:rPr>
              <a:t> </a:t>
            </a:r>
            <a:r>
              <a:rPr sz="3200" b="1" spc="-10" dirty="0">
                <a:latin typeface="Courier New"/>
                <a:cs typeface="Courier New"/>
              </a:rPr>
              <a:t>&lt;module_name&gt;.ko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insmod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20190"/>
            <a:ext cx="8063230" cy="26644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5600" marR="5080" indent="-342900" algn="just">
              <a:lnSpc>
                <a:spcPct val="100499"/>
              </a:lnSpc>
              <a:spcBef>
                <a:spcPts val="8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3200" spc="-55" dirty="0">
                <a:latin typeface="Microsoft Sans Serif"/>
                <a:cs typeface="Microsoft Sans Serif"/>
              </a:rPr>
              <a:t>Removes</a:t>
            </a:r>
            <a:r>
              <a:rPr sz="3200" spc="-114" dirty="0">
                <a:latin typeface="Microsoft Sans Serif"/>
                <a:cs typeface="Microsoft Sans Serif"/>
              </a:rPr>
              <a:t> </a:t>
            </a:r>
            <a:r>
              <a:rPr sz="3200" spc="80" dirty="0">
                <a:latin typeface="Microsoft Sans Serif"/>
                <a:cs typeface="Microsoft Sans Serif"/>
              </a:rPr>
              <a:t>module</a:t>
            </a:r>
            <a:r>
              <a:rPr sz="3200" spc="-114" dirty="0">
                <a:latin typeface="Microsoft Sans Serif"/>
                <a:cs typeface="Microsoft Sans Serif"/>
              </a:rPr>
              <a:t> </a:t>
            </a:r>
            <a:r>
              <a:rPr sz="3200" spc="170" dirty="0">
                <a:latin typeface="Microsoft Sans Serif"/>
                <a:cs typeface="Microsoft Sans Serif"/>
              </a:rPr>
              <a:t>from</a:t>
            </a:r>
            <a:r>
              <a:rPr sz="3200" spc="-110" dirty="0">
                <a:latin typeface="Microsoft Sans Serif"/>
                <a:cs typeface="Microsoft Sans Serif"/>
              </a:rPr>
              <a:t> </a:t>
            </a:r>
            <a:r>
              <a:rPr sz="3200" spc="30" dirty="0">
                <a:latin typeface="Microsoft Sans Serif"/>
                <a:cs typeface="Microsoft Sans Serif"/>
              </a:rPr>
              <a:t>kernel.</a:t>
            </a:r>
            <a:r>
              <a:rPr sz="3200" spc="-114" dirty="0">
                <a:latin typeface="Microsoft Sans Serif"/>
                <a:cs typeface="Microsoft Sans Serif"/>
              </a:rPr>
              <a:t> </a:t>
            </a:r>
            <a:r>
              <a:rPr sz="3200" spc="-80" dirty="0">
                <a:latin typeface="Microsoft Sans Serif"/>
                <a:cs typeface="Microsoft Sans Serif"/>
              </a:rPr>
              <a:t>You</a:t>
            </a:r>
            <a:r>
              <a:rPr sz="3200" spc="-114" dirty="0">
                <a:latin typeface="Microsoft Sans Serif"/>
                <a:cs typeface="Microsoft Sans Serif"/>
              </a:rPr>
              <a:t> </a:t>
            </a:r>
            <a:r>
              <a:rPr sz="3200" spc="50" dirty="0">
                <a:latin typeface="Microsoft Sans Serif"/>
                <a:cs typeface="Microsoft Sans Serif"/>
              </a:rPr>
              <a:t>cannot</a:t>
            </a:r>
            <a:r>
              <a:rPr sz="3200" spc="370" dirty="0">
                <a:latin typeface="Microsoft Sans Serif"/>
                <a:cs typeface="Microsoft Sans Serif"/>
              </a:rPr>
              <a:t> </a:t>
            </a:r>
            <a:r>
              <a:rPr sz="3200" spc="40" dirty="0">
                <a:latin typeface="Microsoft Sans Serif"/>
                <a:cs typeface="Microsoft Sans Serif"/>
              </a:rPr>
              <a:t>remove</a:t>
            </a:r>
            <a:r>
              <a:rPr sz="3200" spc="-105" dirty="0">
                <a:latin typeface="Microsoft Sans Serif"/>
                <a:cs typeface="Microsoft Sans Serif"/>
              </a:rPr>
              <a:t> </a:t>
            </a:r>
            <a:r>
              <a:rPr sz="3200" spc="-110" dirty="0">
                <a:latin typeface="Microsoft Sans Serif"/>
                <a:cs typeface="Microsoft Sans Serif"/>
              </a:rPr>
              <a:t>a</a:t>
            </a:r>
            <a:r>
              <a:rPr sz="3200" spc="-114" dirty="0">
                <a:latin typeface="Microsoft Sans Serif"/>
                <a:cs typeface="Microsoft Sans Serif"/>
              </a:rPr>
              <a:t> </a:t>
            </a:r>
            <a:r>
              <a:rPr sz="3200" spc="80" dirty="0">
                <a:latin typeface="Microsoft Sans Serif"/>
                <a:cs typeface="Microsoft Sans Serif"/>
              </a:rPr>
              <a:t>module</a:t>
            </a:r>
            <a:r>
              <a:rPr sz="3200" spc="-114" dirty="0">
                <a:latin typeface="Microsoft Sans Serif"/>
                <a:cs typeface="Microsoft Sans Serif"/>
              </a:rPr>
              <a:t> </a:t>
            </a:r>
            <a:r>
              <a:rPr sz="3200" spc="35" dirty="0">
                <a:latin typeface="Microsoft Sans Serif"/>
                <a:cs typeface="Microsoft Sans Serif"/>
              </a:rPr>
              <a:t>which</a:t>
            </a:r>
            <a:r>
              <a:rPr sz="3200" spc="-114" dirty="0">
                <a:latin typeface="Microsoft Sans Serif"/>
                <a:cs typeface="Microsoft Sans Serif"/>
              </a:rPr>
              <a:t> </a:t>
            </a:r>
            <a:r>
              <a:rPr sz="3200" spc="-50" dirty="0">
                <a:latin typeface="Microsoft Sans Serif"/>
                <a:cs typeface="Microsoft Sans Serif"/>
              </a:rPr>
              <a:t>is</a:t>
            </a:r>
            <a:r>
              <a:rPr sz="3200" spc="-114" dirty="0">
                <a:latin typeface="Microsoft Sans Serif"/>
                <a:cs typeface="Microsoft Sans Serif"/>
              </a:rPr>
              <a:t> </a:t>
            </a:r>
            <a:r>
              <a:rPr sz="3200" spc="20" dirty="0">
                <a:latin typeface="Microsoft Sans Serif"/>
                <a:cs typeface="Microsoft Sans Serif"/>
              </a:rPr>
              <a:t>already</a:t>
            </a:r>
            <a:r>
              <a:rPr sz="3200" spc="-105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used</a:t>
            </a:r>
            <a:r>
              <a:rPr sz="3200" spc="-114" dirty="0">
                <a:latin typeface="Microsoft Sans Serif"/>
                <a:cs typeface="Microsoft Sans Serif"/>
              </a:rPr>
              <a:t> </a:t>
            </a:r>
            <a:r>
              <a:rPr sz="3200" spc="15" dirty="0">
                <a:latin typeface="Microsoft Sans Serif"/>
                <a:cs typeface="Microsoft Sans Serif"/>
              </a:rPr>
              <a:t>by</a:t>
            </a:r>
            <a:r>
              <a:rPr sz="3200" spc="-10" dirty="0">
                <a:latin typeface="Microsoft Sans Serif"/>
                <a:cs typeface="Microsoft Sans Serif"/>
              </a:rPr>
              <a:t> </a:t>
            </a:r>
            <a:r>
              <a:rPr sz="3200" spc="-50" dirty="0">
                <a:latin typeface="Microsoft Sans Serif"/>
                <a:cs typeface="Microsoft Sans Serif"/>
              </a:rPr>
              <a:t>any</a:t>
            </a:r>
            <a:r>
              <a:rPr sz="3200" spc="-114" dirty="0">
                <a:latin typeface="Microsoft Sans Serif"/>
                <a:cs typeface="Microsoft Sans Serif"/>
              </a:rPr>
              <a:t> </a:t>
            </a:r>
            <a:r>
              <a:rPr sz="3200" spc="55" dirty="0">
                <a:latin typeface="Microsoft Sans Serif"/>
                <a:cs typeface="Microsoft Sans Serif"/>
              </a:rPr>
              <a:t>program.</a:t>
            </a:r>
            <a:endParaRPr sz="3200">
              <a:latin typeface="Microsoft Sans Serif"/>
              <a:cs typeface="Microsoft Sans Serif"/>
            </a:endParaRPr>
          </a:p>
          <a:p>
            <a:pPr marL="354965" indent="-342265" algn="just">
              <a:lnSpc>
                <a:spcPct val="100000"/>
              </a:lnSpc>
              <a:spcBef>
                <a:spcPts val="819"/>
              </a:spcBef>
              <a:buClr>
                <a:srgbClr val="6697CC"/>
              </a:buClr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Microsoft Sans Serif"/>
                <a:cs typeface="Microsoft Sans Serif"/>
              </a:rPr>
              <a:t>Syntax:</a:t>
            </a:r>
            <a:endParaRPr sz="32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  <a:spcBef>
                <a:spcPts val="720"/>
              </a:spcBef>
            </a:pPr>
            <a:r>
              <a:rPr sz="4800" baseline="3472" dirty="0">
                <a:solidFill>
                  <a:srgbClr val="6697CC"/>
                </a:solidFill>
                <a:latin typeface="Arial MT"/>
                <a:cs typeface="Arial MT"/>
              </a:rPr>
              <a:t>–</a:t>
            </a:r>
            <a:r>
              <a:rPr sz="4800" spc="-630" baseline="3472" dirty="0">
                <a:solidFill>
                  <a:srgbClr val="6697CC"/>
                </a:solidFill>
                <a:latin typeface="Arial MT"/>
                <a:cs typeface="Arial MT"/>
              </a:rPr>
              <a:t> </a:t>
            </a:r>
            <a:r>
              <a:rPr sz="3200" b="1" dirty="0">
                <a:latin typeface="Courier New"/>
                <a:cs typeface="Courier New"/>
              </a:rPr>
              <a:t>rmmod</a:t>
            </a:r>
            <a:r>
              <a:rPr sz="3200" b="1" spc="-105" dirty="0">
                <a:latin typeface="Courier New"/>
                <a:cs typeface="Courier New"/>
              </a:rPr>
              <a:t> </a:t>
            </a:r>
            <a:r>
              <a:rPr sz="3200" b="1" spc="-10" dirty="0">
                <a:latin typeface="Courier New"/>
                <a:cs typeface="Courier New"/>
              </a:rPr>
              <a:t>&lt;module_name&gt;.ko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rmmod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1501140"/>
            <a:ext cx="1416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8839" y="1416050"/>
            <a:ext cx="7579995" cy="3683000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sz="2600" spc="-10" dirty="0">
                <a:latin typeface="Microsoft Sans Serif"/>
                <a:cs typeface="Microsoft Sans Serif"/>
              </a:rPr>
              <a:t>The </a:t>
            </a:r>
            <a:r>
              <a:rPr sz="2600" dirty="0">
                <a:latin typeface="Microsoft Sans Serif"/>
                <a:cs typeface="Microsoft Sans Serif"/>
              </a:rPr>
              <a:t>kernel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considers only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modules </a:t>
            </a:r>
            <a:r>
              <a:rPr sz="2600" spc="135" dirty="0">
                <a:latin typeface="Microsoft Sans Serif"/>
                <a:cs typeface="Microsoft Sans Serif"/>
              </a:rPr>
              <a:t>that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spc="-40" dirty="0">
                <a:latin typeface="Microsoft Sans Serif"/>
                <a:cs typeface="Microsoft Sans Serif"/>
              </a:rPr>
              <a:t>have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spc="-20" dirty="0">
                <a:latin typeface="Microsoft Sans Serif"/>
                <a:cs typeface="Microsoft Sans Serif"/>
              </a:rPr>
              <a:t>been</a:t>
            </a:r>
            <a:endParaRPr sz="2600">
              <a:latin typeface="Microsoft Sans Serif"/>
              <a:cs typeface="Microsoft Sans Serif"/>
            </a:endParaRPr>
          </a:p>
          <a:p>
            <a:pPr marL="12700" marR="395605">
              <a:lnSpc>
                <a:spcPct val="100000"/>
              </a:lnSpc>
              <a:spcBef>
                <a:spcPts val="820"/>
              </a:spcBef>
            </a:pPr>
            <a:r>
              <a:rPr sz="2600" dirty="0">
                <a:latin typeface="Microsoft Sans Serif"/>
                <a:cs typeface="Microsoft Sans Serif"/>
              </a:rPr>
              <a:t>loaded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into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-20" dirty="0">
                <a:latin typeface="Microsoft Sans Serif"/>
                <a:cs typeface="Microsoft Sans Serif"/>
              </a:rPr>
              <a:t>RAM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by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i="1" spc="-35" dirty="0">
                <a:latin typeface="Arial"/>
                <a:cs typeface="Arial"/>
              </a:rPr>
              <a:t>insmod</a:t>
            </a:r>
            <a:r>
              <a:rPr sz="2600" i="1" spc="-85" dirty="0">
                <a:latin typeface="Arial"/>
                <a:cs typeface="Arial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program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and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for </a:t>
            </a:r>
            <a:r>
              <a:rPr sz="2600" spc="-45" dirty="0">
                <a:latin typeface="Microsoft Sans Serif"/>
                <a:cs typeface="Microsoft Sans Serif"/>
              </a:rPr>
              <a:t>each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170" dirty="0">
                <a:latin typeface="Microsoft Sans Serif"/>
                <a:cs typeface="Microsoft Sans Serif"/>
              </a:rPr>
              <a:t>of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95" dirty="0">
                <a:latin typeface="Microsoft Sans Serif"/>
                <a:cs typeface="Microsoft Sans Serif"/>
              </a:rPr>
              <a:t>them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allocates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memory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area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containing:</a:t>
            </a:r>
            <a:endParaRPr sz="2600">
              <a:latin typeface="Microsoft Sans Serif"/>
              <a:cs typeface="Microsoft Sans Serif"/>
            </a:endParaRPr>
          </a:p>
          <a:p>
            <a:pPr marL="412115" indent="-284480">
              <a:lnSpc>
                <a:spcPct val="100000"/>
              </a:lnSpc>
              <a:spcBef>
                <a:spcPts val="730"/>
              </a:spcBef>
              <a:buClr>
                <a:srgbClr val="6697CC"/>
              </a:buClr>
              <a:buFont typeface="Arial MT"/>
              <a:buChar char="–"/>
              <a:tabLst>
                <a:tab pos="412115" algn="l"/>
              </a:tabLst>
            </a:pPr>
            <a:r>
              <a:rPr sz="2600" dirty="0">
                <a:latin typeface="Microsoft Sans Serif"/>
                <a:cs typeface="Microsoft Sans Serif"/>
              </a:rPr>
              <a:t>A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module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40" dirty="0">
                <a:latin typeface="Microsoft Sans Serif"/>
                <a:cs typeface="Microsoft Sans Serif"/>
              </a:rPr>
              <a:t>object.</a:t>
            </a:r>
            <a:endParaRPr sz="2600">
              <a:latin typeface="Microsoft Sans Serif"/>
              <a:cs typeface="Microsoft Sans Serif"/>
            </a:endParaRPr>
          </a:p>
          <a:p>
            <a:pPr marL="412750" marR="5080" indent="-284480">
              <a:lnSpc>
                <a:spcPct val="100299"/>
              </a:lnSpc>
              <a:spcBef>
                <a:spcPts val="710"/>
              </a:spcBef>
              <a:buClr>
                <a:srgbClr val="6697CC"/>
              </a:buClr>
              <a:buFont typeface="Arial MT"/>
              <a:buChar char="–"/>
              <a:tabLst>
                <a:tab pos="412750" algn="l"/>
              </a:tabLst>
            </a:pPr>
            <a:r>
              <a:rPr sz="2600" spc="65" dirty="0">
                <a:latin typeface="Microsoft Sans Serif"/>
                <a:cs typeface="Microsoft Sans Serif"/>
              </a:rPr>
              <a:t>Null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terminated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spc="70" dirty="0">
                <a:latin typeface="Microsoft Sans Serif"/>
                <a:cs typeface="Microsoft Sans Serif"/>
              </a:rPr>
              <a:t>string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that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represents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module's name.</a:t>
            </a:r>
            <a:endParaRPr sz="2600">
              <a:latin typeface="Microsoft Sans Serif"/>
              <a:cs typeface="Microsoft Sans Serif"/>
            </a:endParaRPr>
          </a:p>
          <a:p>
            <a:pPr marL="412750" marR="194945" indent="-284480">
              <a:lnSpc>
                <a:spcPct val="100600"/>
              </a:lnSpc>
              <a:spcBef>
                <a:spcPts val="700"/>
              </a:spcBef>
              <a:buClr>
                <a:srgbClr val="6697CC"/>
              </a:buClr>
              <a:buFont typeface="Arial MT"/>
              <a:buChar char="–"/>
              <a:tabLst>
                <a:tab pos="412750" algn="l"/>
              </a:tabLst>
            </a:pPr>
            <a:r>
              <a:rPr sz="2600" spc="-10" dirty="0">
                <a:latin typeface="Microsoft Sans Serif"/>
                <a:cs typeface="Microsoft Sans Serif"/>
              </a:rPr>
              <a:t>The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code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that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implements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functions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170" dirty="0">
                <a:latin typeface="Microsoft Sans Serif"/>
                <a:cs typeface="Microsoft Sans Serif"/>
              </a:rPr>
              <a:t>of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the </a:t>
            </a:r>
            <a:r>
              <a:rPr sz="2600" spc="-10" dirty="0">
                <a:latin typeface="Microsoft Sans Serif"/>
                <a:cs typeface="Microsoft Sans Serif"/>
              </a:rPr>
              <a:t>module.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">
              <a:lnSpc>
                <a:spcPct val="100000"/>
              </a:lnSpc>
              <a:spcBef>
                <a:spcPts val="100"/>
              </a:spcBef>
            </a:pPr>
            <a:r>
              <a:rPr dirty="0"/>
              <a:t>Kernel</a:t>
            </a:r>
            <a:r>
              <a:rPr spc="-45" dirty="0"/>
              <a:t> </a:t>
            </a:r>
            <a:r>
              <a:rPr spc="90" dirty="0"/>
              <a:t>Module</a:t>
            </a:r>
            <a:r>
              <a:rPr spc="-40" dirty="0"/>
              <a:t> </a:t>
            </a:r>
            <a:r>
              <a:rPr spc="95" dirty="0"/>
              <a:t>Implementation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152139"/>
            <a:ext cx="129539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7209" y="1407922"/>
            <a:ext cx="7594600" cy="297434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343535" indent="-330835">
              <a:lnSpc>
                <a:spcPct val="100000"/>
              </a:lnSpc>
              <a:spcBef>
                <a:spcPts val="910"/>
              </a:spcBef>
              <a:buClr>
                <a:srgbClr val="6697CC"/>
              </a:buClr>
              <a:buFont typeface="Arial MT"/>
              <a:buChar char="•"/>
              <a:tabLst>
                <a:tab pos="343535" algn="l"/>
              </a:tabLst>
            </a:pPr>
            <a:r>
              <a:rPr sz="3450" spc="120" baseline="1207" dirty="0">
                <a:latin typeface="Microsoft Sans Serif"/>
                <a:cs typeface="Microsoft Sans Serif"/>
              </a:rPr>
              <a:t>Write</a:t>
            </a:r>
            <a:r>
              <a:rPr sz="3450" spc="-44" baseline="1207" dirty="0">
                <a:latin typeface="Microsoft Sans Serif"/>
                <a:cs typeface="Microsoft Sans Serif"/>
              </a:rPr>
              <a:t> </a:t>
            </a:r>
            <a:r>
              <a:rPr sz="3450" baseline="1207" dirty="0">
                <a:latin typeface="Microsoft Sans Serif"/>
                <a:cs typeface="Microsoft Sans Serif"/>
              </a:rPr>
              <a:t>a</a:t>
            </a:r>
            <a:r>
              <a:rPr sz="3450" spc="-37" baseline="1207" dirty="0">
                <a:latin typeface="Microsoft Sans Serif"/>
                <a:cs typeface="Microsoft Sans Serif"/>
              </a:rPr>
              <a:t> </a:t>
            </a:r>
            <a:r>
              <a:rPr sz="3450" b="1" baseline="1207" dirty="0">
                <a:latin typeface="Courier New"/>
                <a:cs typeface="Courier New"/>
              </a:rPr>
              <a:t>hello_proc.c</a:t>
            </a:r>
            <a:r>
              <a:rPr sz="3450" b="1" spc="-1139" baseline="1207" dirty="0">
                <a:latin typeface="Courier New"/>
                <a:cs typeface="Courier New"/>
              </a:rPr>
              <a:t> </a:t>
            </a:r>
            <a:r>
              <a:rPr sz="3450" spc="97" baseline="1207" dirty="0">
                <a:latin typeface="Microsoft Sans Serif"/>
                <a:cs typeface="Microsoft Sans Serif"/>
              </a:rPr>
              <a:t>program</a:t>
            </a:r>
            <a:endParaRPr sz="3450" baseline="1207">
              <a:latin typeface="Microsoft Sans Serif"/>
              <a:cs typeface="Microsoft Sans Serif"/>
            </a:endParaRPr>
          </a:p>
          <a:p>
            <a:pPr marL="343535" indent="-330835">
              <a:lnSpc>
                <a:spcPct val="100000"/>
              </a:lnSpc>
              <a:spcBef>
                <a:spcPts val="819"/>
              </a:spcBef>
              <a:buClr>
                <a:srgbClr val="6697CC"/>
              </a:buClr>
              <a:buFont typeface="Arial MT"/>
              <a:buChar char="•"/>
              <a:tabLst>
                <a:tab pos="343535" algn="l"/>
              </a:tabLst>
            </a:pPr>
            <a:r>
              <a:rPr sz="2300" dirty="0">
                <a:latin typeface="Microsoft Sans Serif"/>
                <a:cs typeface="Microsoft Sans Serif"/>
              </a:rPr>
              <a:t>Create</a:t>
            </a:r>
            <a:r>
              <a:rPr sz="2300" spc="-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a</a:t>
            </a:r>
            <a:r>
              <a:rPr sz="2300" spc="-20" dirty="0">
                <a:latin typeface="Microsoft Sans Serif"/>
                <a:cs typeface="Microsoft Sans Serif"/>
              </a:rPr>
              <a:t> </a:t>
            </a:r>
            <a:r>
              <a:rPr sz="2300" spc="55" dirty="0">
                <a:latin typeface="Microsoft Sans Serif"/>
                <a:cs typeface="Microsoft Sans Serif"/>
              </a:rPr>
              <a:t>Makefile</a:t>
            </a:r>
            <a:endParaRPr sz="2300">
              <a:latin typeface="Microsoft Sans Serif"/>
              <a:cs typeface="Microsoft Sans Serif"/>
            </a:endParaRPr>
          </a:p>
          <a:p>
            <a:pPr marL="344170" marR="254635" indent="-331470">
              <a:lnSpc>
                <a:spcPts val="2620"/>
              </a:lnSpc>
              <a:spcBef>
                <a:spcPts val="844"/>
              </a:spcBef>
              <a:buClr>
                <a:srgbClr val="6697CC"/>
              </a:buClr>
              <a:buFont typeface="Arial MT"/>
              <a:buChar char="•"/>
              <a:tabLst>
                <a:tab pos="344170" algn="l"/>
              </a:tabLst>
            </a:pPr>
            <a:r>
              <a:rPr sz="2300" dirty="0">
                <a:latin typeface="Microsoft Sans Serif"/>
                <a:cs typeface="Microsoft Sans Serif"/>
              </a:rPr>
              <a:t>The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spc="70" dirty="0">
                <a:latin typeface="Microsoft Sans Serif"/>
                <a:cs typeface="Microsoft Sans Serif"/>
              </a:rPr>
              <a:t>program</a:t>
            </a:r>
            <a:r>
              <a:rPr sz="2300" spc="-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and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spc="65" dirty="0">
                <a:latin typeface="Microsoft Sans Serif"/>
                <a:cs typeface="Microsoft Sans Serif"/>
              </a:rPr>
              <a:t>Makefile</a:t>
            </a:r>
            <a:r>
              <a:rPr sz="2300" spc="-2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should</a:t>
            </a:r>
            <a:r>
              <a:rPr sz="2300" spc="-25" dirty="0">
                <a:latin typeface="Microsoft Sans Serif"/>
                <a:cs typeface="Microsoft Sans Serif"/>
              </a:rPr>
              <a:t> </a:t>
            </a:r>
            <a:r>
              <a:rPr sz="2300" spc="55" dirty="0">
                <a:latin typeface="Microsoft Sans Serif"/>
                <a:cs typeface="Microsoft Sans Serif"/>
              </a:rPr>
              <a:t>be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spc="95" dirty="0">
                <a:latin typeface="Microsoft Sans Serif"/>
                <a:cs typeface="Microsoft Sans Serif"/>
              </a:rPr>
              <a:t>kept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spc="60" dirty="0">
                <a:latin typeface="Microsoft Sans Serif"/>
                <a:cs typeface="Microsoft Sans Serif"/>
              </a:rPr>
              <a:t>in</a:t>
            </a:r>
            <a:r>
              <a:rPr sz="2300" spc="-3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a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single </a:t>
            </a:r>
            <a:r>
              <a:rPr sz="2300" spc="60" dirty="0">
                <a:latin typeface="Microsoft Sans Serif"/>
                <a:cs typeface="Microsoft Sans Serif"/>
              </a:rPr>
              <a:t>folder.</a:t>
            </a:r>
            <a:endParaRPr sz="2300">
              <a:latin typeface="Microsoft Sans Serif"/>
              <a:cs typeface="Microsoft Sans Serif"/>
            </a:endParaRPr>
          </a:p>
          <a:p>
            <a:pPr marL="344170">
              <a:lnSpc>
                <a:spcPct val="100000"/>
              </a:lnSpc>
              <a:spcBef>
                <a:spcPts val="585"/>
              </a:spcBef>
            </a:pPr>
            <a:r>
              <a:rPr sz="2300" spc="-10" dirty="0">
                <a:latin typeface="Microsoft Sans Serif"/>
                <a:cs typeface="Microsoft Sans Serif"/>
              </a:rPr>
              <a:t>Change</a:t>
            </a:r>
            <a:r>
              <a:rPr sz="2300" spc="-20" dirty="0">
                <a:latin typeface="Microsoft Sans Serif"/>
                <a:cs typeface="Microsoft Sans Serif"/>
              </a:rPr>
              <a:t> </a:t>
            </a:r>
            <a:r>
              <a:rPr sz="2300" spc="80" dirty="0">
                <a:latin typeface="Microsoft Sans Serif"/>
                <a:cs typeface="Microsoft Sans Serif"/>
              </a:rPr>
              <a:t>directory</a:t>
            </a:r>
            <a:r>
              <a:rPr sz="2300" spc="-20" dirty="0">
                <a:latin typeface="Microsoft Sans Serif"/>
                <a:cs typeface="Microsoft Sans Serif"/>
              </a:rPr>
              <a:t> </a:t>
            </a:r>
            <a:r>
              <a:rPr sz="2300" spc="170" dirty="0">
                <a:latin typeface="Microsoft Sans Serif"/>
                <a:cs typeface="Microsoft Sans Serif"/>
              </a:rPr>
              <a:t>to</a:t>
            </a:r>
            <a:r>
              <a:rPr sz="2300" spc="-20" dirty="0">
                <a:latin typeface="Microsoft Sans Serif"/>
                <a:cs typeface="Microsoft Sans Serif"/>
              </a:rPr>
              <a:t> </a:t>
            </a:r>
            <a:r>
              <a:rPr sz="2300" spc="70" dirty="0">
                <a:latin typeface="Microsoft Sans Serif"/>
                <a:cs typeface="Microsoft Sans Serif"/>
              </a:rPr>
              <a:t>this</a:t>
            </a:r>
            <a:r>
              <a:rPr sz="2300" spc="-20" dirty="0">
                <a:latin typeface="Microsoft Sans Serif"/>
                <a:cs typeface="Microsoft Sans Serif"/>
              </a:rPr>
              <a:t> </a:t>
            </a:r>
            <a:r>
              <a:rPr sz="2300" spc="114" dirty="0">
                <a:latin typeface="Microsoft Sans Serif"/>
                <a:cs typeface="Microsoft Sans Serif"/>
              </a:rPr>
              <a:t>folder</a:t>
            </a:r>
            <a:r>
              <a:rPr sz="2300" spc="-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and</a:t>
            </a:r>
            <a:r>
              <a:rPr sz="2300" spc="-1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execute</a:t>
            </a:r>
            <a:r>
              <a:rPr sz="2300" spc="-25" dirty="0">
                <a:latin typeface="Microsoft Sans Serif"/>
                <a:cs typeface="Microsoft Sans Serif"/>
              </a:rPr>
              <a:t> </a:t>
            </a:r>
            <a:r>
              <a:rPr sz="2300" spc="75" dirty="0">
                <a:latin typeface="Microsoft Sans Serif"/>
                <a:cs typeface="Microsoft Sans Serif"/>
              </a:rPr>
              <a:t>following:</a:t>
            </a:r>
            <a:endParaRPr sz="2300">
              <a:latin typeface="Microsoft Sans Serif"/>
              <a:cs typeface="Microsoft Sans Serif"/>
            </a:endParaRPr>
          </a:p>
          <a:p>
            <a:pPr marL="732155" lvl="1" indent="-276225">
              <a:lnSpc>
                <a:spcPct val="100000"/>
              </a:lnSpc>
              <a:spcBef>
                <a:spcPts val="409"/>
              </a:spcBef>
              <a:buClr>
                <a:srgbClr val="6697CC"/>
              </a:buClr>
              <a:buFont typeface="Arial MT"/>
              <a:buChar char="–"/>
              <a:tabLst>
                <a:tab pos="732155" algn="l"/>
              </a:tabLst>
            </a:pPr>
            <a:r>
              <a:rPr sz="2300" b="1" spc="-20" dirty="0">
                <a:latin typeface="Courier New"/>
                <a:cs typeface="Courier New"/>
              </a:rPr>
              <a:t>make</a:t>
            </a:r>
            <a:endParaRPr sz="2300">
              <a:latin typeface="Courier New"/>
              <a:cs typeface="Courier New"/>
            </a:endParaRPr>
          </a:p>
          <a:p>
            <a:pPr marL="732155" lvl="1" indent="-276225">
              <a:lnSpc>
                <a:spcPct val="100000"/>
              </a:lnSpc>
              <a:spcBef>
                <a:spcPts val="700"/>
              </a:spcBef>
              <a:buClr>
                <a:srgbClr val="6697CC"/>
              </a:buClr>
              <a:buFont typeface="Arial MT"/>
              <a:buChar char="–"/>
              <a:tabLst>
                <a:tab pos="732155" algn="l"/>
              </a:tabLst>
            </a:pPr>
            <a:r>
              <a:rPr sz="2300" b="1" dirty="0">
                <a:latin typeface="Courier New"/>
                <a:cs typeface="Courier New"/>
              </a:rPr>
              <a:t>insmod</a:t>
            </a:r>
            <a:r>
              <a:rPr sz="2300" b="1" spc="170" dirty="0">
                <a:latin typeface="Courier New"/>
                <a:cs typeface="Courier New"/>
              </a:rPr>
              <a:t> </a:t>
            </a:r>
            <a:r>
              <a:rPr sz="2300" b="1" spc="-10" dirty="0">
                <a:latin typeface="Courier New"/>
                <a:cs typeface="Courier New"/>
              </a:rPr>
              <a:t>hello_proc.ko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0439" y="4439920"/>
            <a:ext cx="7311390" cy="15570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88925" marR="5080" indent="-276860">
              <a:lnSpc>
                <a:spcPts val="2490"/>
              </a:lnSpc>
              <a:spcBef>
                <a:spcPts val="434"/>
              </a:spcBef>
              <a:buClr>
                <a:srgbClr val="6697CC"/>
              </a:buClr>
              <a:buFont typeface="Arial MT"/>
              <a:buChar char="–"/>
              <a:tabLst>
                <a:tab pos="288925" algn="l"/>
                <a:tab pos="1537335" algn="l"/>
              </a:tabLst>
            </a:pPr>
            <a:r>
              <a:rPr sz="2300" b="1" spc="-10" dirty="0">
                <a:latin typeface="Courier New"/>
                <a:cs typeface="Courier New"/>
              </a:rPr>
              <a:t>dmesg</a:t>
            </a:r>
            <a:r>
              <a:rPr sz="2300" b="1" dirty="0">
                <a:latin typeface="Courier New"/>
                <a:cs typeface="Courier New"/>
              </a:rPr>
              <a:t>	</a:t>
            </a:r>
            <a:r>
              <a:rPr sz="2300" dirty="0">
                <a:latin typeface="Calibri"/>
                <a:cs typeface="Calibri"/>
              </a:rPr>
              <a:t>(see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kernel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buffer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contents,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reads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kernel </a:t>
            </a:r>
            <a:r>
              <a:rPr sz="2300" dirty="0">
                <a:latin typeface="Calibri"/>
                <a:cs typeface="Calibri"/>
              </a:rPr>
              <a:t>log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file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/var/log/syslog)</a:t>
            </a:r>
            <a:endParaRPr sz="2300">
              <a:latin typeface="Calibri"/>
              <a:cs typeface="Calibri"/>
            </a:endParaRPr>
          </a:p>
          <a:p>
            <a:pPr marL="288925" indent="-276225">
              <a:lnSpc>
                <a:spcPct val="100000"/>
              </a:lnSpc>
              <a:spcBef>
                <a:spcPts val="515"/>
              </a:spcBef>
              <a:buClr>
                <a:srgbClr val="6697CC"/>
              </a:buClr>
              <a:buFont typeface="Arial MT"/>
              <a:buChar char="–"/>
              <a:tabLst>
                <a:tab pos="288925" algn="l"/>
              </a:tabLst>
            </a:pPr>
            <a:r>
              <a:rPr sz="2300" b="1" spc="-10" dirty="0">
                <a:latin typeface="Courier New"/>
                <a:cs typeface="Courier New"/>
              </a:rPr>
              <a:t>lsmod</a:t>
            </a:r>
            <a:endParaRPr sz="2300">
              <a:latin typeface="Courier New"/>
              <a:cs typeface="Courier New"/>
            </a:endParaRPr>
          </a:p>
          <a:p>
            <a:pPr marL="288925" indent="-276225">
              <a:lnSpc>
                <a:spcPct val="100000"/>
              </a:lnSpc>
              <a:spcBef>
                <a:spcPts val="700"/>
              </a:spcBef>
              <a:buClr>
                <a:srgbClr val="6697CC"/>
              </a:buClr>
              <a:buFont typeface="Arial MT"/>
              <a:buChar char="–"/>
              <a:tabLst>
                <a:tab pos="288925" algn="l"/>
              </a:tabLst>
            </a:pPr>
            <a:r>
              <a:rPr sz="2300" b="1" dirty="0">
                <a:latin typeface="Courier New"/>
                <a:cs typeface="Courier New"/>
              </a:rPr>
              <a:t>cat</a:t>
            </a:r>
            <a:r>
              <a:rPr sz="2300" b="1" spc="95" dirty="0">
                <a:latin typeface="Courier New"/>
                <a:cs typeface="Courier New"/>
              </a:rPr>
              <a:t> </a:t>
            </a:r>
            <a:r>
              <a:rPr sz="2300" b="1" spc="-10" dirty="0">
                <a:latin typeface="Courier New"/>
                <a:cs typeface="Courier New"/>
              </a:rPr>
              <a:t>/proc/hello_proc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Linux</a:t>
            </a:r>
            <a:r>
              <a:rPr spc="-55" dirty="0"/>
              <a:t> </a:t>
            </a:r>
            <a:r>
              <a:rPr dirty="0"/>
              <a:t>Kernel</a:t>
            </a:r>
            <a:r>
              <a:rPr spc="-40" dirty="0"/>
              <a:t> </a:t>
            </a:r>
            <a:r>
              <a:rPr spc="90" dirty="0"/>
              <a:t>Module</a:t>
            </a:r>
            <a:r>
              <a:rPr spc="-35" dirty="0"/>
              <a:t> </a:t>
            </a:r>
            <a:r>
              <a:rPr spc="-10" dirty="0"/>
              <a:t>Programming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1497330"/>
            <a:ext cx="115570" cy="3333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000" b="1" spc="-10" dirty="0">
                <a:latin typeface="Courier New"/>
                <a:cs typeface="Courier New"/>
              </a:rPr>
              <a:t>hello.o</a:t>
            </a:r>
            <a:endParaRPr sz="2000">
              <a:latin typeface="Courier New"/>
              <a:cs typeface="Courier New"/>
            </a:endParaRPr>
          </a:p>
          <a:p>
            <a:pPr marL="346710" indent="-238760">
              <a:lnSpc>
                <a:spcPct val="100000"/>
              </a:lnSpc>
              <a:spcBef>
                <a:spcPts val="670"/>
              </a:spcBef>
              <a:buClr>
                <a:srgbClr val="6697CC"/>
              </a:buClr>
              <a:buFont typeface="Arial MT"/>
              <a:buChar char="–"/>
              <a:tabLst>
                <a:tab pos="346710" algn="l"/>
              </a:tabLst>
            </a:pPr>
            <a:r>
              <a:rPr sz="2000" spc="65" dirty="0"/>
              <a:t>Module</a:t>
            </a:r>
            <a:r>
              <a:rPr sz="2000" spc="-50" dirty="0"/>
              <a:t> </a:t>
            </a:r>
            <a:r>
              <a:rPr sz="2000" spc="65" dirty="0"/>
              <a:t>object</a:t>
            </a:r>
            <a:r>
              <a:rPr sz="2000" spc="-50" dirty="0"/>
              <a:t> </a:t>
            </a:r>
            <a:r>
              <a:rPr sz="2000" spc="100" dirty="0"/>
              <a:t>file</a:t>
            </a:r>
            <a:r>
              <a:rPr sz="2000" spc="-50" dirty="0"/>
              <a:t> </a:t>
            </a:r>
            <a:r>
              <a:rPr sz="2000" spc="80" dirty="0"/>
              <a:t>before</a:t>
            </a:r>
            <a:r>
              <a:rPr sz="2000" spc="-65" dirty="0"/>
              <a:t> </a:t>
            </a:r>
            <a:r>
              <a:rPr sz="2000" spc="-10" dirty="0"/>
              <a:t>linking.</a:t>
            </a:r>
            <a:endParaRPr sz="2000"/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000" b="1" spc="-10" dirty="0">
                <a:latin typeface="Courier New"/>
                <a:cs typeface="Courier New"/>
              </a:rPr>
              <a:t>hello.mod.c</a:t>
            </a:r>
            <a:endParaRPr sz="2000">
              <a:latin typeface="Courier New"/>
              <a:cs typeface="Courier New"/>
            </a:endParaRPr>
          </a:p>
          <a:p>
            <a:pPr marL="346710" indent="-238760">
              <a:lnSpc>
                <a:spcPct val="100000"/>
              </a:lnSpc>
              <a:spcBef>
                <a:spcPts val="670"/>
              </a:spcBef>
              <a:buClr>
                <a:srgbClr val="6697CC"/>
              </a:buClr>
              <a:buFont typeface="Arial MT"/>
              <a:buChar char="–"/>
              <a:tabLst>
                <a:tab pos="346710" algn="l"/>
              </a:tabLst>
            </a:pPr>
            <a:r>
              <a:rPr sz="2000" dirty="0"/>
              <a:t>Contains</a:t>
            </a:r>
            <a:r>
              <a:rPr sz="2000" spc="125" dirty="0"/>
              <a:t> </a:t>
            </a:r>
            <a:r>
              <a:rPr sz="2000" dirty="0"/>
              <a:t>module’s</a:t>
            </a:r>
            <a:r>
              <a:rPr sz="2000" spc="114" dirty="0"/>
              <a:t> </a:t>
            </a:r>
            <a:r>
              <a:rPr sz="2000" spc="65" dirty="0"/>
              <a:t>information.</a:t>
            </a:r>
            <a:endParaRPr sz="2000"/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000" b="1" spc="-10" dirty="0">
                <a:latin typeface="Courier New"/>
                <a:cs typeface="Courier New"/>
              </a:rPr>
              <a:t>hello.mod.o</a:t>
            </a:r>
            <a:endParaRPr sz="2000">
              <a:latin typeface="Courier New"/>
              <a:cs typeface="Courier New"/>
            </a:endParaRPr>
          </a:p>
          <a:p>
            <a:pPr marL="346710" indent="-238760">
              <a:lnSpc>
                <a:spcPct val="100000"/>
              </a:lnSpc>
              <a:spcBef>
                <a:spcPts val="660"/>
              </a:spcBef>
              <a:buClr>
                <a:srgbClr val="6697CC"/>
              </a:buClr>
              <a:buFont typeface="Arial MT"/>
              <a:buChar char="–"/>
              <a:tabLst>
                <a:tab pos="346710" algn="l"/>
              </a:tabLst>
            </a:pPr>
            <a:r>
              <a:rPr sz="2000" spc="114" dirty="0"/>
              <a:t>After</a:t>
            </a:r>
            <a:r>
              <a:rPr sz="2000" spc="-50" dirty="0"/>
              <a:t> </a:t>
            </a:r>
            <a:r>
              <a:rPr sz="2000" spc="55" dirty="0"/>
              <a:t>compilation</a:t>
            </a:r>
            <a:r>
              <a:rPr sz="2000" spc="-25" dirty="0"/>
              <a:t> </a:t>
            </a:r>
            <a:r>
              <a:rPr sz="2000" dirty="0"/>
              <a:t>and</a:t>
            </a:r>
            <a:r>
              <a:rPr sz="2000" spc="-35" dirty="0"/>
              <a:t> </a:t>
            </a:r>
            <a:r>
              <a:rPr sz="2000" spc="55" dirty="0"/>
              <a:t>linking</a:t>
            </a:r>
            <a:r>
              <a:rPr sz="2000" spc="-25" dirty="0"/>
              <a:t> </a:t>
            </a:r>
            <a:r>
              <a:rPr sz="2000" spc="145" dirty="0"/>
              <a:t>of</a:t>
            </a:r>
            <a:r>
              <a:rPr sz="2000" spc="-35" dirty="0"/>
              <a:t> </a:t>
            </a:r>
            <a:r>
              <a:rPr sz="2000" spc="-10" dirty="0"/>
              <a:t>hello.mod.c.</a:t>
            </a:r>
            <a:endParaRPr sz="2000"/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2000" b="1" spc="-10" dirty="0">
                <a:latin typeface="Courier New"/>
                <a:cs typeface="Courier New"/>
              </a:rPr>
              <a:t>modules.order</a:t>
            </a:r>
            <a:endParaRPr sz="2000">
              <a:latin typeface="Courier New"/>
              <a:cs typeface="Courier New"/>
            </a:endParaRPr>
          </a:p>
          <a:p>
            <a:pPr marL="346710" indent="-238760">
              <a:lnSpc>
                <a:spcPct val="100000"/>
              </a:lnSpc>
              <a:spcBef>
                <a:spcPts val="660"/>
              </a:spcBef>
              <a:buClr>
                <a:srgbClr val="6697CC"/>
              </a:buClr>
              <a:buFont typeface="Arial MT"/>
              <a:buChar char="–"/>
              <a:tabLst>
                <a:tab pos="346710" algn="l"/>
              </a:tabLst>
            </a:pPr>
            <a:r>
              <a:rPr sz="2000" dirty="0"/>
              <a:t>The</a:t>
            </a:r>
            <a:r>
              <a:rPr sz="2000" spc="-15" dirty="0"/>
              <a:t> </a:t>
            </a:r>
            <a:r>
              <a:rPr sz="2000" spc="75" dirty="0"/>
              <a:t>order</a:t>
            </a:r>
            <a:r>
              <a:rPr sz="2000" spc="-5" dirty="0"/>
              <a:t> </a:t>
            </a:r>
            <a:r>
              <a:rPr sz="2000" dirty="0"/>
              <a:t>in</a:t>
            </a:r>
            <a:r>
              <a:rPr sz="2000" spc="10" dirty="0"/>
              <a:t> </a:t>
            </a:r>
            <a:r>
              <a:rPr sz="2000" dirty="0"/>
              <a:t>which</a:t>
            </a:r>
            <a:r>
              <a:rPr sz="2000" spc="15" dirty="0"/>
              <a:t> </a:t>
            </a:r>
            <a:r>
              <a:rPr sz="2000" spc="135" dirty="0"/>
              <a:t>two</a:t>
            </a:r>
            <a:r>
              <a:rPr sz="2000" dirty="0"/>
              <a:t> </a:t>
            </a:r>
            <a:r>
              <a:rPr sz="2000" spc="95" dirty="0"/>
              <a:t>or</a:t>
            </a:r>
            <a:r>
              <a:rPr sz="2000" dirty="0"/>
              <a:t> </a:t>
            </a:r>
            <a:r>
              <a:rPr sz="2000" spc="85" dirty="0"/>
              <a:t>three</a:t>
            </a:r>
            <a:r>
              <a:rPr sz="2000" spc="-5" dirty="0"/>
              <a:t> </a:t>
            </a:r>
            <a:r>
              <a:rPr sz="2000" dirty="0"/>
              <a:t>modules </a:t>
            </a:r>
            <a:r>
              <a:rPr sz="2000" spc="105" dirty="0"/>
              <a:t>get</a:t>
            </a:r>
            <a:r>
              <a:rPr sz="2000" spc="-5" dirty="0"/>
              <a:t> </a:t>
            </a:r>
            <a:r>
              <a:rPr sz="2000" spc="-10" dirty="0"/>
              <a:t>linked.</a:t>
            </a:r>
            <a:endParaRPr sz="2000"/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000" b="1" spc="-10" dirty="0">
                <a:latin typeface="Courier New"/>
                <a:cs typeface="Courier New"/>
              </a:rPr>
              <a:t>Modules.symvers</a:t>
            </a:r>
            <a:endParaRPr sz="2000">
              <a:latin typeface="Courier New"/>
              <a:cs typeface="Courier New"/>
            </a:endParaRPr>
          </a:p>
          <a:p>
            <a:pPr marL="346710" indent="-238760">
              <a:lnSpc>
                <a:spcPct val="100000"/>
              </a:lnSpc>
              <a:spcBef>
                <a:spcPts val="670"/>
              </a:spcBef>
              <a:buClr>
                <a:srgbClr val="6697CC"/>
              </a:buClr>
              <a:buFont typeface="Arial MT"/>
              <a:buChar char="–"/>
              <a:tabLst>
                <a:tab pos="346710" algn="l"/>
              </a:tabLst>
            </a:pPr>
            <a:r>
              <a:rPr sz="2000" dirty="0"/>
              <a:t>Symbol</a:t>
            </a:r>
            <a:r>
              <a:rPr sz="2000" spc="-25" dirty="0"/>
              <a:t> </a:t>
            </a:r>
            <a:r>
              <a:rPr sz="2000" dirty="0"/>
              <a:t>versions</a:t>
            </a:r>
            <a:r>
              <a:rPr sz="2000" spc="-20" dirty="0"/>
              <a:t> </a:t>
            </a:r>
            <a:r>
              <a:rPr sz="2000" spc="140" dirty="0"/>
              <a:t>if</a:t>
            </a:r>
            <a:r>
              <a:rPr sz="2000" spc="-20" dirty="0"/>
              <a:t> any.</a:t>
            </a:r>
            <a:endParaRPr sz="2000"/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000" b="1" spc="-10" dirty="0">
                <a:latin typeface="Courier New"/>
                <a:cs typeface="Courier New"/>
              </a:rPr>
              <a:t>hello.ko</a:t>
            </a:r>
            <a:endParaRPr sz="2000">
              <a:latin typeface="Courier New"/>
              <a:cs typeface="Courier New"/>
            </a:endParaRPr>
          </a:p>
          <a:p>
            <a:pPr marL="346710" indent="-238760">
              <a:lnSpc>
                <a:spcPct val="100000"/>
              </a:lnSpc>
              <a:spcBef>
                <a:spcPts val="670"/>
              </a:spcBef>
              <a:buClr>
                <a:srgbClr val="6697CC"/>
              </a:buClr>
              <a:buFont typeface="Arial MT"/>
              <a:buChar char="–"/>
              <a:tabLst>
                <a:tab pos="346710" algn="l"/>
              </a:tabLst>
            </a:pPr>
            <a:r>
              <a:rPr sz="2000" dirty="0"/>
              <a:t>A</a:t>
            </a:r>
            <a:r>
              <a:rPr sz="2000" spc="-25" dirty="0"/>
              <a:t> </a:t>
            </a:r>
            <a:r>
              <a:rPr sz="2000" spc="60" dirty="0"/>
              <a:t>module</a:t>
            </a:r>
            <a:r>
              <a:rPr sz="2000" spc="-20" dirty="0"/>
              <a:t> </a:t>
            </a:r>
            <a:r>
              <a:rPr sz="2000" dirty="0"/>
              <a:t>kernel</a:t>
            </a:r>
            <a:r>
              <a:rPr sz="2000" spc="-25" dirty="0"/>
              <a:t> </a:t>
            </a:r>
            <a:r>
              <a:rPr sz="2000" spc="70" dirty="0"/>
              <a:t>object</a:t>
            </a:r>
            <a:r>
              <a:rPr sz="2000" spc="-15" dirty="0"/>
              <a:t> </a:t>
            </a:r>
            <a:r>
              <a:rPr sz="2000" spc="100" dirty="0"/>
              <a:t>file</a:t>
            </a:r>
            <a:r>
              <a:rPr sz="2000" spc="-35" dirty="0"/>
              <a:t> </a:t>
            </a:r>
            <a:r>
              <a:rPr sz="2000" spc="100" dirty="0"/>
              <a:t>after</a:t>
            </a:r>
            <a:r>
              <a:rPr sz="2000" spc="-20" dirty="0"/>
              <a:t> </a:t>
            </a:r>
            <a:r>
              <a:rPr sz="2000" spc="55" dirty="0"/>
              <a:t>linking</a:t>
            </a:r>
            <a:r>
              <a:rPr sz="2000" spc="-25" dirty="0"/>
              <a:t> </a:t>
            </a:r>
            <a:r>
              <a:rPr sz="2000" spc="45" dirty="0"/>
              <a:t>hello.o</a:t>
            </a:r>
            <a:r>
              <a:rPr sz="2000" spc="-15" dirty="0"/>
              <a:t> </a:t>
            </a:r>
            <a:r>
              <a:rPr sz="2000" dirty="0"/>
              <a:t>and</a:t>
            </a:r>
            <a:r>
              <a:rPr sz="2000" spc="-15" dirty="0"/>
              <a:t> </a:t>
            </a:r>
            <a:r>
              <a:rPr sz="2000" spc="35" dirty="0"/>
              <a:t>hello.mod.o</a:t>
            </a:r>
            <a:endParaRPr sz="2000"/>
          </a:p>
        </p:txBody>
      </p:sp>
      <p:sp>
        <p:nvSpPr>
          <p:cNvPr id="4" name="object 4"/>
          <p:cNvSpPr txBox="1"/>
          <p:nvPr/>
        </p:nvSpPr>
        <p:spPr>
          <a:xfrm>
            <a:off x="537209" y="2240280"/>
            <a:ext cx="115570" cy="3333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7209" y="2983230"/>
            <a:ext cx="115570" cy="3333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7209" y="3726179"/>
            <a:ext cx="115570" cy="3333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7209" y="4467859"/>
            <a:ext cx="115570" cy="3333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7209" y="5210809"/>
            <a:ext cx="115570" cy="3333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Files</a:t>
            </a:r>
            <a:r>
              <a:rPr spc="-120" dirty="0"/>
              <a:t> </a:t>
            </a:r>
            <a:r>
              <a:rPr spc="60" dirty="0"/>
              <a:t>created</a:t>
            </a:r>
            <a:r>
              <a:rPr spc="-114" dirty="0"/>
              <a:t> </a:t>
            </a:r>
            <a:r>
              <a:rPr spc="165" dirty="0"/>
              <a:t>after</a:t>
            </a:r>
            <a:r>
              <a:rPr spc="-120" dirty="0"/>
              <a:t> </a:t>
            </a:r>
            <a:r>
              <a:rPr spc="90" dirty="0"/>
              <a:t>building</a:t>
            </a:r>
            <a:r>
              <a:rPr spc="-135" dirty="0"/>
              <a:t> </a:t>
            </a:r>
            <a:r>
              <a:rPr spc="155" dirty="0"/>
              <a:t>the</a:t>
            </a:r>
            <a:r>
              <a:rPr spc="-120" dirty="0"/>
              <a:t> </a:t>
            </a:r>
            <a:r>
              <a:rPr spc="75" dirty="0"/>
              <a:t>module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0190" cy="1088390"/>
          </a:xfrm>
          <a:custGeom>
            <a:avLst/>
            <a:gdLst/>
            <a:ahLst/>
            <a:cxnLst/>
            <a:rect l="l" t="t" r="r" b="b"/>
            <a:pathLst>
              <a:path w="9140190" h="1088390">
                <a:moveTo>
                  <a:pt x="0" y="1088389"/>
                </a:moveTo>
                <a:lnTo>
                  <a:pt x="9140190" y="1088389"/>
                </a:lnTo>
                <a:lnTo>
                  <a:pt x="9140190" y="0"/>
                </a:lnTo>
                <a:lnTo>
                  <a:pt x="0" y="0"/>
                </a:lnTo>
                <a:lnTo>
                  <a:pt x="0" y="1088389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0" y="1088389"/>
          <a:ext cx="9142729" cy="1000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7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6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52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01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71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18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18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18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18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18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18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1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 marR="46355" algn="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50" b="1" spc="-10" dirty="0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#include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50" b="1" spc="-10" dirty="0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&lt;linux/module.h&gt;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R="46355" algn="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50" b="1" spc="-25" dirty="0">
                          <a:latin typeface="Courier New"/>
                          <a:cs typeface="Courier New"/>
                        </a:rPr>
                        <a:t>//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50" b="1" spc="-10" dirty="0">
                          <a:latin typeface="Courier New"/>
                          <a:cs typeface="Courier New"/>
                        </a:rPr>
                        <a:t>included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50" b="1" spc="-25" dirty="0">
                          <a:latin typeface="Courier New"/>
                          <a:cs typeface="Courier New"/>
                        </a:rPr>
                        <a:t>for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50" b="1" dirty="0">
                          <a:latin typeface="Courier New"/>
                          <a:cs typeface="Courier New"/>
                        </a:rPr>
                        <a:t>all</a:t>
                      </a:r>
                      <a:r>
                        <a:rPr sz="1450" b="1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50" b="1" spc="-10" dirty="0">
                          <a:latin typeface="Courier New"/>
                          <a:cs typeface="Courier New"/>
                        </a:rPr>
                        <a:t>kernel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50" b="1" spc="-10" dirty="0">
                          <a:latin typeface="Courier New"/>
                          <a:cs typeface="Courier New"/>
                        </a:rPr>
                        <a:t>modules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T="762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 marR="46355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50" b="1" spc="-10" dirty="0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#include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50" b="1" spc="-10" dirty="0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&lt;linux/kernel.h&gt;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46355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50" b="1" spc="-25" dirty="0">
                          <a:latin typeface="Courier New"/>
                          <a:cs typeface="Courier New"/>
                        </a:rPr>
                        <a:t>//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50" b="1" spc="-10" dirty="0">
                          <a:latin typeface="Courier New"/>
                          <a:cs typeface="Courier New"/>
                        </a:rPr>
                        <a:t>included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50" b="1" spc="-25" dirty="0">
                          <a:latin typeface="Courier New"/>
                          <a:cs typeface="Courier New"/>
                        </a:rPr>
                        <a:t>for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50" b="1" spc="-10" dirty="0">
                          <a:latin typeface="Courier New"/>
                          <a:cs typeface="Courier New"/>
                        </a:rPr>
                        <a:t>KERN_INFO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570">
                <a:tc>
                  <a:txBody>
                    <a:bodyPr/>
                    <a:lstStyle/>
                    <a:p>
                      <a:pPr marR="46355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50" b="1" spc="-10" dirty="0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#include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50" b="1" spc="-10" dirty="0">
                          <a:solidFill>
                            <a:srgbClr val="0000CC"/>
                          </a:solidFill>
                          <a:latin typeface="Courier New"/>
                          <a:cs typeface="Courier New"/>
                        </a:rPr>
                        <a:t>&lt;linux/init.h&gt;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46355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50" b="1" spc="-25" dirty="0">
                          <a:latin typeface="Courier New"/>
                          <a:cs typeface="Courier New"/>
                        </a:rPr>
                        <a:t>//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50" b="1" spc="-10" dirty="0">
                          <a:latin typeface="Courier New"/>
                          <a:cs typeface="Courier New"/>
                        </a:rPr>
                        <a:t>included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50" b="1" spc="-25" dirty="0">
                          <a:latin typeface="Courier New"/>
                          <a:cs typeface="Courier New"/>
                        </a:rPr>
                        <a:t>for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  <a:tabLst>
                          <a:tab pos="273050" algn="l"/>
                        </a:tabLst>
                      </a:pPr>
                      <a:r>
                        <a:rPr sz="14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50" b="1" dirty="0">
                          <a:latin typeface="Courier New"/>
                          <a:cs typeface="Courier New"/>
                        </a:rPr>
                        <a:t>init</a:t>
                      </a:r>
                      <a:r>
                        <a:rPr sz="1450" b="1" spc="-9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50" b="1" spc="-25" dirty="0">
                          <a:latin typeface="Courier New"/>
                          <a:cs typeface="Courier New"/>
                        </a:rPr>
                        <a:t>and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50"/>
                        </a:spcBef>
                        <a:tabLst>
                          <a:tab pos="273685" algn="l"/>
                        </a:tabLst>
                      </a:pPr>
                      <a:r>
                        <a:rPr sz="145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50" b="1" dirty="0">
                          <a:latin typeface="Courier New"/>
                          <a:cs typeface="Courier New"/>
                        </a:rPr>
                        <a:t>exit</a:t>
                      </a:r>
                      <a:r>
                        <a:rPr sz="1450" b="1" spc="-9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50" b="1" spc="-10" dirty="0">
                          <a:latin typeface="Courier New"/>
                          <a:cs typeface="Courier New"/>
                        </a:rPr>
                        <a:t>macros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0" y="6605269"/>
            <a:ext cx="9138920" cy="252729"/>
          </a:xfrm>
          <a:custGeom>
            <a:avLst/>
            <a:gdLst/>
            <a:ahLst/>
            <a:cxnLst/>
            <a:rect l="l" t="t" r="r" b="b"/>
            <a:pathLst>
              <a:path w="9138920" h="252729">
                <a:moveTo>
                  <a:pt x="0" y="252729"/>
                </a:moveTo>
                <a:lnTo>
                  <a:pt x="0" y="0"/>
                </a:lnTo>
                <a:lnTo>
                  <a:pt x="9138920" y="0"/>
                </a:lnTo>
                <a:lnTo>
                  <a:pt x="9138920" y="252729"/>
                </a:lnTo>
                <a:lnTo>
                  <a:pt x="0" y="252729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42950" y="2060956"/>
            <a:ext cx="7261859" cy="40081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450" b="1" spc="-10" dirty="0">
                <a:solidFill>
                  <a:srgbClr val="FF3333"/>
                </a:solidFill>
                <a:latin typeface="Courier New"/>
                <a:cs typeface="Courier New"/>
              </a:rPr>
              <a:t>MODULE_LICENSE("GPL");</a:t>
            </a:r>
            <a:endParaRPr sz="14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450" b="1" spc="-20" dirty="0">
                <a:solidFill>
                  <a:srgbClr val="FF3333"/>
                </a:solidFill>
                <a:latin typeface="Courier New"/>
                <a:cs typeface="Courier New"/>
              </a:rPr>
              <a:t>MODULE_AUTHOR("</a:t>
            </a:r>
            <a:r>
              <a:rPr lang="en-US" sz="1450" b="1" spc="-20" dirty="0">
                <a:solidFill>
                  <a:srgbClr val="FF3333"/>
                </a:solidFill>
                <a:latin typeface="Courier New"/>
                <a:cs typeface="Courier New"/>
              </a:rPr>
              <a:t>Trusted Author</a:t>
            </a:r>
            <a:r>
              <a:rPr sz="1450" b="1" spc="-10" dirty="0">
                <a:solidFill>
                  <a:srgbClr val="FF3333"/>
                </a:solidFill>
                <a:latin typeface="Courier New"/>
                <a:cs typeface="Courier New"/>
              </a:rPr>
              <a:t>");</a:t>
            </a:r>
            <a:endParaRPr sz="1450" dirty="0">
              <a:latin typeface="Courier New"/>
              <a:cs typeface="Courier New"/>
            </a:endParaRPr>
          </a:p>
          <a:p>
            <a:pPr marL="12700" marR="1760855">
              <a:lnSpc>
                <a:spcPct val="121800"/>
              </a:lnSpc>
              <a:spcBef>
                <a:spcPts val="10"/>
              </a:spcBef>
              <a:tabLst>
                <a:tab pos="1437005" algn="l"/>
              </a:tabLst>
            </a:pPr>
            <a:r>
              <a:rPr sz="1450" b="1" spc="-20" dirty="0">
                <a:solidFill>
                  <a:srgbClr val="FF3333"/>
                </a:solidFill>
                <a:latin typeface="Courier New"/>
                <a:cs typeface="Courier New"/>
              </a:rPr>
              <a:t>MODULE_DESCRIPTION("A</a:t>
            </a:r>
            <a:r>
              <a:rPr sz="1450" b="1" spc="-95" dirty="0">
                <a:solidFill>
                  <a:srgbClr val="FF3333"/>
                </a:solidFill>
                <a:latin typeface="Courier New"/>
                <a:cs typeface="Courier New"/>
              </a:rPr>
              <a:t> </a:t>
            </a:r>
            <a:r>
              <a:rPr sz="1450" b="1" dirty="0">
                <a:solidFill>
                  <a:srgbClr val="FF3333"/>
                </a:solidFill>
                <a:latin typeface="Courier New"/>
                <a:cs typeface="Courier New"/>
              </a:rPr>
              <a:t>Simple</a:t>
            </a:r>
            <a:r>
              <a:rPr sz="1450" b="1" spc="-95" dirty="0">
                <a:solidFill>
                  <a:srgbClr val="FF3333"/>
                </a:solidFill>
                <a:latin typeface="Courier New"/>
                <a:cs typeface="Courier New"/>
              </a:rPr>
              <a:t> </a:t>
            </a:r>
            <a:r>
              <a:rPr sz="1450" b="1" dirty="0">
                <a:solidFill>
                  <a:srgbClr val="FF3333"/>
                </a:solidFill>
                <a:latin typeface="Courier New"/>
                <a:cs typeface="Courier New"/>
              </a:rPr>
              <a:t>Hello</a:t>
            </a:r>
            <a:r>
              <a:rPr sz="1450" b="1" spc="-95" dirty="0">
                <a:solidFill>
                  <a:srgbClr val="FF3333"/>
                </a:solidFill>
                <a:latin typeface="Courier New"/>
                <a:cs typeface="Courier New"/>
              </a:rPr>
              <a:t> </a:t>
            </a:r>
            <a:r>
              <a:rPr sz="1450" b="1" dirty="0">
                <a:solidFill>
                  <a:srgbClr val="FF3333"/>
                </a:solidFill>
                <a:latin typeface="Courier New"/>
                <a:cs typeface="Courier New"/>
              </a:rPr>
              <a:t>World</a:t>
            </a:r>
            <a:r>
              <a:rPr sz="1450" b="1" spc="-90" dirty="0">
                <a:solidFill>
                  <a:srgbClr val="FF3333"/>
                </a:solidFill>
                <a:latin typeface="Courier New"/>
                <a:cs typeface="Courier New"/>
              </a:rPr>
              <a:t> </a:t>
            </a:r>
            <a:r>
              <a:rPr sz="1450" b="1" spc="-10" dirty="0">
                <a:solidFill>
                  <a:srgbClr val="FF3333"/>
                </a:solidFill>
                <a:latin typeface="Courier New"/>
                <a:cs typeface="Courier New"/>
              </a:rPr>
              <a:t>module"); </a:t>
            </a:r>
            <a:r>
              <a:rPr sz="1450" b="1" dirty="0">
                <a:solidFill>
                  <a:srgbClr val="661800"/>
                </a:solidFill>
                <a:latin typeface="Courier New"/>
                <a:cs typeface="Courier New"/>
              </a:rPr>
              <a:t>static int </a:t>
            </a:r>
            <a:r>
              <a:rPr sz="1450" u="sng" dirty="0">
                <a:solidFill>
                  <a:srgbClr val="661800"/>
                </a:solidFill>
                <a:uFill>
                  <a:solidFill>
                    <a:srgbClr val="6517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450" b="1" dirty="0">
                <a:solidFill>
                  <a:srgbClr val="661800"/>
                </a:solidFill>
                <a:latin typeface="Courier New"/>
                <a:cs typeface="Courier New"/>
              </a:rPr>
              <a:t>init</a:t>
            </a:r>
            <a:r>
              <a:rPr sz="1450" b="1" spc="-100" dirty="0">
                <a:solidFill>
                  <a:srgbClr val="661800"/>
                </a:solidFill>
                <a:latin typeface="Courier New"/>
                <a:cs typeface="Courier New"/>
              </a:rPr>
              <a:t> </a:t>
            </a:r>
            <a:r>
              <a:rPr sz="1450" b="1" spc="-10" dirty="0">
                <a:solidFill>
                  <a:srgbClr val="661800"/>
                </a:solidFill>
                <a:latin typeface="Courier New"/>
                <a:cs typeface="Courier New"/>
              </a:rPr>
              <a:t>hello_init(void)</a:t>
            </a:r>
            <a:endParaRPr sz="14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450" b="1" spc="-50" dirty="0">
                <a:solidFill>
                  <a:srgbClr val="661800"/>
                </a:solidFill>
                <a:latin typeface="Courier New"/>
                <a:cs typeface="Courier New"/>
              </a:rPr>
              <a:t>{</a:t>
            </a:r>
            <a:endParaRPr sz="1450" dirty="0">
              <a:latin typeface="Courier New"/>
              <a:cs typeface="Courier New"/>
            </a:endParaRPr>
          </a:p>
          <a:p>
            <a:pPr marL="450850">
              <a:lnSpc>
                <a:spcPct val="100000"/>
              </a:lnSpc>
              <a:spcBef>
                <a:spcPts val="380"/>
              </a:spcBef>
            </a:pPr>
            <a:r>
              <a:rPr sz="1450" b="1" spc="-10" dirty="0">
                <a:solidFill>
                  <a:srgbClr val="661800"/>
                </a:solidFill>
                <a:latin typeface="Courier New"/>
                <a:cs typeface="Courier New"/>
              </a:rPr>
              <a:t>printk(KERN_INFO</a:t>
            </a:r>
            <a:r>
              <a:rPr sz="1450" b="1" spc="-155" dirty="0">
                <a:solidFill>
                  <a:srgbClr val="661800"/>
                </a:solidFill>
                <a:latin typeface="Courier New"/>
                <a:cs typeface="Courier New"/>
              </a:rPr>
              <a:t> </a:t>
            </a:r>
            <a:r>
              <a:rPr sz="1450" b="1" dirty="0">
                <a:solidFill>
                  <a:srgbClr val="661800"/>
                </a:solidFill>
                <a:latin typeface="Courier New"/>
                <a:cs typeface="Courier New"/>
              </a:rPr>
              <a:t>"Hello</a:t>
            </a:r>
            <a:r>
              <a:rPr sz="1450" b="1" spc="-150" dirty="0">
                <a:solidFill>
                  <a:srgbClr val="661800"/>
                </a:solidFill>
                <a:latin typeface="Courier New"/>
                <a:cs typeface="Courier New"/>
              </a:rPr>
              <a:t> </a:t>
            </a:r>
            <a:r>
              <a:rPr sz="1450" b="1" spc="-10" dirty="0">
                <a:solidFill>
                  <a:srgbClr val="661800"/>
                </a:solidFill>
                <a:latin typeface="Courier New"/>
                <a:cs typeface="Courier New"/>
              </a:rPr>
              <a:t>world!\n");</a:t>
            </a:r>
            <a:endParaRPr sz="1450" dirty="0">
              <a:latin typeface="Courier New"/>
              <a:cs typeface="Courier New"/>
            </a:endParaRPr>
          </a:p>
          <a:p>
            <a:pPr marL="12700" marR="5080" indent="438150">
              <a:lnSpc>
                <a:spcPts val="1639"/>
              </a:lnSpc>
              <a:spcBef>
                <a:spcPts val="530"/>
              </a:spcBef>
            </a:pPr>
            <a:r>
              <a:rPr sz="1450" b="1" dirty="0">
                <a:solidFill>
                  <a:srgbClr val="661800"/>
                </a:solidFill>
                <a:latin typeface="Courier New"/>
                <a:cs typeface="Courier New"/>
              </a:rPr>
              <a:t>return</a:t>
            </a:r>
            <a:r>
              <a:rPr sz="1450" b="1" spc="-114" dirty="0">
                <a:solidFill>
                  <a:srgbClr val="661800"/>
                </a:solidFill>
                <a:latin typeface="Courier New"/>
                <a:cs typeface="Courier New"/>
              </a:rPr>
              <a:t> </a:t>
            </a:r>
            <a:r>
              <a:rPr sz="1450" b="1" dirty="0">
                <a:solidFill>
                  <a:srgbClr val="661800"/>
                </a:solidFill>
                <a:latin typeface="Courier New"/>
                <a:cs typeface="Courier New"/>
              </a:rPr>
              <a:t>0;</a:t>
            </a:r>
            <a:r>
              <a:rPr sz="1450" b="1" spc="-90" dirty="0">
                <a:solidFill>
                  <a:srgbClr val="661800"/>
                </a:solidFill>
                <a:latin typeface="Courier New"/>
                <a:cs typeface="Courier New"/>
              </a:rPr>
              <a:t> </a:t>
            </a:r>
            <a:r>
              <a:rPr sz="1450" b="1" dirty="0">
                <a:latin typeface="Courier New"/>
                <a:cs typeface="Courier New"/>
              </a:rPr>
              <a:t>//</a:t>
            </a:r>
            <a:r>
              <a:rPr sz="1450" b="1" spc="-110" dirty="0">
                <a:latin typeface="Courier New"/>
                <a:cs typeface="Courier New"/>
              </a:rPr>
              <a:t> </a:t>
            </a:r>
            <a:r>
              <a:rPr sz="1450" b="1" spc="-20" dirty="0">
                <a:latin typeface="Courier New"/>
                <a:cs typeface="Courier New"/>
              </a:rPr>
              <a:t>Non­</a:t>
            </a:r>
            <a:r>
              <a:rPr sz="1450" b="1" dirty="0">
                <a:latin typeface="Courier New"/>
                <a:cs typeface="Courier New"/>
              </a:rPr>
              <a:t>zero</a:t>
            </a:r>
            <a:r>
              <a:rPr sz="1450" b="1" spc="-100" dirty="0">
                <a:latin typeface="Courier New"/>
                <a:cs typeface="Courier New"/>
              </a:rPr>
              <a:t> </a:t>
            </a:r>
            <a:r>
              <a:rPr sz="1450" b="1" dirty="0">
                <a:latin typeface="Courier New"/>
                <a:cs typeface="Courier New"/>
              </a:rPr>
              <a:t>return</a:t>
            </a:r>
            <a:r>
              <a:rPr sz="1450" b="1" spc="-105" dirty="0">
                <a:latin typeface="Courier New"/>
                <a:cs typeface="Courier New"/>
              </a:rPr>
              <a:t> </a:t>
            </a:r>
            <a:r>
              <a:rPr sz="1450" b="1" dirty="0">
                <a:latin typeface="Courier New"/>
                <a:cs typeface="Courier New"/>
              </a:rPr>
              <a:t>means</a:t>
            </a:r>
            <a:r>
              <a:rPr sz="1450" b="1" spc="-100" dirty="0">
                <a:latin typeface="Courier New"/>
                <a:cs typeface="Courier New"/>
              </a:rPr>
              <a:t> </a:t>
            </a:r>
            <a:r>
              <a:rPr sz="1450" b="1" dirty="0">
                <a:latin typeface="Courier New"/>
                <a:cs typeface="Courier New"/>
              </a:rPr>
              <a:t>that</a:t>
            </a:r>
            <a:r>
              <a:rPr sz="1450" b="1" spc="-100" dirty="0">
                <a:latin typeface="Courier New"/>
                <a:cs typeface="Courier New"/>
              </a:rPr>
              <a:t> </a:t>
            </a:r>
            <a:r>
              <a:rPr sz="1450" b="1" dirty="0">
                <a:latin typeface="Courier New"/>
                <a:cs typeface="Courier New"/>
              </a:rPr>
              <a:t>the</a:t>
            </a:r>
            <a:r>
              <a:rPr sz="1450" b="1" spc="-105" dirty="0">
                <a:latin typeface="Courier New"/>
                <a:cs typeface="Courier New"/>
              </a:rPr>
              <a:t> </a:t>
            </a:r>
            <a:r>
              <a:rPr sz="1450" b="1" dirty="0">
                <a:latin typeface="Courier New"/>
                <a:cs typeface="Courier New"/>
              </a:rPr>
              <a:t>module</a:t>
            </a:r>
            <a:r>
              <a:rPr sz="1450" b="1" spc="-100" dirty="0">
                <a:latin typeface="Courier New"/>
                <a:cs typeface="Courier New"/>
              </a:rPr>
              <a:t> </a:t>
            </a:r>
            <a:r>
              <a:rPr sz="1450" b="1" dirty="0">
                <a:latin typeface="Courier New"/>
                <a:cs typeface="Courier New"/>
              </a:rPr>
              <a:t>couldn't</a:t>
            </a:r>
            <a:r>
              <a:rPr sz="1450" b="1" spc="-100" dirty="0">
                <a:latin typeface="Courier New"/>
                <a:cs typeface="Courier New"/>
              </a:rPr>
              <a:t> </a:t>
            </a:r>
            <a:r>
              <a:rPr sz="1450" b="1" spc="-25" dirty="0">
                <a:latin typeface="Courier New"/>
                <a:cs typeface="Courier New"/>
              </a:rPr>
              <a:t>be </a:t>
            </a:r>
            <a:r>
              <a:rPr sz="1450" b="1" spc="-10" dirty="0">
                <a:latin typeface="Courier New"/>
                <a:cs typeface="Courier New"/>
              </a:rPr>
              <a:t>loaded.</a:t>
            </a:r>
            <a:endParaRPr sz="14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450" b="1" spc="-50" dirty="0">
                <a:solidFill>
                  <a:srgbClr val="661800"/>
                </a:solidFill>
                <a:latin typeface="Courier New"/>
                <a:cs typeface="Courier New"/>
              </a:rPr>
              <a:t>}</a:t>
            </a:r>
            <a:endParaRPr sz="14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  <a:tabLst>
                <a:tab pos="1546225" algn="l"/>
              </a:tabLst>
            </a:pPr>
            <a:r>
              <a:rPr sz="1450" b="1" dirty="0">
                <a:solidFill>
                  <a:srgbClr val="661800"/>
                </a:solidFill>
                <a:latin typeface="Courier New"/>
                <a:cs typeface="Courier New"/>
              </a:rPr>
              <a:t>static void </a:t>
            </a:r>
            <a:r>
              <a:rPr sz="1450" u="sng" dirty="0">
                <a:solidFill>
                  <a:srgbClr val="661800"/>
                </a:solidFill>
                <a:uFill>
                  <a:solidFill>
                    <a:srgbClr val="6517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450" b="1" dirty="0">
                <a:solidFill>
                  <a:srgbClr val="661800"/>
                </a:solidFill>
                <a:latin typeface="Courier New"/>
                <a:cs typeface="Courier New"/>
              </a:rPr>
              <a:t>exit</a:t>
            </a:r>
            <a:r>
              <a:rPr sz="1450" b="1" spc="-100" dirty="0">
                <a:solidFill>
                  <a:srgbClr val="661800"/>
                </a:solidFill>
                <a:latin typeface="Courier New"/>
                <a:cs typeface="Courier New"/>
              </a:rPr>
              <a:t> </a:t>
            </a:r>
            <a:r>
              <a:rPr sz="1450" b="1" spc="-10" dirty="0">
                <a:solidFill>
                  <a:srgbClr val="661800"/>
                </a:solidFill>
                <a:latin typeface="Courier New"/>
                <a:cs typeface="Courier New"/>
              </a:rPr>
              <a:t>hello_cleanup(void)</a:t>
            </a:r>
            <a:endParaRPr sz="14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450" b="1" spc="-50" dirty="0">
                <a:solidFill>
                  <a:srgbClr val="661800"/>
                </a:solidFill>
                <a:latin typeface="Courier New"/>
                <a:cs typeface="Courier New"/>
              </a:rPr>
              <a:t>{</a:t>
            </a:r>
            <a:endParaRPr sz="1450" dirty="0">
              <a:latin typeface="Courier New"/>
              <a:cs typeface="Courier New"/>
            </a:endParaRPr>
          </a:p>
          <a:p>
            <a:pPr marL="450850">
              <a:lnSpc>
                <a:spcPct val="100000"/>
              </a:lnSpc>
              <a:spcBef>
                <a:spcPts val="380"/>
              </a:spcBef>
            </a:pPr>
            <a:r>
              <a:rPr sz="1450" b="1" spc="-10" dirty="0">
                <a:solidFill>
                  <a:srgbClr val="661800"/>
                </a:solidFill>
                <a:latin typeface="Courier New"/>
                <a:cs typeface="Courier New"/>
              </a:rPr>
              <a:t>printk(KERN_INFO</a:t>
            </a:r>
            <a:r>
              <a:rPr sz="1450" b="1" spc="-145" dirty="0">
                <a:solidFill>
                  <a:srgbClr val="661800"/>
                </a:solidFill>
                <a:latin typeface="Courier New"/>
                <a:cs typeface="Courier New"/>
              </a:rPr>
              <a:t> </a:t>
            </a:r>
            <a:r>
              <a:rPr sz="1450" b="1" dirty="0">
                <a:solidFill>
                  <a:srgbClr val="661800"/>
                </a:solidFill>
                <a:latin typeface="Courier New"/>
                <a:cs typeface="Courier New"/>
              </a:rPr>
              <a:t>"Good</a:t>
            </a:r>
            <a:r>
              <a:rPr sz="1450" b="1" spc="-145" dirty="0">
                <a:solidFill>
                  <a:srgbClr val="661800"/>
                </a:solidFill>
                <a:latin typeface="Courier New"/>
                <a:cs typeface="Courier New"/>
              </a:rPr>
              <a:t> </a:t>
            </a:r>
            <a:r>
              <a:rPr sz="1450" b="1" spc="-10" dirty="0">
                <a:solidFill>
                  <a:srgbClr val="661800"/>
                </a:solidFill>
                <a:latin typeface="Courier New"/>
                <a:cs typeface="Courier New"/>
              </a:rPr>
              <a:t>Bye.\n");</a:t>
            </a:r>
            <a:endParaRPr sz="14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450" b="1" spc="-50" dirty="0">
                <a:solidFill>
                  <a:srgbClr val="661800"/>
                </a:solidFill>
                <a:latin typeface="Courier New"/>
                <a:cs typeface="Courier New"/>
              </a:rPr>
              <a:t>}</a:t>
            </a:r>
            <a:endParaRPr sz="1450" dirty="0">
              <a:latin typeface="Courier New"/>
              <a:cs typeface="Courier New"/>
            </a:endParaRPr>
          </a:p>
          <a:p>
            <a:pPr marL="12700" marR="4281805">
              <a:lnSpc>
                <a:spcPct val="121800"/>
              </a:lnSpc>
            </a:pPr>
            <a:r>
              <a:rPr sz="1450" b="1" spc="-10" dirty="0">
                <a:solidFill>
                  <a:srgbClr val="003300"/>
                </a:solidFill>
                <a:latin typeface="Courier New"/>
                <a:cs typeface="Courier New"/>
              </a:rPr>
              <a:t>module_init(hello_init); </a:t>
            </a:r>
            <a:r>
              <a:rPr sz="1450" b="1" spc="-20" dirty="0">
                <a:solidFill>
                  <a:srgbClr val="003300"/>
                </a:solidFill>
                <a:latin typeface="Courier New"/>
                <a:cs typeface="Courier New"/>
              </a:rPr>
              <a:t>module_exit(hello_cleanup);</a:t>
            </a:r>
            <a:endParaRPr sz="145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Example:</a:t>
            </a:r>
            <a:r>
              <a:rPr spc="-155" dirty="0"/>
              <a:t> </a:t>
            </a:r>
            <a:r>
              <a:rPr spc="-10" dirty="0"/>
              <a:t>hello.c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5150" y="1875789"/>
            <a:ext cx="7694930" cy="2437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480050">
              <a:lnSpc>
                <a:spcPct val="137500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obj­m</a:t>
            </a:r>
            <a:r>
              <a:rPr sz="1800" b="1" spc="-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+=</a:t>
            </a:r>
            <a:r>
              <a:rPr sz="1800" b="1" spc="-5" dirty="0"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0000FF"/>
                </a:solidFill>
                <a:latin typeface="Courier New"/>
                <a:cs typeface="Courier New"/>
              </a:rPr>
              <a:t>hello.o </a:t>
            </a:r>
            <a:r>
              <a:rPr sz="1800" b="1" spc="-20" dirty="0">
                <a:latin typeface="Courier New"/>
                <a:cs typeface="Courier New"/>
              </a:rPr>
              <a:t>all:</a:t>
            </a:r>
            <a:endParaRPr sz="1800">
              <a:latin typeface="Courier New"/>
              <a:cs typeface="Courier New"/>
            </a:endParaRPr>
          </a:p>
          <a:p>
            <a:pPr marL="412750" marR="5080">
              <a:lnSpc>
                <a:spcPct val="100000"/>
              </a:lnSpc>
              <a:spcBef>
                <a:spcPts val="710"/>
              </a:spcBef>
            </a:pPr>
            <a:r>
              <a:rPr sz="1800" b="1" dirty="0">
                <a:latin typeface="Courier New"/>
                <a:cs typeface="Courier New"/>
              </a:rPr>
              <a:t>make</a:t>
            </a:r>
            <a:r>
              <a:rPr sz="1800" b="1" spc="-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­C</a:t>
            </a:r>
            <a:r>
              <a:rPr sz="1800" b="1" spc="-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/lib/modules/$(shell</a:t>
            </a:r>
            <a:r>
              <a:rPr sz="1800" b="1" spc="-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uname</a:t>
            </a:r>
            <a:r>
              <a:rPr sz="1800" b="1" spc="-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­r)/build</a:t>
            </a:r>
            <a:r>
              <a:rPr sz="1800" b="1" spc="-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M=$(PWD) modules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800" b="1" spc="-10" dirty="0">
                <a:latin typeface="Courier New"/>
                <a:cs typeface="Courier New"/>
              </a:rPr>
              <a:t>clean:</a:t>
            </a:r>
            <a:endParaRPr sz="1800">
              <a:latin typeface="Courier New"/>
              <a:cs typeface="Courier New"/>
            </a:endParaRPr>
          </a:p>
          <a:p>
            <a:pPr marL="412750" marR="5080">
              <a:lnSpc>
                <a:spcPct val="100000"/>
              </a:lnSpc>
              <a:spcBef>
                <a:spcPts val="710"/>
              </a:spcBef>
            </a:pPr>
            <a:r>
              <a:rPr sz="1800" b="1" dirty="0">
                <a:latin typeface="Courier New"/>
                <a:cs typeface="Courier New"/>
              </a:rPr>
              <a:t>make</a:t>
            </a:r>
            <a:r>
              <a:rPr sz="1800" b="1" spc="-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­C</a:t>
            </a:r>
            <a:r>
              <a:rPr sz="1800" b="1" spc="-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/lib/modules/$(shell</a:t>
            </a:r>
            <a:r>
              <a:rPr sz="1800" b="1" spc="-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uname</a:t>
            </a:r>
            <a:r>
              <a:rPr sz="1800" b="1" spc="-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­r)/build</a:t>
            </a:r>
            <a:r>
              <a:rPr sz="1800" b="1" spc="-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M=$(PWD) clean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Makefile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8D4C8-F474-4EAC-7AEB-5E7ED8D4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7F8F0-1277-DD54-166F-8A48181C7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5500" y="1398777"/>
            <a:ext cx="7772400" cy="4431983"/>
          </a:xfrm>
        </p:spPr>
        <p:txBody>
          <a:bodyPr/>
          <a:lstStyle/>
          <a:p>
            <a:r>
              <a:rPr lang="en-US" sz="1600" dirty="0"/>
              <a:t>$ </a:t>
            </a:r>
            <a:r>
              <a:rPr lang="en-US" sz="1600" dirty="0" err="1"/>
              <a:t>gcc</a:t>
            </a:r>
            <a:r>
              <a:rPr lang="en-US" sz="1600" dirty="0"/>
              <a:t> --version</a:t>
            </a:r>
          </a:p>
          <a:p>
            <a:r>
              <a:rPr lang="en-US" sz="1600" dirty="0"/>
              <a:t>If it is less than v10, then run</a:t>
            </a:r>
          </a:p>
          <a:p>
            <a:r>
              <a:rPr lang="en-US" sz="1600" dirty="0"/>
              <a:t>On Linux/RHEL/EL versions</a:t>
            </a:r>
          </a:p>
          <a:p>
            <a:endParaRPr lang="en-US" sz="1600" dirty="0"/>
          </a:p>
          <a:p>
            <a:r>
              <a:rPr lang="en-US" sz="1600" dirty="0"/>
              <a:t>$ </a:t>
            </a:r>
            <a:r>
              <a:rPr lang="en-US" sz="1600" dirty="0" err="1"/>
              <a:t>sudo</a:t>
            </a:r>
            <a:r>
              <a:rPr lang="en-US" sz="1600" dirty="0"/>
              <a:t> </a:t>
            </a:r>
            <a:r>
              <a:rPr lang="en-US" sz="1600" dirty="0" err="1"/>
              <a:t>dnf</a:t>
            </a:r>
            <a:r>
              <a:rPr lang="en-US" sz="1600" dirty="0"/>
              <a:t> install gcc-toolset-12</a:t>
            </a:r>
          </a:p>
          <a:p>
            <a:r>
              <a:rPr lang="en-US" sz="1600" dirty="0"/>
              <a:t>$ </a:t>
            </a:r>
            <a:r>
              <a:rPr lang="en-US" sz="1600" dirty="0" err="1"/>
              <a:t>scl</a:t>
            </a:r>
            <a:r>
              <a:rPr lang="en-US" sz="1600" dirty="0"/>
              <a:t> enable gcc-toolset-12 bash</a:t>
            </a:r>
          </a:p>
          <a:p>
            <a:endParaRPr lang="en-US" sz="1600" dirty="0"/>
          </a:p>
          <a:p>
            <a:r>
              <a:rPr lang="en-US" sz="1600" dirty="0"/>
              <a:t>On Ubuntu</a:t>
            </a:r>
          </a:p>
          <a:p>
            <a:r>
              <a:rPr lang="en-US" sz="1600" dirty="0"/>
              <a:t>$ </a:t>
            </a:r>
            <a:r>
              <a:rPr lang="en-US" sz="1600" dirty="0" err="1"/>
              <a:t>sudo</a:t>
            </a:r>
            <a:r>
              <a:rPr lang="en-US" sz="1600" dirty="0"/>
              <a:t> apt install gcc-12</a:t>
            </a:r>
          </a:p>
          <a:p>
            <a:r>
              <a:rPr lang="en-US" sz="1600" dirty="0"/>
              <a:t>$ </a:t>
            </a:r>
            <a:r>
              <a:rPr lang="en-US" sz="1600" dirty="0" err="1"/>
              <a:t>sudo</a:t>
            </a:r>
            <a:r>
              <a:rPr lang="en-US" sz="1600" dirty="0"/>
              <a:t> update-alternatives --config </a:t>
            </a:r>
            <a:r>
              <a:rPr lang="en-US" sz="1600" dirty="0" err="1"/>
              <a:t>gcc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Update the Kernel version</a:t>
            </a:r>
          </a:p>
          <a:p>
            <a:endParaRPr lang="en-US" sz="1600" dirty="0"/>
          </a:p>
          <a:p>
            <a:r>
              <a:rPr lang="en-US" sz="1600" dirty="0"/>
              <a:t>The kernel version should be &gt; 10</a:t>
            </a:r>
          </a:p>
          <a:p>
            <a:endParaRPr lang="en-US" sz="1600" dirty="0"/>
          </a:p>
          <a:p>
            <a:r>
              <a:rPr lang="en-US" sz="1600" dirty="0"/>
              <a:t>$ </a:t>
            </a:r>
            <a:r>
              <a:rPr lang="en-US" sz="1600" dirty="0" err="1"/>
              <a:t>sudo</a:t>
            </a:r>
            <a:r>
              <a:rPr lang="en-US" sz="1600" dirty="0"/>
              <a:t> </a:t>
            </a:r>
            <a:r>
              <a:rPr lang="en-US" sz="1600" dirty="0" err="1"/>
              <a:t>dnf</a:t>
            </a:r>
            <a:r>
              <a:rPr lang="en-US" sz="1600" dirty="0"/>
              <a:t> install kernel-</a:t>
            </a:r>
            <a:r>
              <a:rPr lang="en-US" sz="1600" dirty="0" err="1"/>
              <a:t>uek</a:t>
            </a:r>
            <a:r>
              <a:rPr lang="en-US" sz="1600" dirty="0"/>
              <a:t>-</a:t>
            </a:r>
            <a:r>
              <a:rPr lang="en-US" sz="1600" dirty="0" err="1"/>
              <a:t>devel</a:t>
            </a:r>
            <a:r>
              <a:rPr lang="en-US" sz="1600" dirty="0"/>
              <a:t>-$(</a:t>
            </a:r>
            <a:r>
              <a:rPr lang="en-US" sz="1600" dirty="0" err="1"/>
              <a:t>uname</a:t>
            </a:r>
            <a:r>
              <a:rPr lang="en-US" sz="1600" dirty="0"/>
              <a:t> -r)</a:t>
            </a:r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86463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1503679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0110" y="1520190"/>
            <a:ext cx="7575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ourier New"/>
                <a:cs typeface="Courier New"/>
              </a:rPr>
              <a:t>make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Compile</a:t>
            </a:r>
            <a:r>
              <a:rPr spc="-90" dirty="0"/>
              <a:t> </a:t>
            </a:r>
            <a:r>
              <a:rPr spc="160" dirty="0"/>
              <a:t>the</a:t>
            </a:r>
            <a:r>
              <a:rPr spc="-90" dirty="0"/>
              <a:t> </a:t>
            </a:r>
            <a:r>
              <a:rPr spc="80" dirty="0"/>
              <a:t>program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302259" y="2057400"/>
            <a:ext cx="8553450" cy="3990340"/>
            <a:chOff x="302259" y="2057400"/>
            <a:chExt cx="8553450" cy="39903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2259" y="2057400"/>
              <a:ext cx="8553450" cy="399034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07970" y="2519680"/>
              <a:ext cx="935990" cy="288290"/>
            </a:xfrm>
            <a:custGeom>
              <a:avLst/>
              <a:gdLst/>
              <a:ahLst/>
              <a:cxnLst/>
              <a:rect l="l" t="t" r="r" b="b"/>
              <a:pathLst>
                <a:path w="935989" h="288289">
                  <a:moveTo>
                    <a:pt x="468630" y="288290"/>
                  </a:moveTo>
                  <a:lnTo>
                    <a:pt x="0" y="288290"/>
                  </a:lnTo>
                  <a:lnTo>
                    <a:pt x="0" y="0"/>
                  </a:lnTo>
                  <a:lnTo>
                    <a:pt x="935990" y="0"/>
                  </a:lnTo>
                  <a:lnTo>
                    <a:pt x="935990" y="288290"/>
                  </a:lnTo>
                  <a:lnTo>
                    <a:pt x="468630" y="288290"/>
                  </a:lnTo>
                  <a:close/>
                </a:path>
              </a:pathLst>
            </a:custGeom>
            <a:ln w="35941">
              <a:solidFill>
                <a:srgbClr val="ADC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File</a:t>
            </a:r>
            <a:r>
              <a:rPr spc="-190" dirty="0"/>
              <a:t> </a:t>
            </a:r>
            <a:r>
              <a:rPr spc="65" dirty="0"/>
              <a:t>generated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615" y="1875765"/>
            <a:ext cx="8229600" cy="13616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1503679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0110" y="1520190"/>
            <a:ext cx="276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insmod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hello.ko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Insert</a:t>
            </a:r>
            <a:r>
              <a:rPr spc="-110" dirty="0"/>
              <a:t> </a:t>
            </a:r>
            <a:r>
              <a:rPr spc="155" dirty="0"/>
              <a:t>the</a:t>
            </a:r>
            <a:r>
              <a:rPr spc="-110" dirty="0"/>
              <a:t> </a:t>
            </a:r>
            <a:r>
              <a:rPr spc="75" dirty="0"/>
              <a:t>module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62280" y="2585175"/>
            <a:ext cx="8288020" cy="1792605"/>
            <a:chOff x="462280" y="2585175"/>
            <a:chExt cx="8288020" cy="17926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280" y="2585175"/>
              <a:ext cx="8288020" cy="179251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312159" y="3239770"/>
              <a:ext cx="2592070" cy="288290"/>
            </a:xfrm>
            <a:custGeom>
              <a:avLst/>
              <a:gdLst/>
              <a:ahLst/>
              <a:cxnLst/>
              <a:rect l="l" t="t" r="r" b="b"/>
              <a:pathLst>
                <a:path w="2592070" h="288289">
                  <a:moveTo>
                    <a:pt x="1295400" y="288289"/>
                  </a:moveTo>
                  <a:lnTo>
                    <a:pt x="0" y="288289"/>
                  </a:lnTo>
                  <a:lnTo>
                    <a:pt x="0" y="0"/>
                  </a:lnTo>
                  <a:lnTo>
                    <a:pt x="2592069" y="0"/>
                  </a:lnTo>
                  <a:lnTo>
                    <a:pt x="2592069" y="288289"/>
                  </a:lnTo>
                  <a:lnTo>
                    <a:pt x="1295400" y="288289"/>
                  </a:lnTo>
                  <a:close/>
                </a:path>
              </a:pathLst>
            </a:custGeom>
            <a:ln w="35940">
              <a:solidFill>
                <a:srgbClr val="ADC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1503679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0110" y="1520190"/>
            <a:ext cx="940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ourier New"/>
                <a:cs typeface="Courier New"/>
              </a:rPr>
              <a:t>lsmod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Check</a:t>
            </a:r>
            <a:r>
              <a:rPr spc="-135" dirty="0"/>
              <a:t> </a:t>
            </a:r>
            <a:r>
              <a:rPr spc="155" dirty="0"/>
              <a:t>the</a:t>
            </a:r>
            <a:r>
              <a:rPr spc="-125" dirty="0"/>
              <a:t> </a:t>
            </a:r>
            <a:r>
              <a:rPr spc="85" dirty="0"/>
              <a:t>module</a:t>
            </a:r>
            <a:r>
              <a:rPr spc="-120" dirty="0"/>
              <a:t> </a:t>
            </a:r>
            <a:r>
              <a:rPr spc="70" dirty="0"/>
              <a:t>in</a:t>
            </a:r>
            <a:r>
              <a:rPr spc="-135" dirty="0"/>
              <a:t> </a:t>
            </a:r>
            <a:r>
              <a:rPr spc="155" dirty="0"/>
              <a:t>the</a:t>
            </a:r>
            <a:r>
              <a:rPr spc="-120" dirty="0"/>
              <a:t> </a:t>
            </a:r>
            <a:r>
              <a:rPr spc="95" dirty="0"/>
              <a:t>list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297179" y="2251710"/>
            <a:ext cx="8553450" cy="3580129"/>
            <a:chOff x="297179" y="2251710"/>
            <a:chExt cx="8553450" cy="358012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7179" y="2251710"/>
              <a:ext cx="8553450" cy="256159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87779" y="3559810"/>
              <a:ext cx="3968750" cy="1983739"/>
            </a:xfrm>
            <a:custGeom>
              <a:avLst/>
              <a:gdLst/>
              <a:ahLst/>
              <a:cxnLst/>
              <a:rect l="l" t="t" r="r" b="b"/>
              <a:pathLst>
                <a:path w="3968750" h="1983739">
                  <a:moveTo>
                    <a:pt x="3968750" y="1983739"/>
                  </a:moveTo>
                  <a:lnTo>
                    <a:pt x="0" y="0"/>
                  </a:lnTo>
                </a:path>
              </a:pathLst>
            </a:custGeom>
            <a:ln w="35941">
              <a:solidFill>
                <a:srgbClr val="FF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79499" y="3455670"/>
              <a:ext cx="254000" cy="181610"/>
            </a:xfrm>
            <a:custGeom>
              <a:avLst/>
              <a:gdLst/>
              <a:ahLst/>
              <a:cxnLst/>
              <a:rect l="l" t="t" r="r" b="b"/>
              <a:pathLst>
                <a:path w="254000" h="181610">
                  <a:moveTo>
                    <a:pt x="0" y="0"/>
                  </a:moveTo>
                  <a:lnTo>
                    <a:pt x="181609" y="181609"/>
                  </a:lnTo>
                  <a:lnTo>
                    <a:pt x="254000" y="368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27650" y="5472430"/>
              <a:ext cx="1512570" cy="359410"/>
            </a:xfrm>
            <a:custGeom>
              <a:avLst/>
              <a:gdLst/>
              <a:ahLst/>
              <a:cxnLst/>
              <a:rect l="l" t="t" r="r" b="b"/>
              <a:pathLst>
                <a:path w="1512570" h="359410">
                  <a:moveTo>
                    <a:pt x="1512570" y="0"/>
                  </a:moveTo>
                  <a:lnTo>
                    <a:pt x="0" y="0"/>
                  </a:lnTo>
                  <a:lnTo>
                    <a:pt x="0" y="359410"/>
                  </a:lnTo>
                  <a:lnTo>
                    <a:pt x="756920" y="359410"/>
                  </a:lnTo>
                  <a:lnTo>
                    <a:pt x="1512570" y="359410"/>
                  </a:lnTo>
                  <a:lnTo>
                    <a:pt x="151257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27650" y="5472429"/>
            <a:ext cx="1512570" cy="359410"/>
          </a:xfrm>
          <a:prstGeom prst="rect">
            <a:avLst/>
          </a:prstGeom>
          <a:ln w="3175">
            <a:solidFill>
              <a:srgbClr val="CCFFCC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330"/>
              </a:spcBef>
            </a:pPr>
            <a:r>
              <a:rPr sz="1800" dirty="0">
                <a:latin typeface="Arial MT"/>
                <a:cs typeface="Arial MT"/>
              </a:rPr>
              <a:t>hello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module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880360" y="2807970"/>
            <a:ext cx="1367790" cy="288290"/>
          </a:xfrm>
          <a:custGeom>
            <a:avLst/>
            <a:gdLst/>
            <a:ahLst/>
            <a:cxnLst/>
            <a:rect l="l" t="t" r="r" b="b"/>
            <a:pathLst>
              <a:path w="1367789" h="288289">
                <a:moveTo>
                  <a:pt x="683260" y="288289"/>
                </a:moveTo>
                <a:lnTo>
                  <a:pt x="0" y="288289"/>
                </a:lnTo>
                <a:lnTo>
                  <a:pt x="0" y="0"/>
                </a:lnTo>
                <a:lnTo>
                  <a:pt x="1367789" y="0"/>
                </a:lnTo>
                <a:lnTo>
                  <a:pt x="1367789" y="288289"/>
                </a:lnTo>
                <a:lnTo>
                  <a:pt x="683260" y="288289"/>
                </a:lnTo>
                <a:close/>
              </a:path>
            </a:pathLst>
          </a:custGeom>
          <a:ln w="35941">
            <a:solidFill>
              <a:srgbClr val="ADCE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43550" y="5831840"/>
            <a:ext cx="2592070" cy="360680"/>
          </a:xfrm>
          <a:custGeom>
            <a:avLst/>
            <a:gdLst/>
            <a:ahLst/>
            <a:cxnLst/>
            <a:rect l="l" t="t" r="r" b="b"/>
            <a:pathLst>
              <a:path w="2592070" h="360679">
                <a:moveTo>
                  <a:pt x="2592070" y="0"/>
                </a:moveTo>
                <a:lnTo>
                  <a:pt x="0" y="0"/>
                </a:lnTo>
                <a:lnTo>
                  <a:pt x="0" y="360680"/>
                </a:lnTo>
                <a:lnTo>
                  <a:pt x="1296670" y="360680"/>
                </a:lnTo>
                <a:lnTo>
                  <a:pt x="2592070" y="360680"/>
                </a:lnTo>
                <a:lnTo>
                  <a:pt x="2592070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7209" y="1503679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0110" y="1520190"/>
            <a:ext cx="940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ourier New"/>
                <a:cs typeface="Courier New"/>
              </a:rPr>
              <a:t>dmesg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Check</a:t>
            </a:r>
            <a:r>
              <a:rPr spc="-130" dirty="0"/>
              <a:t> </a:t>
            </a:r>
            <a:r>
              <a:rPr spc="60" dirty="0"/>
              <a:t>kernel</a:t>
            </a:r>
            <a:r>
              <a:rPr spc="-135" dirty="0"/>
              <a:t> </a:t>
            </a:r>
            <a:r>
              <a:rPr spc="105" dirty="0"/>
              <a:t>ring</a:t>
            </a:r>
            <a:r>
              <a:rPr spc="-140" dirty="0"/>
              <a:t> </a:t>
            </a:r>
            <a:r>
              <a:rPr spc="175" dirty="0"/>
              <a:t>buffer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43550" y="5831840"/>
            <a:ext cx="2592070" cy="360680"/>
          </a:xfrm>
          <a:prstGeom prst="rect">
            <a:avLst/>
          </a:prstGeom>
          <a:ln w="3175">
            <a:solidFill>
              <a:srgbClr val="CCFFCC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340"/>
              </a:spcBef>
            </a:pPr>
            <a:r>
              <a:rPr sz="1800" dirty="0">
                <a:latin typeface="Arial MT"/>
                <a:cs typeface="Arial MT"/>
              </a:rPr>
              <a:t>Output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hello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module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9409" y="2160270"/>
            <a:ext cx="8536305" cy="3834765"/>
            <a:chOff x="359409" y="2160270"/>
            <a:chExt cx="8536305" cy="383476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409" y="2160270"/>
              <a:ext cx="8536132" cy="280796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577589" y="4664710"/>
              <a:ext cx="1965960" cy="1311910"/>
            </a:xfrm>
            <a:custGeom>
              <a:avLst/>
              <a:gdLst/>
              <a:ahLst/>
              <a:cxnLst/>
              <a:rect l="l" t="t" r="r" b="b"/>
              <a:pathLst>
                <a:path w="1965960" h="1311910">
                  <a:moveTo>
                    <a:pt x="1965960" y="1311909"/>
                  </a:moveTo>
                  <a:lnTo>
                    <a:pt x="0" y="0"/>
                  </a:lnTo>
                </a:path>
              </a:pathLst>
            </a:custGeom>
            <a:ln w="35941">
              <a:solidFill>
                <a:srgbClr val="FF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84549" y="4536440"/>
              <a:ext cx="246379" cy="201930"/>
            </a:xfrm>
            <a:custGeom>
              <a:avLst/>
              <a:gdLst/>
              <a:ahLst/>
              <a:cxnLst/>
              <a:rect l="l" t="t" r="r" b="b"/>
              <a:pathLst>
                <a:path w="246379" h="201929">
                  <a:moveTo>
                    <a:pt x="0" y="0"/>
                  </a:moveTo>
                  <a:lnTo>
                    <a:pt x="156210" y="201930"/>
                  </a:lnTo>
                  <a:lnTo>
                    <a:pt x="246379" y="673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1503679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0110" y="1520190"/>
            <a:ext cx="276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dmesg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|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tail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­</a:t>
            </a:r>
            <a:r>
              <a:rPr sz="2400" b="1" spc="-50" dirty="0">
                <a:latin typeface="Courier New"/>
                <a:cs typeface="Courier New"/>
              </a:rPr>
              <a:t>1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Check</a:t>
            </a:r>
            <a:r>
              <a:rPr spc="-130" dirty="0"/>
              <a:t> </a:t>
            </a:r>
            <a:r>
              <a:rPr spc="60" dirty="0"/>
              <a:t>kernel</a:t>
            </a:r>
            <a:r>
              <a:rPr spc="-135" dirty="0"/>
              <a:t> </a:t>
            </a:r>
            <a:r>
              <a:rPr spc="105" dirty="0"/>
              <a:t>ring</a:t>
            </a:r>
            <a:r>
              <a:rPr spc="-140" dirty="0"/>
              <a:t> </a:t>
            </a:r>
            <a:r>
              <a:rPr spc="175" dirty="0"/>
              <a:t>buffer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1900" y="2663189"/>
            <a:ext cx="6400800" cy="20193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18159" y="1545252"/>
          <a:ext cx="4086860" cy="22618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0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2305">
                <a:tc>
                  <a:txBody>
                    <a:bodyPr/>
                    <a:lstStyle/>
                    <a:p>
                      <a:pPr marL="374015" indent="-342265">
                        <a:lnSpc>
                          <a:spcPts val="2785"/>
                        </a:lnSpc>
                        <a:buClr>
                          <a:srgbClr val="6697CC"/>
                        </a:buClr>
                        <a:buFont typeface="Arial MT"/>
                        <a:buChar char="•"/>
                        <a:tabLst>
                          <a:tab pos="374015" algn="l"/>
                        </a:tabLst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rmmod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785"/>
                        </a:lnSpc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hello.ko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7894">
                <a:tc>
                  <a:txBody>
                    <a:bodyPr/>
                    <a:lstStyle/>
                    <a:p>
                      <a:pPr marL="374015" indent="-342265">
                        <a:lnSpc>
                          <a:spcPct val="100000"/>
                        </a:lnSpc>
                        <a:spcBef>
                          <a:spcPts val="2075"/>
                        </a:spcBef>
                        <a:buClr>
                          <a:srgbClr val="6697CC"/>
                        </a:buClr>
                        <a:buFont typeface="Arial MT"/>
                        <a:buChar char="•"/>
                        <a:tabLst>
                          <a:tab pos="374015" algn="l"/>
                        </a:tabLst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dmesg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263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5115">
                        <a:lnSpc>
                          <a:spcPct val="100000"/>
                        </a:lnSpc>
                        <a:spcBef>
                          <a:spcPts val="2075"/>
                        </a:spcBef>
                      </a:pPr>
                      <a:r>
                        <a:rPr sz="2400" b="1" spc="-25" dirty="0">
                          <a:latin typeface="Courier New"/>
                          <a:cs typeface="Courier New"/>
                        </a:rPr>
                        <a:t>or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2635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670">
                <a:tc>
                  <a:txBody>
                    <a:bodyPr/>
                    <a:lstStyle/>
                    <a:p>
                      <a:pPr marL="374015" indent="-342265">
                        <a:lnSpc>
                          <a:spcPct val="100000"/>
                        </a:lnSpc>
                        <a:spcBef>
                          <a:spcPts val="2070"/>
                        </a:spcBef>
                        <a:buClr>
                          <a:srgbClr val="6697CC"/>
                        </a:buClr>
                        <a:buFont typeface="Arial MT"/>
                        <a:buChar char="•"/>
                        <a:tabLst>
                          <a:tab pos="374015" algn="l"/>
                        </a:tabLst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dmesg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26289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070"/>
                        </a:spcBef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|</a:t>
                      </a:r>
                      <a:r>
                        <a:rPr sz="2400" b="1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dirty="0">
                          <a:latin typeface="Courier New"/>
                          <a:cs typeface="Courier New"/>
                        </a:rPr>
                        <a:t>tail</a:t>
                      </a:r>
                      <a:r>
                        <a:rPr sz="2400" b="1" spc="-10" dirty="0">
                          <a:latin typeface="Courier New"/>
                          <a:cs typeface="Courier New"/>
                        </a:rPr>
                        <a:t> ­</a:t>
                      </a:r>
                      <a:r>
                        <a:rPr sz="2400" b="1" spc="-50" dirty="0">
                          <a:latin typeface="Courier New"/>
                          <a:cs typeface="Courier New"/>
                        </a:rPr>
                        <a:t>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262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Removing</a:t>
            </a:r>
            <a:r>
              <a:rPr spc="-140" dirty="0"/>
              <a:t> </a:t>
            </a:r>
            <a:r>
              <a:rPr spc="160" dirty="0"/>
              <a:t>the</a:t>
            </a:r>
            <a:r>
              <a:rPr spc="-130" dirty="0"/>
              <a:t> </a:t>
            </a:r>
            <a:r>
              <a:rPr spc="75" dirty="0"/>
              <a:t>module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1503679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0110" y="1520190"/>
            <a:ext cx="7759065" cy="42697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680720">
              <a:lnSpc>
                <a:spcPct val="100499"/>
              </a:lnSpc>
              <a:spcBef>
                <a:spcPts val="85"/>
              </a:spcBef>
            </a:pPr>
            <a:r>
              <a:rPr sz="2400" spc="-20" dirty="0">
                <a:latin typeface="Microsoft Sans Serif"/>
                <a:cs typeface="Microsoft Sans Serif"/>
              </a:rPr>
              <a:t>The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0000FF"/>
                </a:solidFill>
                <a:latin typeface="Microsoft Sans Serif"/>
                <a:cs typeface="Microsoft Sans Serif"/>
              </a:rPr>
              <a:t>dmesg</a:t>
            </a:r>
            <a:r>
              <a:rPr sz="2400" spc="-8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command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used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155" dirty="0">
                <a:latin typeface="Microsoft Sans Serif"/>
                <a:cs typeface="Microsoft Sans Serif"/>
              </a:rPr>
              <a:t>to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write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100" dirty="0">
                <a:latin typeface="Microsoft Sans Serif"/>
                <a:cs typeface="Microsoft Sans Serif"/>
              </a:rPr>
              <a:t>the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kernel </a:t>
            </a:r>
            <a:r>
              <a:rPr sz="2400" spc="-50" dirty="0">
                <a:latin typeface="Microsoft Sans Serif"/>
                <a:cs typeface="Microsoft Sans Serif"/>
              </a:rPr>
              <a:t>messages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Linux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100" dirty="0">
                <a:latin typeface="Microsoft Sans Serif"/>
                <a:cs typeface="Microsoft Sans Serif"/>
              </a:rPr>
              <a:t>other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Unix-like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50" dirty="0">
                <a:latin typeface="Microsoft Sans Serif"/>
                <a:cs typeface="Microsoft Sans Serif"/>
              </a:rPr>
              <a:t>operating </a:t>
            </a:r>
            <a:r>
              <a:rPr sz="2400" spc="-10" dirty="0">
                <a:latin typeface="Microsoft Sans Serif"/>
                <a:cs typeface="Microsoft Sans Serif"/>
              </a:rPr>
              <a:t>systems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155" dirty="0">
                <a:latin typeface="Microsoft Sans Serif"/>
                <a:cs typeface="Microsoft Sans Serif"/>
              </a:rPr>
              <a:t>to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standard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130" dirty="0">
                <a:latin typeface="Microsoft Sans Serif"/>
                <a:cs typeface="Microsoft Sans Serif"/>
              </a:rPr>
              <a:t>output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(which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by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90" dirty="0">
                <a:latin typeface="Microsoft Sans Serif"/>
                <a:cs typeface="Microsoft Sans Serif"/>
              </a:rPr>
              <a:t>default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is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80" dirty="0">
                <a:latin typeface="Microsoft Sans Serif"/>
                <a:cs typeface="Microsoft Sans Serif"/>
              </a:rPr>
              <a:t>the </a:t>
            </a:r>
            <a:r>
              <a:rPr sz="2400" dirty="0">
                <a:latin typeface="Microsoft Sans Serif"/>
                <a:cs typeface="Microsoft Sans Serif"/>
              </a:rPr>
              <a:t>display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screen).</a:t>
            </a:r>
            <a:endParaRPr sz="2400">
              <a:latin typeface="Microsoft Sans Serif"/>
              <a:cs typeface="Microsoft Sans Serif"/>
            </a:endParaRPr>
          </a:p>
          <a:p>
            <a:pPr marL="12700" marR="5080">
              <a:lnSpc>
                <a:spcPct val="100499"/>
              </a:lnSpc>
              <a:spcBef>
                <a:spcPts val="795"/>
              </a:spcBef>
            </a:pPr>
            <a:r>
              <a:rPr sz="2400" dirty="0">
                <a:solidFill>
                  <a:srgbClr val="0000FF"/>
                </a:solidFill>
                <a:latin typeface="Microsoft Sans Serif"/>
                <a:cs typeface="Microsoft Sans Serif"/>
              </a:rPr>
              <a:t>dmesg</a:t>
            </a:r>
            <a:r>
              <a:rPr sz="2400" spc="20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obtains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its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data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by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reading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kernel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ring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buffer.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120" dirty="0">
                <a:latin typeface="Microsoft Sans Serif"/>
                <a:cs typeface="Microsoft Sans Serif"/>
              </a:rPr>
              <a:t>buffer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is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a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portion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160" dirty="0">
                <a:latin typeface="Microsoft Sans Serif"/>
                <a:cs typeface="Microsoft Sans Serif"/>
              </a:rPr>
              <a:t>of</a:t>
            </a:r>
            <a:r>
              <a:rPr sz="2400" spc="-105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a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computer's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50" dirty="0">
                <a:latin typeface="Microsoft Sans Serif"/>
                <a:cs typeface="Microsoft Sans Serif"/>
              </a:rPr>
              <a:t>memory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125" dirty="0">
                <a:latin typeface="Microsoft Sans Serif"/>
                <a:cs typeface="Microsoft Sans Serif"/>
              </a:rPr>
              <a:t>that</a:t>
            </a:r>
            <a:r>
              <a:rPr sz="2400" spc="-10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25" dirty="0">
                <a:latin typeface="Microsoft Sans Serif"/>
                <a:cs typeface="Microsoft Sans Serif"/>
              </a:rPr>
              <a:t>set </a:t>
            </a:r>
            <a:r>
              <a:rPr sz="2400" spc="-20" dirty="0">
                <a:latin typeface="Microsoft Sans Serif"/>
                <a:cs typeface="Microsoft Sans Serif"/>
              </a:rPr>
              <a:t>aside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-125" dirty="0">
                <a:latin typeface="Microsoft Sans Serif"/>
                <a:cs typeface="Microsoft Sans Serif"/>
              </a:rPr>
              <a:t>as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a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temporary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holding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place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145" dirty="0">
                <a:latin typeface="Microsoft Sans Serif"/>
                <a:cs typeface="Microsoft Sans Serif"/>
              </a:rPr>
              <a:t>for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data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130" dirty="0">
                <a:latin typeface="Microsoft Sans Serif"/>
                <a:cs typeface="Microsoft Sans Serif"/>
              </a:rPr>
              <a:t>that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being </a:t>
            </a:r>
            <a:r>
              <a:rPr sz="2400" spc="50" dirty="0">
                <a:latin typeface="Microsoft Sans Serif"/>
                <a:cs typeface="Microsoft Sans Serif"/>
              </a:rPr>
              <a:t>sent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155" dirty="0">
                <a:latin typeface="Microsoft Sans Serif"/>
                <a:cs typeface="Microsoft Sans Serif"/>
              </a:rPr>
              <a:t>to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90" dirty="0">
                <a:latin typeface="Microsoft Sans Serif"/>
                <a:cs typeface="Microsoft Sans Serif"/>
              </a:rPr>
              <a:t>or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received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120" dirty="0">
                <a:latin typeface="Microsoft Sans Serif"/>
                <a:cs typeface="Microsoft Sans Serif"/>
              </a:rPr>
              <a:t>from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an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external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device,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-40" dirty="0">
                <a:latin typeface="Microsoft Sans Serif"/>
                <a:cs typeface="Microsoft Sans Serif"/>
              </a:rPr>
              <a:t>such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-125" dirty="0">
                <a:latin typeface="Microsoft Sans Serif"/>
                <a:cs typeface="Microsoft Sans Serif"/>
              </a:rPr>
              <a:t>as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a </a:t>
            </a:r>
            <a:r>
              <a:rPr sz="2400" dirty="0">
                <a:latin typeface="Microsoft Sans Serif"/>
                <a:cs typeface="Microsoft Sans Serif"/>
              </a:rPr>
              <a:t>hard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disk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drive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60" dirty="0">
                <a:latin typeface="Microsoft Sans Serif"/>
                <a:cs typeface="Microsoft Sans Serif"/>
              </a:rPr>
              <a:t>(HDD),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90" dirty="0">
                <a:latin typeface="Microsoft Sans Serif"/>
                <a:cs typeface="Microsoft Sans Serif"/>
              </a:rPr>
              <a:t>printer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90" dirty="0">
                <a:latin typeface="Microsoft Sans Serif"/>
                <a:cs typeface="Microsoft Sans Serif"/>
              </a:rPr>
              <a:t>or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keyboard.</a:t>
            </a:r>
            <a:endParaRPr sz="2400">
              <a:latin typeface="Microsoft Sans Serif"/>
              <a:cs typeface="Microsoft Sans Serif"/>
            </a:endParaRPr>
          </a:p>
          <a:p>
            <a:pPr marL="12700" marR="231140">
              <a:lnSpc>
                <a:spcPct val="100699"/>
              </a:lnSpc>
              <a:spcBef>
                <a:spcPts val="790"/>
              </a:spcBef>
            </a:pP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ring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120" dirty="0">
                <a:latin typeface="Microsoft Sans Serif"/>
                <a:cs typeface="Microsoft Sans Serif"/>
              </a:rPr>
              <a:t>buffer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is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a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120" dirty="0">
                <a:latin typeface="Microsoft Sans Serif"/>
                <a:cs typeface="Microsoft Sans Serif"/>
              </a:rPr>
              <a:t>buffer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160" dirty="0">
                <a:latin typeface="Microsoft Sans Serif"/>
                <a:cs typeface="Microsoft Sans Serif"/>
              </a:rPr>
              <a:t>of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fixed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-55" dirty="0">
                <a:latin typeface="Microsoft Sans Serif"/>
                <a:cs typeface="Microsoft Sans Serif"/>
              </a:rPr>
              <a:t>size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145" dirty="0">
                <a:latin typeface="Microsoft Sans Serif"/>
                <a:cs typeface="Microsoft Sans Serif"/>
              </a:rPr>
              <a:t>for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which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-40" dirty="0">
                <a:latin typeface="Microsoft Sans Serif"/>
                <a:cs typeface="Microsoft Sans Serif"/>
              </a:rPr>
              <a:t>any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25" dirty="0">
                <a:latin typeface="Microsoft Sans Serif"/>
                <a:cs typeface="Microsoft Sans Serif"/>
              </a:rPr>
              <a:t>new </a:t>
            </a:r>
            <a:r>
              <a:rPr sz="2400" dirty="0">
                <a:latin typeface="Microsoft Sans Serif"/>
                <a:cs typeface="Microsoft Sans Serif"/>
              </a:rPr>
              <a:t>data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added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160" dirty="0">
                <a:latin typeface="Microsoft Sans Serif"/>
                <a:cs typeface="Microsoft Sans Serif"/>
              </a:rPr>
              <a:t>to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175" dirty="0">
                <a:latin typeface="Microsoft Sans Serif"/>
                <a:cs typeface="Microsoft Sans Serif"/>
              </a:rPr>
              <a:t>it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50" dirty="0">
                <a:latin typeface="Microsoft Sans Serif"/>
                <a:cs typeface="Microsoft Sans Serif"/>
              </a:rPr>
              <a:t>overwrites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oldest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data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it.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209" y="3075940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7209" y="5015229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7209" y="335279"/>
            <a:ext cx="32353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What</a:t>
            </a:r>
            <a:r>
              <a:rPr spc="-165" dirty="0"/>
              <a:t> </a:t>
            </a:r>
            <a:r>
              <a:rPr spc="-20" dirty="0"/>
              <a:t>is</a:t>
            </a:r>
            <a:r>
              <a:rPr spc="-160" dirty="0"/>
              <a:t> </a:t>
            </a:r>
            <a:r>
              <a:rPr spc="-60" dirty="0"/>
              <a:t>dmesg?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1503679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1572" rIns="0" bIns="0" rtlCol="0">
            <a:spAutoFit/>
          </a:bodyPr>
          <a:lstStyle/>
          <a:p>
            <a:pPr marL="67310" marR="748030">
              <a:lnSpc>
                <a:spcPct val="100699"/>
              </a:lnSpc>
              <a:spcBef>
                <a:spcPts val="80"/>
              </a:spcBef>
            </a:pPr>
            <a:r>
              <a:rPr spc="-20" dirty="0"/>
              <a:t>The</a:t>
            </a:r>
            <a:r>
              <a:rPr spc="-45" dirty="0"/>
              <a:t> </a:t>
            </a:r>
            <a:r>
              <a:rPr dirty="0"/>
              <a:t>kernel</a:t>
            </a:r>
            <a:r>
              <a:rPr spc="-50" dirty="0"/>
              <a:t> </a:t>
            </a:r>
            <a:r>
              <a:rPr spc="110" dirty="0"/>
              <a:t>print</a:t>
            </a:r>
            <a:r>
              <a:rPr spc="-55" dirty="0"/>
              <a:t> </a:t>
            </a:r>
            <a:r>
              <a:rPr spc="60" dirty="0"/>
              <a:t>function,</a:t>
            </a:r>
            <a:r>
              <a:rPr spc="-50" dirty="0"/>
              <a:t> </a:t>
            </a:r>
            <a:r>
              <a:rPr spc="70" dirty="0"/>
              <a:t>printk(),</a:t>
            </a:r>
            <a:r>
              <a:rPr spc="-50" dirty="0"/>
              <a:t> </a:t>
            </a:r>
            <a:r>
              <a:rPr spc="-30" dirty="0"/>
              <a:t>behaves</a:t>
            </a:r>
            <a:r>
              <a:rPr spc="-45" dirty="0"/>
              <a:t> </a:t>
            </a:r>
            <a:r>
              <a:rPr spc="-10" dirty="0"/>
              <a:t>almost </a:t>
            </a:r>
            <a:r>
              <a:rPr dirty="0"/>
              <a:t>identically </a:t>
            </a:r>
            <a:r>
              <a:rPr spc="155" dirty="0"/>
              <a:t>to</a:t>
            </a:r>
            <a:r>
              <a:rPr spc="5" dirty="0"/>
              <a:t> </a:t>
            </a:r>
            <a:r>
              <a:rPr spc="105" dirty="0"/>
              <a:t>the</a:t>
            </a:r>
            <a:r>
              <a:rPr dirty="0"/>
              <a:t> </a:t>
            </a:r>
            <a:r>
              <a:rPr spc="-265" dirty="0"/>
              <a:t>C</a:t>
            </a:r>
            <a:r>
              <a:rPr spc="5" dirty="0"/>
              <a:t> </a:t>
            </a:r>
            <a:r>
              <a:rPr spc="55" dirty="0"/>
              <a:t>library</a:t>
            </a:r>
            <a:r>
              <a:rPr dirty="0"/>
              <a:t> </a:t>
            </a:r>
            <a:r>
              <a:rPr spc="114" dirty="0"/>
              <a:t>printf()</a:t>
            </a:r>
            <a:r>
              <a:rPr spc="10" dirty="0"/>
              <a:t> </a:t>
            </a:r>
            <a:r>
              <a:rPr spc="50" dirty="0"/>
              <a:t>function.</a:t>
            </a:r>
          </a:p>
          <a:p>
            <a:pPr marL="67310" marR="45085">
              <a:lnSpc>
                <a:spcPct val="100499"/>
              </a:lnSpc>
              <a:spcBef>
                <a:spcPts val="795"/>
              </a:spcBef>
            </a:pPr>
            <a:r>
              <a:rPr spc="80" dirty="0"/>
              <a:t>printk(</a:t>
            </a:r>
            <a:r>
              <a:rPr spc="-60" dirty="0"/>
              <a:t> </a:t>
            </a:r>
            <a:r>
              <a:rPr dirty="0"/>
              <a:t>)</a:t>
            </a:r>
            <a:r>
              <a:rPr spc="-60" dirty="0"/>
              <a:t> </a:t>
            </a:r>
            <a:r>
              <a:rPr spc="-20" dirty="0"/>
              <a:t>is</a:t>
            </a:r>
            <a:r>
              <a:rPr spc="-70" dirty="0"/>
              <a:t> </a:t>
            </a:r>
            <a:r>
              <a:rPr dirty="0"/>
              <a:t>simply</a:t>
            </a:r>
            <a:r>
              <a:rPr spc="-65" dirty="0"/>
              <a:t> </a:t>
            </a:r>
            <a:r>
              <a:rPr spc="105" dirty="0"/>
              <a:t>the</a:t>
            </a:r>
            <a:r>
              <a:rPr spc="-55" dirty="0"/>
              <a:t> </a:t>
            </a:r>
            <a:r>
              <a:rPr dirty="0"/>
              <a:t>name</a:t>
            </a:r>
            <a:r>
              <a:rPr spc="-55" dirty="0"/>
              <a:t> </a:t>
            </a:r>
            <a:r>
              <a:rPr spc="155" dirty="0"/>
              <a:t>of</a:t>
            </a:r>
            <a:r>
              <a:rPr spc="-55" dirty="0"/>
              <a:t> </a:t>
            </a:r>
            <a:r>
              <a:rPr spc="105" dirty="0"/>
              <a:t>the</a:t>
            </a:r>
            <a:r>
              <a:rPr spc="-65" dirty="0"/>
              <a:t> </a:t>
            </a:r>
            <a:r>
              <a:rPr dirty="0"/>
              <a:t>kernel's</a:t>
            </a:r>
            <a:r>
              <a:rPr spc="-60" dirty="0"/>
              <a:t> </a:t>
            </a:r>
            <a:r>
              <a:rPr spc="100" dirty="0"/>
              <a:t>formatted </a:t>
            </a:r>
            <a:r>
              <a:rPr spc="110" dirty="0"/>
              <a:t>print</a:t>
            </a:r>
            <a:r>
              <a:rPr spc="-70" dirty="0"/>
              <a:t> </a:t>
            </a:r>
            <a:r>
              <a:rPr spc="60" dirty="0"/>
              <a:t>function.</a:t>
            </a:r>
            <a:r>
              <a:rPr spc="-65" dirty="0"/>
              <a:t> </a:t>
            </a:r>
            <a:r>
              <a:rPr spc="135" dirty="0"/>
              <a:t>It</a:t>
            </a:r>
            <a:r>
              <a:rPr spc="-65" dirty="0"/>
              <a:t> </a:t>
            </a:r>
            <a:r>
              <a:rPr spc="-20" dirty="0"/>
              <a:t>is</a:t>
            </a:r>
            <a:r>
              <a:rPr spc="-65" dirty="0"/>
              <a:t> </a:t>
            </a:r>
            <a:r>
              <a:rPr dirty="0"/>
              <a:t>callable</a:t>
            </a:r>
            <a:r>
              <a:rPr spc="-55" dirty="0"/>
              <a:t> </a:t>
            </a:r>
            <a:r>
              <a:rPr spc="120" dirty="0"/>
              <a:t>from</a:t>
            </a:r>
            <a:r>
              <a:rPr spc="-65" dirty="0"/>
              <a:t> </a:t>
            </a:r>
            <a:r>
              <a:rPr spc="65" dirty="0"/>
              <a:t>just</a:t>
            </a:r>
            <a:r>
              <a:rPr spc="-65" dirty="0"/>
              <a:t> </a:t>
            </a:r>
            <a:r>
              <a:rPr spc="70" dirty="0"/>
              <a:t>about</a:t>
            </a:r>
            <a:r>
              <a:rPr spc="-70" dirty="0"/>
              <a:t> </a:t>
            </a:r>
            <a:r>
              <a:rPr dirty="0"/>
              <a:t>anywhere</a:t>
            </a:r>
            <a:r>
              <a:rPr spc="-65" dirty="0"/>
              <a:t> </a:t>
            </a:r>
            <a:r>
              <a:rPr spc="-25" dirty="0"/>
              <a:t>in </a:t>
            </a:r>
            <a:r>
              <a:rPr spc="105" dirty="0"/>
              <a:t>the</a:t>
            </a:r>
            <a:r>
              <a:rPr spc="-45" dirty="0"/>
              <a:t> </a:t>
            </a:r>
            <a:r>
              <a:rPr dirty="0"/>
              <a:t>kernel</a:t>
            </a:r>
            <a:r>
              <a:rPr spc="-35" dirty="0"/>
              <a:t> </a:t>
            </a:r>
            <a:r>
              <a:rPr spc="95" dirty="0"/>
              <a:t>at</a:t>
            </a:r>
            <a:r>
              <a:rPr spc="-40" dirty="0"/>
              <a:t> any</a:t>
            </a:r>
            <a:r>
              <a:rPr spc="-45" dirty="0"/>
              <a:t> </a:t>
            </a:r>
            <a:r>
              <a:rPr spc="45" dirty="0"/>
              <a:t>time.</a:t>
            </a:r>
          </a:p>
          <a:p>
            <a:pPr marL="67310" marR="407034">
              <a:lnSpc>
                <a:spcPct val="100299"/>
              </a:lnSpc>
              <a:spcBef>
                <a:spcPts val="800"/>
              </a:spcBef>
            </a:pPr>
            <a:r>
              <a:rPr spc="-20" dirty="0"/>
              <a:t>The</a:t>
            </a:r>
            <a:r>
              <a:rPr spc="-55" dirty="0"/>
              <a:t> </a:t>
            </a:r>
            <a:r>
              <a:rPr dirty="0"/>
              <a:t>major</a:t>
            </a:r>
            <a:r>
              <a:rPr spc="-65" dirty="0"/>
              <a:t> </a:t>
            </a:r>
            <a:r>
              <a:rPr spc="70" dirty="0"/>
              <a:t>difference</a:t>
            </a:r>
            <a:r>
              <a:rPr spc="-55" dirty="0"/>
              <a:t> </a:t>
            </a:r>
            <a:r>
              <a:rPr spc="70" dirty="0"/>
              <a:t>between</a:t>
            </a:r>
            <a:r>
              <a:rPr spc="-45" dirty="0"/>
              <a:t> </a:t>
            </a:r>
            <a:r>
              <a:rPr spc="90" dirty="0"/>
              <a:t>printk()</a:t>
            </a:r>
            <a:r>
              <a:rPr spc="-5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114" dirty="0"/>
              <a:t>printf()</a:t>
            </a:r>
            <a:r>
              <a:rPr spc="-55" dirty="0"/>
              <a:t> </a:t>
            </a:r>
            <a:r>
              <a:rPr spc="-25" dirty="0"/>
              <a:t>is </a:t>
            </a:r>
            <a:r>
              <a:rPr spc="105" dirty="0"/>
              <a:t>the</a:t>
            </a:r>
            <a:r>
              <a:rPr spc="-30" dirty="0"/>
              <a:t> </a:t>
            </a:r>
            <a:r>
              <a:rPr dirty="0"/>
              <a:t>capability</a:t>
            </a:r>
            <a:r>
              <a:rPr spc="-30" dirty="0"/>
              <a:t> </a:t>
            </a:r>
            <a:r>
              <a:rPr spc="160" dirty="0"/>
              <a:t>of</a:t>
            </a:r>
            <a:r>
              <a:rPr spc="-30" dirty="0"/>
              <a:t> </a:t>
            </a:r>
            <a:r>
              <a:rPr spc="105" dirty="0"/>
              <a:t>the</a:t>
            </a:r>
            <a:r>
              <a:rPr spc="-20" dirty="0"/>
              <a:t> </a:t>
            </a:r>
            <a:r>
              <a:rPr spc="100" dirty="0"/>
              <a:t>former</a:t>
            </a:r>
            <a:r>
              <a:rPr spc="-30" dirty="0"/>
              <a:t> </a:t>
            </a:r>
            <a:r>
              <a:rPr spc="160" dirty="0"/>
              <a:t>to</a:t>
            </a:r>
            <a:r>
              <a:rPr spc="-25" dirty="0"/>
              <a:t> </a:t>
            </a:r>
            <a:r>
              <a:rPr dirty="0"/>
              <a:t>specify</a:t>
            </a:r>
            <a:r>
              <a:rPr spc="-25" dirty="0"/>
              <a:t> </a:t>
            </a:r>
            <a:r>
              <a:rPr spc="-100" dirty="0"/>
              <a:t>a</a:t>
            </a:r>
            <a:r>
              <a:rPr spc="-30" dirty="0"/>
              <a:t> </a:t>
            </a:r>
            <a:r>
              <a:rPr spc="-10" dirty="0"/>
              <a:t>loglevel.</a:t>
            </a:r>
          </a:p>
          <a:p>
            <a:pPr marL="67310" marR="5080">
              <a:lnSpc>
                <a:spcPct val="100499"/>
              </a:lnSpc>
              <a:spcBef>
                <a:spcPts val="805"/>
              </a:spcBef>
            </a:pPr>
            <a:r>
              <a:rPr spc="-20" dirty="0"/>
              <a:t>The</a:t>
            </a:r>
            <a:r>
              <a:rPr spc="-50" dirty="0"/>
              <a:t> </a:t>
            </a:r>
            <a:r>
              <a:rPr dirty="0"/>
              <a:t>kernel</a:t>
            </a:r>
            <a:r>
              <a:rPr spc="-55" dirty="0"/>
              <a:t> </a:t>
            </a:r>
            <a:r>
              <a:rPr spc="-65" dirty="0"/>
              <a:t>uses</a:t>
            </a:r>
            <a:r>
              <a:rPr spc="-50" dirty="0"/>
              <a:t> </a:t>
            </a:r>
            <a:r>
              <a:rPr spc="105" dirty="0"/>
              <a:t>the</a:t>
            </a:r>
            <a:r>
              <a:rPr spc="-50" dirty="0"/>
              <a:t> </a:t>
            </a:r>
            <a:r>
              <a:rPr spc="45" dirty="0"/>
              <a:t>loglevel</a:t>
            </a:r>
            <a:r>
              <a:rPr spc="-55" dirty="0"/>
              <a:t> </a:t>
            </a:r>
            <a:r>
              <a:rPr spc="155" dirty="0"/>
              <a:t>to</a:t>
            </a:r>
            <a:r>
              <a:rPr spc="-50" dirty="0"/>
              <a:t> </a:t>
            </a:r>
            <a:r>
              <a:rPr dirty="0"/>
              <a:t>decide</a:t>
            </a:r>
            <a:r>
              <a:rPr spc="-50" dirty="0"/>
              <a:t> </a:t>
            </a:r>
            <a:r>
              <a:rPr spc="80" dirty="0"/>
              <a:t>whether</a:t>
            </a:r>
            <a:r>
              <a:rPr spc="-55" dirty="0"/>
              <a:t> </a:t>
            </a:r>
            <a:r>
              <a:rPr spc="155" dirty="0"/>
              <a:t>to</a:t>
            </a:r>
            <a:r>
              <a:rPr spc="-50" dirty="0"/>
              <a:t> </a:t>
            </a:r>
            <a:r>
              <a:rPr spc="100" dirty="0"/>
              <a:t>print </a:t>
            </a:r>
            <a:r>
              <a:rPr spc="105" dirty="0"/>
              <a:t>the</a:t>
            </a:r>
            <a:r>
              <a:rPr spc="-80" dirty="0"/>
              <a:t> </a:t>
            </a:r>
            <a:r>
              <a:rPr spc="-35" dirty="0"/>
              <a:t>message</a:t>
            </a:r>
            <a:r>
              <a:rPr spc="-75" dirty="0"/>
              <a:t> </a:t>
            </a:r>
            <a:r>
              <a:rPr spc="160" dirty="0"/>
              <a:t>to</a:t>
            </a:r>
            <a:r>
              <a:rPr spc="-80" dirty="0"/>
              <a:t> </a:t>
            </a:r>
            <a:r>
              <a:rPr spc="105" dirty="0"/>
              <a:t>the</a:t>
            </a:r>
            <a:r>
              <a:rPr spc="-70" dirty="0"/>
              <a:t> </a:t>
            </a:r>
            <a:r>
              <a:rPr spc="-10" dirty="0"/>
              <a:t>console.</a:t>
            </a:r>
            <a:r>
              <a:rPr spc="-70" dirty="0"/>
              <a:t> </a:t>
            </a:r>
            <a:r>
              <a:rPr spc="-20" dirty="0"/>
              <a:t>The</a:t>
            </a:r>
            <a:r>
              <a:rPr spc="-75" dirty="0"/>
              <a:t> </a:t>
            </a:r>
            <a:r>
              <a:rPr dirty="0"/>
              <a:t>kernel</a:t>
            </a:r>
            <a:r>
              <a:rPr spc="-70" dirty="0"/>
              <a:t> </a:t>
            </a:r>
            <a:r>
              <a:rPr spc="-10" dirty="0"/>
              <a:t>displays</a:t>
            </a:r>
            <a:r>
              <a:rPr spc="-85" dirty="0"/>
              <a:t> </a:t>
            </a:r>
            <a:r>
              <a:rPr spc="-25" dirty="0"/>
              <a:t>all </a:t>
            </a:r>
            <a:r>
              <a:rPr spc="-50" dirty="0"/>
              <a:t>messages</a:t>
            </a:r>
            <a:r>
              <a:rPr spc="-40" dirty="0"/>
              <a:t> </a:t>
            </a:r>
            <a:r>
              <a:rPr spc="120" dirty="0"/>
              <a:t>with</a:t>
            </a:r>
            <a:r>
              <a:rPr spc="-40" dirty="0"/>
              <a:t> </a:t>
            </a:r>
            <a:r>
              <a:rPr spc="-100" dirty="0"/>
              <a:t>a</a:t>
            </a:r>
            <a:r>
              <a:rPr spc="-40" dirty="0"/>
              <a:t> </a:t>
            </a:r>
            <a:r>
              <a:rPr spc="45" dirty="0"/>
              <a:t>loglevel</a:t>
            </a:r>
            <a:r>
              <a:rPr spc="-40" dirty="0"/>
              <a:t> </a:t>
            </a:r>
            <a:r>
              <a:rPr spc="60" dirty="0"/>
              <a:t>below</a:t>
            </a:r>
            <a:r>
              <a:rPr spc="-40" dirty="0"/>
              <a:t> </a:t>
            </a:r>
            <a:r>
              <a:rPr spc="-100" dirty="0"/>
              <a:t>a</a:t>
            </a:r>
            <a:r>
              <a:rPr spc="-45" dirty="0"/>
              <a:t> </a:t>
            </a:r>
            <a:r>
              <a:rPr dirty="0"/>
              <a:t>specified</a:t>
            </a:r>
            <a:r>
              <a:rPr spc="-30" dirty="0"/>
              <a:t> </a:t>
            </a:r>
            <a:r>
              <a:rPr dirty="0"/>
              <a:t>value</a:t>
            </a:r>
            <a:r>
              <a:rPr spc="-45" dirty="0"/>
              <a:t> </a:t>
            </a:r>
            <a:r>
              <a:rPr dirty="0"/>
              <a:t>on</a:t>
            </a:r>
            <a:r>
              <a:rPr spc="-40" dirty="0"/>
              <a:t> </a:t>
            </a:r>
            <a:r>
              <a:rPr spc="80" dirty="0"/>
              <a:t>the </a:t>
            </a:r>
            <a:r>
              <a:rPr spc="-10" dirty="0"/>
              <a:t>console.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7209" y="2340609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7209" y="3544570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7209" y="4381500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What</a:t>
            </a:r>
            <a:r>
              <a:rPr spc="-170" dirty="0"/>
              <a:t> </a:t>
            </a:r>
            <a:r>
              <a:rPr spc="-10" dirty="0"/>
              <a:t>is</a:t>
            </a:r>
            <a:r>
              <a:rPr spc="-180" dirty="0"/>
              <a:t> </a:t>
            </a:r>
            <a:r>
              <a:rPr spc="40" dirty="0"/>
              <a:t>printk?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0110" y="1417320"/>
            <a:ext cx="6708140" cy="143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8299"/>
              </a:lnSpc>
              <a:spcBef>
                <a:spcPts val="95"/>
              </a:spcBef>
            </a:pPr>
            <a:r>
              <a:rPr sz="2400" spc="-45" dirty="0">
                <a:latin typeface="Microsoft Sans Serif"/>
                <a:cs typeface="Microsoft Sans Serif"/>
              </a:rPr>
              <a:t>printk(KERN_WARNING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"This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is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a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warning!\n"); </a:t>
            </a:r>
            <a:r>
              <a:rPr sz="2400" spc="-50" dirty="0">
                <a:latin typeface="Microsoft Sans Serif"/>
                <a:cs typeface="Microsoft Sans Serif"/>
              </a:rPr>
              <a:t>printk(KERN_DEBUG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"This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is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a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debug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35" dirty="0">
                <a:latin typeface="Microsoft Sans Serif"/>
                <a:cs typeface="Microsoft Sans Serif"/>
              </a:rPr>
              <a:t>notice!\n"); </a:t>
            </a:r>
            <a:r>
              <a:rPr sz="2400" spc="75" dirty="0">
                <a:latin typeface="Microsoft Sans Serif"/>
                <a:cs typeface="Microsoft Sans Serif"/>
              </a:rPr>
              <a:t>printk("I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did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not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specify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a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loglevel!\n");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9390" algn="l"/>
              </a:tabLst>
            </a:pPr>
            <a:r>
              <a:rPr spc="140" dirty="0"/>
              <a:t>printk</a:t>
            </a:r>
            <a:r>
              <a:rPr dirty="0"/>
              <a:t>	</a:t>
            </a:r>
            <a:r>
              <a:rPr spc="-120" dirty="0"/>
              <a:t>:</a:t>
            </a:r>
            <a:r>
              <a:rPr spc="-125" dirty="0"/>
              <a:t> </a:t>
            </a:r>
            <a:r>
              <a:rPr spc="-10" dirty="0"/>
              <a:t>example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34AEE-191F-298C-205B-7F86DD5FB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686164-F2EF-F592-1733-56AD7B23A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2133600"/>
            <a:ext cx="3733800" cy="3733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E7AB88-67A9-DAF1-A5A0-6FE9CAF6FC26}"/>
              </a:ext>
            </a:extLst>
          </p:cNvPr>
          <p:cNvSpPr txBox="1"/>
          <p:nvPr/>
        </p:nvSpPr>
        <p:spPr>
          <a:xfrm>
            <a:off x="381000" y="1524000"/>
            <a:ext cx="693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Path: </a:t>
            </a:r>
            <a:r>
              <a:rPr lang="en-US" sz="2800" dirty="0" err="1"/>
              <a:t>kernel_lecture</a:t>
            </a:r>
            <a:r>
              <a:rPr lang="en-US" sz="2800" dirty="0"/>
              <a:t>/02_modules/hello</a:t>
            </a:r>
          </a:p>
        </p:txBody>
      </p:sp>
    </p:spTree>
    <p:extLst>
      <p:ext uri="{BB962C8B-B14F-4D97-AF65-F5344CB8AC3E}">
        <p14:creationId xmlns:p14="http://schemas.microsoft.com/office/powerpoint/2010/main" val="19408146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1305560"/>
            <a:chOff x="0" y="0"/>
            <a:chExt cx="9144000" cy="13055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0190" cy="1088390"/>
            </a:xfrm>
            <a:custGeom>
              <a:avLst/>
              <a:gdLst/>
              <a:ahLst/>
              <a:cxnLst/>
              <a:rect l="l" t="t" r="r" b="b"/>
              <a:pathLst>
                <a:path w="9140190" h="1088390">
                  <a:moveTo>
                    <a:pt x="0" y="1088389"/>
                  </a:moveTo>
                  <a:lnTo>
                    <a:pt x="9140190" y="1088389"/>
                  </a:lnTo>
                  <a:lnTo>
                    <a:pt x="9140190" y="0"/>
                  </a:lnTo>
                  <a:lnTo>
                    <a:pt x="0" y="0"/>
                  </a:lnTo>
                  <a:lnTo>
                    <a:pt x="0" y="108838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88389"/>
              <a:ext cx="9144000" cy="217170"/>
            </a:xfrm>
            <a:custGeom>
              <a:avLst/>
              <a:gdLst/>
              <a:ahLst/>
              <a:cxnLst/>
              <a:rect l="l" t="t" r="r" b="b"/>
              <a:pathLst>
                <a:path w="9144000" h="217169">
                  <a:moveTo>
                    <a:pt x="9144000" y="0"/>
                  </a:moveTo>
                  <a:lnTo>
                    <a:pt x="0" y="0"/>
                  </a:lnTo>
                  <a:lnTo>
                    <a:pt x="0" y="217170"/>
                  </a:lnTo>
                  <a:lnTo>
                    <a:pt x="9144000" y="21717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1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6605269"/>
            <a:ext cx="9138920" cy="252729"/>
          </a:xfrm>
          <a:custGeom>
            <a:avLst/>
            <a:gdLst/>
            <a:ahLst/>
            <a:cxnLst/>
            <a:rect l="l" t="t" r="r" b="b"/>
            <a:pathLst>
              <a:path w="9138920" h="252729">
                <a:moveTo>
                  <a:pt x="0" y="252729"/>
                </a:moveTo>
                <a:lnTo>
                  <a:pt x="0" y="0"/>
                </a:lnTo>
                <a:lnTo>
                  <a:pt x="9138920" y="0"/>
                </a:lnTo>
                <a:lnTo>
                  <a:pt x="9138920" y="252729"/>
                </a:lnTo>
                <a:lnTo>
                  <a:pt x="0" y="252729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0416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Thank</a:t>
            </a:r>
            <a:r>
              <a:rPr spc="-185" dirty="0"/>
              <a:t> </a:t>
            </a:r>
            <a:r>
              <a:rPr spc="-25" dirty="0"/>
              <a:t>you</a:t>
            </a:r>
          </a:p>
        </p:txBody>
      </p:sp>
      <p:sp>
        <p:nvSpPr>
          <p:cNvPr id="10" name="object 10"/>
          <p:cNvSpPr/>
          <p:nvPr/>
        </p:nvSpPr>
        <p:spPr>
          <a:xfrm>
            <a:off x="2877185" y="3018789"/>
            <a:ext cx="3384550" cy="1080770"/>
          </a:xfrm>
          <a:custGeom>
            <a:avLst/>
            <a:gdLst/>
            <a:ahLst/>
            <a:cxnLst/>
            <a:rect l="l" t="t" r="r" b="b"/>
            <a:pathLst>
              <a:path w="3384550" h="1080770">
                <a:moveTo>
                  <a:pt x="3384550" y="0"/>
                </a:moveTo>
                <a:lnTo>
                  <a:pt x="0" y="0"/>
                </a:lnTo>
                <a:lnTo>
                  <a:pt x="0" y="1080770"/>
                </a:lnTo>
                <a:lnTo>
                  <a:pt x="1691639" y="1080770"/>
                </a:lnTo>
                <a:lnTo>
                  <a:pt x="3384550" y="1080770"/>
                </a:lnTo>
                <a:lnTo>
                  <a:pt x="3384550" y="0"/>
                </a:lnTo>
                <a:close/>
              </a:path>
            </a:pathLst>
          </a:custGeom>
          <a:solidFill>
            <a:srgbClr val="98FF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877185" y="3018789"/>
            <a:ext cx="3384550" cy="1080770"/>
          </a:xfrm>
          <a:prstGeom prst="rect">
            <a:avLst/>
          </a:prstGeom>
          <a:ln w="3175">
            <a:solidFill>
              <a:srgbClr val="3364A3"/>
            </a:solidFill>
          </a:ln>
        </p:spPr>
        <p:txBody>
          <a:bodyPr vert="horz" wrap="square" lIns="0" tIns="128270" rIns="0" bIns="0" rtlCol="0">
            <a:spAutoFit/>
          </a:bodyPr>
          <a:lstStyle/>
          <a:p>
            <a:pPr marL="130810" marR="125095" indent="635" algn="ctr">
              <a:lnSpc>
                <a:spcPct val="100000"/>
              </a:lnSpc>
              <a:spcBef>
                <a:spcPts val="1010"/>
              </a:spcBef>
            </a:pPr>
            <a:r>
              <a:rPr sz="1800" b="1" spc="-10" dirty="0">
                <a:latin typeface="Arial"/>
                <a:cs typeface="Arial"/>
              </a:rPr>
              <a:t>Blogs </a:t>
            </a:r>
            <a:r>
              <a:rPr sz="1800" spc="40" dirty="0">
                <a:latin typeface="Microsoft Sans Serif"/>
                <a:cs typeface="Microsoft Sans Serif"/>
                <a:hlinkClick r:id="rId2"/>
              </a:rPr>
              <a:t>http://digitallocha.blogspot.in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40" dirty="0">
                <a:latin typeface="Microsoft Sans Serif"/>
                <a:cs typeface="Microsoft Sans Serif"/>
                <a:hlinkClick r:id="rId3"/>
              </a:rPr>
              <a:t>http://kyamputar.blogspot.in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</TotalTime>
  <Words>1102</Words>
  <Application>Microsoft Macintosh PowerPoint</Application>
  <PresentationFormat>On-screen Show (4:3)</PresentationFormat>
  <Paragraphs>179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Arial MT</vt:lpstr>
      <vt:lpstr>Calibri</vt:lpstr>
      <vt:lpstr>Courier New</vt:lpstr>
      <vt:lpstr>Microsoft Sans Serif</vt:lpstr>
      <vt:lpstr>Times New Roman</vt:lpstr>
      <vt:lpstr>Office Theme</vt:lpstr>
      <vt:lpstr>Linux Kernel Module Programming</vt:lpstr>
      <vt:lpstr>Kernel Modules</vt:lpstr>
      <vt:lpstr>Examples:</vt:lpstr>
      <vt:lpstr>Advantages</vt:lpstr>
      <vt:lpstr>Utilities to manipulate kernel modules</vt:lpstr>
      <vt:lpstr>lsmod</vt:lpstr>
      <vt:lpstr>modinfo</vt:lpstr>
      <vt:lpstr>insmod</vt:lpstr>
      <vt:lpstr>rmmod</vt:lpstr>
      <vt:lpstr>Kernel Module Implementation</vt:lpstr>
      <vt:lpstr>Linux Kernel Module Programming</vt:lpstr>
      <vt:lpstr>Files created after building the module</vt:lpstr>
      <vt:lpstr>Example: hello.c</vt:lpstr>
      <vt:lpstr>Makefile</vt:lpstr>
      <vt:lpstr>Prerequisites</vt:lpstr>
      <vt:lpstr>Compile the program</vt:lpstr>
      <vt:lpstr>File generated</vt:lpstr>
      <vt:lpstr>Insert the module</vt:lpstr>
      <vt:lpstr>Check the module in the list</vt:lpstr>
      <vt:lpstr>Check kernel ring buffer</vt:lpstr>
      <vt:lpstr>Check kernel ring buffer</vt:lpstr>
      <vt:lpstr>Removing the module</vt:lpstr>
      <vt:lpstr>What is dmesg?</vt:lpstr>
      <vt:lpstr>What is printk?</vt:lpstr>
      <vt:lpstr>printk : example</vt:lpstr>
      <vt:lpstr>Code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Formal Powerpoint presentation</dc:title>
  <dc:creator>Presentation Magazine</dc:creator>
  <cp:lastModifiedBy>Jayaprakash Subramanian</cp:lastModifiedBy>
  <cp:revision>3</cp:revision>
  <dcterms:created xsi:type="dcterms:W3CDTF">2026-01-30T01:25:59Z</dcterms:created>
  <dcterms:modified xsi:type="dcterms:W3CDTF">2026-01-30T05:20:35Z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2015-02-27T00:00:00Z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4.2</vt:lpwstr>
  </property>
  <property fmtid="{D5CDD505-2E9C-101B-9397-08002B2CF9AE}" pid="5" name="LastSaved">
    <vt:filetime>2015-02-27T00:00:00Z</vt:filetime>
  </property>
</Properties>
</file>