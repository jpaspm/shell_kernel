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4" r:id="rId1"/>
  </p:sldMasterIdLst>
  <p:sldIdLst>
    <p:sldId id="256" r:id="rId2"/>
    <p:sldId id="270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71" r:id="rId16"/>
    <p:sldId id="269" r:id="rId17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697"/>
    <p:restoredTop sz="94705"/>
  </p:normalViewPr>
  <p:slideViewPr>
    <p:cSldViewPr snapToGrid="0" snapToObjects="1">
      <p:cViewPr varScale="1">
        <p:scale>
          <a:sx n="103" d="100"/>
          <a:sy n="103" d="100"/>
        </p:scale>
        <p:origin x="184" y="28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3.png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Layouts/_rels/slideLayout9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685800" y="1346947"/>
            <a:ext cx="7772400" cy="80683"/>
          </a:xfrm>
          <a:prstGeom prst="rect">
            <a:avLst/>
          </a:prstGeom>
          <a:blipFill dpi="0" rotWithShape="1">
            <a:blip r:embed="rId2">
              <a:alphaModFix amt="80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6200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685800" y="4282763"/>
            <a:ext cx="7772400" cy="80683"/>
          </a:xfrm>
          <a:prstGeom prst="rect">
            <a:avLst/>
          </a:prstGeom>
          <a:blipFill dpi="0" rotWithShape="1">
            <a:blip r:embed="rId2">
              <a:alphaModFix amt="80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175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685800" y="1484779"/>
            <a:ext cx="7772400" cy="2743200"/>
          </a:xfrm>
          <a:prstGeom prst="rect">
            <a:avLst/>
          </a:prstGeom>
          <a:blipFill dpi="0" rotWithShape="1">
            <a:blip r:embed="rId2">
              <a:alphaModFix amt="80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/>
          <p:cNvGrpSpPr>
            <a:grpSpLocks noChangeAspect="1"/>
          </p:cNvGrpSpPr>
          <p:nvPr/>
        </p:nvGrpSpPr>
        <p:grpSpPr>
          <a:xfrm>
            <a:off x="7234780" y="4107023"/>
            <a:ext cx="914400" cy="914400"/>
            <a:chOff x="9685338" y="4460675"/>
            <a:chExt cx="1080904" cy="1080902"/>
          </a:xfrm>
        </p:grpSpPr>
        <p:sp>
          <p:nvSpPr>
            <p:cNvPr id="11" name="Oval 10"/>
            <p:cNvSpPr/>
            <p:nvPr/>
          </p:nvSpPr>
          <p:spPr>
            <a:xfrm>
              <a:off x="9685338" y="4460675"/>
              <a:ext cx="1080904" cy="1080902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</a14:imgLayer>
                    </a14:imgProps>
                  </a:ext>
                </a:extLst>
              </a:blip>
              <a:srcRect/>
              <a:tile tx="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ckwell Extra Bold" pitchFamily="18" charset="0"/>
                <a:ea typeface="+mn-ea"/>
                <a:cs typeface="+mn-cs"/>
              </a:endParaRPr>
            </a:p>
          </p:txBody>
        </p:sp>
        <p:sp>
          <p:nvSpPr>
            <p:cNvPr id="12" name="Oval 11"/>
            <p:cNvSpPr/>
            <p:nvPr/>
          </p:nvSpPr>
          <p:spPr>
            <a:xfrm>
              <a:off x="9793429" y="4568765"/>
              <a:ext cx="864723" cy="864722"/>
            </a:xfrm>
            <a:prstGeom prst="ellipse">
              <a:avLst/>
            </a:prstGeom>
            <a:noFill/>
            <a:ln w="25400" cap="flat" cmpd="sng" algn="ctr">
              <a:solidFill>
                <a:sysClr val="window" lastClr="FFFFFF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88670" y="1432223"/>
            <a:ext cx="7593330" cy="3035808"/>
          </a:xfrm>
        </p:spPr>
        <p:txBody>
          <a:bodyPr anchor="ctr">
            <a:noAutofit/>
          </a:bodyPr>
          <a:lstStyle>
            <a:lvl1pPr algn="l">
              <a:lnSpc>
                <a:spcPct val="80000"/>
              </a:lnSpc>
              <a:defRPr sz="6400" b="0" cap="all" baseline="0">
                <a:blipFill dpi="0" rotWithShape="1">
                  <a:blip r:embed="rId4"/>
                  <a:srcRect/>
                  <a:tile tx="6350" ty="-127000" sx="65000" sy="64000" flip="none" algn="tl"/>
                </a:blip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02386" y="4389120"/>
            <a:ext cx="5918454" cy="1069848"/>
          </a:xfrm>
        </p:spPr>
        <p:txBody>
          <a:bodyPr>
            <a:normAutofit/>
          </a:bodyPr>
          <a:lstStyle>
            <a:lvl1pPr marL="0" indent="0" algn="l">
              <a:buNone/>
              <a:defRPr sz="1800" b="0">
                <a:solidFill>
                  <a:schemeClr val="tx1"/>
                </a:solidFill>
              </a:defRPr>
            </a:lvl1pPr>
            <a:lvl2pPr marL="457200" indent="0" algn="ctr">
              <a:buNone/>
              <a:defRPr sz="28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812805" y="6272785"/>
            <a:ext cx="4745736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244280" y="4227195"/>
            <a:ext cx="895401" cy="640080"/>
          </a:xfrm>
        </p:spPr>
        <p:txBody>
          <a:bodyPr/>
          <a:lstStyle>
            <a:lvl1pPr>
              <a:defRPr sz="2800" b="1"/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64498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1/30/26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01503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4917989"/>
            <a:ext cx="9144000" cy="1940010"/>
          </a:xfrm>
          <a:prstGeom prst="rect">
            <a:avLst/>
          </a:prstGeom>
          <a:blipFill dpi="0" rotWithShape="1">
            <a:blip r:embed="rId2">
              <a:alphaModFix amt="80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25346" y="1225296"/>
            <a:ext cx="6960870" cy="3520440"/>
          </a:xfrm>
        </p:spPr>
        <p:txBody>
          <a:bodyPr anchor="ctr">
            <a:normAutofit/>
          </a:bodyPr>
          <a:lstStyle>
            <a:lvl1pPr>
              <a:lnSpc>
                <a:spcPct val="80000"/>
              </a:lnSpc>
              <a:defRPr sz="6400" b="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24330" y="5020056"/>
            <a:ext cx="6789420" cy="1066800"/>
          </a:xfrm>
        </p:spPr>
        <p:txBody>
          <a:bodyPr anchor="t">
            <a:normAutofit/>
          </a:bodyPr>
          <a:lstStyle>
            <a:lvl1pPr marL="0" indent="0">
              <a:buNone/>
              <a:defRPr sz="1800" b="0">
                <a:solidFill>
                  <a:schemeClr val="accent1">
                    <a:lumMod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45251" y="6272785"/>
            <a:ext cx="1983232" cy="365125"/>
          </a:xfrm>
        </p:spPr>
        <p:txBody>
          <a:bodyPr/>
          <a:lstStyle>
            <a:lvl1pPr>
              <a:defRPr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636099" y="6272784"/>
            <a:ext cx="4745736" cy="365125"/>
          </a:xfrm>
        </p:spPr>
        <p:txBody>
          <a:bodyPr/>
          <a:lstStyle>
            <a:lvl1pPr>
              <a:defRPr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endParaRPr lang="en-US"/>
          </a:p>
        </p:txBody>
      </p:sp>
      <p:grpSp>
        <p:nvGrpSpPr>
          <p:cNvPr id="8" name="Group 7"/>
          <p:cNvGrpSpPr>
            <a:grpSpLocks noChangeAspect="1"/>
          </p:cNvGrpSpPr>
          <p:nvPr/>
        </p:nvGrpSpPr>
        <p:grpSpPr>
          <a:xfrm>
            <a:off x="633862" y="2430623"/>
            <a:ext cx="914400" cy="914400"/>
            <a:chOff x="9685338" y="4460675"/>
            <a:chExt cx="1080904" cy="1080902"/>
          </a:xfrm>
        </p:grpSpPr>
        <p:sp>
          <p:nvSpPr>
            <p:cNvPr id="9" name="Oval 8"/>
            <p:cNvSpPr/>
            <p:nvPr/>
          </p:nvSpPr>
          <p:spPr>
            <a:xfrm>
              <a:off x="9685338" y="4460675"/>
              <a:ext cx="1080904" cy="1080902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</a14:imgLayer>
                    </a14:imgProps>
                  </a:ext>
                </a:extLst>
              </a:blip>
              <a:srcRect/>
              <a:tile tx="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ckwell Extra Bold" pitchFamily="18" charset="0"/>
                <a:ea typeface="+mn-ea"/>
                <a:cs typeface="+mn-cs"/>
              </a:endParaRPr>
            </a:p>
          </p:txBody>
        </p:sp>
        <p:sp>
          <p:nvSpPr>
            <p:cNvPr id="10" name="Oval 9"/>
            <p:cNvSpPr/>
            <p:nvPr/>
          </p:nvSpPr>
          <p:spPr>
            <a:xfrm>
              <a:off x="9793429" y="4568765"/>
              <a:ext cx="864723" cy="864722"/>
            </a:xfrm>
            <a:prstGeom prst="ellipse">
              <a:avLst/>
            </a:prstGeom>
            <a:noFill/>
            <a:ln w="25400" cap="flat" cmpd="sng" algn="ctr">
              <a:solidFill>
                <a:sysClr val="window" lastClr="FFFFFF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450" y="2508607"/>
            <a:ext cx="891224" cy="720332"/>
          </a:xfrm>
        </p:spPr>
        <p:txBody>
          <a:bodyPr/>
          <a:lstStyle>
            <a:lvl1pPr>
              <a:defRPr sz="2800"/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741632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2194560"/>
            <a:ext cx="3657600" cy="3977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92218" y="2194560"/>
            <a:ext cx="3657600" cy="3977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34612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2048256"/>
            <a:ext cx="3657600" cy="640080"/>
          </a:xfrm>
        </p:spPr>
        <p:txBody>
          <a:bodyPr anchor="ctr">
            <a:normAutofit/>
          </a:bodyPr>
          <a:lstStyle>
            <a:lvl1pPr marL="0" indent="0">
              <a:buNone/>
              <a:defRPr sz="2000" b="1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5800" y="2743200"/>
            <a:ext cx="3657600" cy="32918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820793" y="2048256"/>
            <a:ext cx="3657600" cy="640080"/>
          </a:xfrm>
        </p:spPr>
        <p:txBody>
          <a:bodyPr anchor="ctr">
            <a:normAutofit/>
          </a:bodyPr>
          <a:lstStyle>
            <a:lvl1pPr marL="0" indent="0">
              <a:buNone/>
              <a:defRPr sz="2000" b="1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820793" y="2743200"/>
            <a:ext cx="3657600" cy="32918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1/30/26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398773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20613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1/30/26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32816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6227806" y="1"/>
            <a:ext cx="2916194" cy="6857999"/>
          </a:xfrm>
          <a:prstGeom prst="rect">
            <a:avLst/>
          </a:prstGeom>
          <a:blipFill dpi="0" rotWithShape="1">
            <a:blip r:embed="rId2">
              <a:alphaModFix amt="60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12230" y="685800"/>
            <a:ext cx="2400300" cy="1737360"/>
          </a:xfrm>
        </p:spPr>
        <p:txBody>
          <a:bodyPr anchor="b">
            <a:normAutofit/>
          </a:bodyPr>
          <a:lstStyle>
            <a:lvl1pPr>
              <a:defRPr sz="2800" b="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685800"/>
            <a:ext cx="5033772" cy="5020056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412230" y="2423160"/>
            <a:ext cx="2400300" cy="329184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350">
                <a:solidFill>
                  <a:schemeClr val="accent1">
                    <a:lumMod val="5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grpSp>
        <p:nvGrpSpPr>
          <p:cNvPr id="12" name="Group 11"/>
          <p:cNvGrpSpPr/>
          <p:nvPr/>
        </p:nvGrpSpPr>
        <p:grpSpPr>
          <a:xfrm>
            <a:off x="8522664" y="6255258"/>
            <a:ext cx="393192" cy="393192"/>
            <a:chOff x="8532189" y="5068824"/>
            <a:chExt cx="393192" cy="393192"/>
          </a:xfrm>
        </p:grpSpPr>
        <p:sp>
          <p:nvSpPr>
            <p:cNvPr id="13" name="Oval 12"/>
            <p:cNvSpPr>
              <a:spLocks noChangeAspect="1"/>
            </p:cNvSpPr>
            <p:nvPr/>
          </p:nvSpPr>
          <p:spPr>
            <a:xfrm>
              <a:off x="8532189" y="5068824"/>
              <a:ext cx="393192" cy="393192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ckwell Extra Bold" pitchFamily="18" charset="0"/>
                <a:ea typeface="+mn-ea"/>
                <a:cs typeface="+mn-cs"/>
              </a:endParaRPr>
            </a:p>
          </p:txBody>
        </p:sp>
        <p:sp>
          <p:nvSpPr>
            <p:cNvPr id="14" name="Oval 13"/>
            <p:cNvSpPr>
              <a:spLocks noChangeAspect="1"/>
            </p:cNvSpPr>
            <p:nvPr/>
          </p:nvSpPr>
          <p:spPr>
            <a:xfrm>
              <a:off x="8568766" y="5105400"/>
              <a:ext cx="320039" cy="320040"/>
            </a:xfrm>
            <a:prstGeom prst="ellipse">
              <a:avLst/>
            </a:prstGeom>
            <a:noFill/>
            <a:ln w="12700" cap="flat" cmpd="sng" algn="ctr">
              <a:solidFill>
                <a:srgbClr val="FFFFFF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9" name="Date Placeholder 8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1/30/26</a:t>
            </a:fld>
            <a:endParaRPr lang="en-US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1286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/>
        </p:nvSpPr>
        <p:spPr>
          <a:xfrm>
            <a:off x="6227806" y="1"/>
            <a:ext cx="2916194" cy="6857999"/>
          </a:xfrm>
          <a:prstGeom prst="rect">
            <a:avLst/>
          </a:prstGeom>
          <a:blipFill dpi="0" rotWithShape="1">
            <a:blip r:embed="rId2">
              <a:alphaModFix amt="60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12230" y="685800"/>
            <a:ext cx="2400300" cy="1737360"/>
          </a:xfrm>
        </p:spPr>
        <p:txBody>
          <a:bodyPr anchor="b">
            <a:normAutofit/>
          </a:bodyPr>
          <a:lstStyle>
            <a:lvl1pPr>
              <a:defRPr sz="2800" b="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0" y="0"/>
            <a:ext cx="6227805" cy="6858000"/>
          </a:xfrm>
          <a:solidFill>
            <a:schemeClr val="tx2">
              <a:lumMod val="20000"/>
              <a:lumOff val="80000"/>
            </a:schemeClr>
          </a:solidFill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412230" y="2423160"/>
            <a:ext cx="2400300" cy="329184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350">
                <a:solidFill>
                  <a:schemeClr val="accent1">
                    <a:lumMod val="5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grpSp>
        <p:nvGrpSpPr>
          <p:cNvPr id="12" name="Group 11"/>
          <p:cNvGrpSpPr/>
          <p:nvPr/>
        </p:nvGrpSpPr>
        <p:grpSpPr>
          <a:xfrm>
            <a:off x="8522664" y="6255258"/>
            <a:ext cx="393192" cy="393192"/>
            <a:chOff x="8532189" y="5068824"/>
            <a:chExt cx="393192" cy="393192"/>
          </a:xfrm>
        </p:grpSpPr>
        <p:sp>
          <p:nvSpPr>
            <p:cNvPr id="13" name="Oval 12"/>
            <p:cNvSpPr>
              <a:spLocks noChangeAspect="1"/>
            </p:cNvSpPr>
            <p:nvPr/>
          </p:nvSpPr>
          <p:spPr>
            <a:xfrm>
              <a:off x="8532189" y="5068824"/>
              <a:ext cx="393192" cy="393192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ckwell Extra Bold" pitchFamily="18" charset="0"/>
                <a:ea typeface="+mn-ea"/>
                <a:cs typeface="+mn-cs"/>
              </a:endParaRPr>
            </a:p>
          </p:txBody>
        </p:sp>
        <p:sp>
          <p:nvSpPr>
            <p:cNvPr id="14" name="Oval 13"/>
            <p:cNvSpPr>
              <a:spLocks noChangeAspect="1"/>
            </p:cNvSpPr>
            <p:nvPr/>
          </p:nvSpPr>
          <p:spPr>
            <a:xfrm>
              <a:off x="8568766" y="5105400"/>
              <a:ext cx="320039" cy="320040"/>
            </a:xfrm>
            <a:prstGeom prst="ellipse">
              <a:avLst/>
            </a:prstGeom>
            <a:noFill/>
            <a:ln w="12700" cap="flat" cmpd="sng" algn="ctr">
              <a:solidFill>
                <a:srgbClr val="FFFFFF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1/30/26</a:t>
            </a:fld>
            <a:endParaRPr lang="en-US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74368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1/30/26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719496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533400"/>
            <a:ext cx="1914525" cy="5638800"/>
          </a:xfrm>
        </p:spPr>
        <p:txBody>
          <a:bodyPr vert="eaVert"/>
          <a:lstStyle>
            <a:lvl1pPr>
              <a:defRPr b="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00100" y="533400"/>
            <a:ext cx="5629275" cy="5638800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1/30/26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07897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3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microsoft.com/office/2007/relationships/hdphoto" Target="../media/hdphoto1.wdp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/>
          <p:cNvGrpSpPr/>
          <p:nvPr/>
        </p:nvGrpSpPr>
        <p:grpSpPr>
          <a:xfrm>
            <a:off x="8522664" y="6255258"/>
            <a:ext cx="393192" cy="393192"/>
            <a:chOff x="8532189" y="5068824"/>
            <a:chExt cx="393192" cy="393192"/>
          </a:xfrm>
        </p:grpSpPr>
        <p:sp>
          <p:nvSpPr>
            <p:cNvPr id="8" name="Oval 7"/>
            <p:cNvSpPr>
              <a:spLocks noChangeAspect="1"/>
            </p:cNvSpPr>
            <p:nvPr/>
          </p:nvSpPr>
          <p:spPr>
            <a:xfrm>
              <a:off x="8532189" y="5068824"/>
              <a:ext cx="393192" cy="393192"/>
            </a:xfrm>
            <a:prstGeom prst="ellipse">
              <a:avLst/>
            </a:prstGeom>
            <a:blipFill dpi="0" rotWithShape="1">
              <a:blip r:embed="rId13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14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ckwell Extra Bold" pitchFamily="18" charset="0"/>
                <a:ea typeface="+mn-ea"/>
                <a:cs typeface="+mn-cs"/>
              </a:endParaRPr>
            </a:p>
          </p:txBody>
        </p:sp>
        <p:sp>
          <p:nvSpPr>
            <p:cNvPr id="9" name="Oval 8"/>
            <p:cNvSpPr>
              <a:spLocks noChangeAspect="1"/>
            </p:cNvSpPr>
            <p:nvPr/>
          </p:nvSpPr>
          <p:spPr>
            <a:xfrm>
              <a:off x="8568766" y="5105400"/>
              <a:ext cx="320039" cy="320040"/>
            </a:xfrm>
            <a:prstGeom prst="ellipse">
              <a:avLst/>
            </a:prstGeom>
            <a:noFill/>
            <a:ln w="12700" cap="flat" cmpd="sng" algn="ctr">
              <a:solidFill>
                <a:srgbClr val="FFFFFF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5800" y="484632"/>
            <a:ext cx="7772400" cy="160934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2121408"/>
            <a:ext cx="7772400" cy="405079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992368" y="6272785"/>
            <a:ext cx="245516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6272785"/>
            <a:ext cx="474573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483346" y="6272785"/>
            <a:ext cx="48006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100" b="1" spc="-70" baseline="0">
                <a:solidFill>
                  <a:srgbClr val="FFFFFF"/>
                </a:solidFill>
                <a:latin typeface="+mn-lt"/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53567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200" b="0" kern="1200" cap="all" baseline="0">
          <a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tile tx="6350" ty="-127000" sx="65000" sy="64000" flip="none" algn="tl"/>
          </a:blip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0000"/>
        </a:lnSpc>
        <a:spcBef>
          <a:spcPts val="1200"/>
        </a:spcBef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jpaspm/shell_programming.git" TargetMode="External"/><Relationship Id="rId2" Type="http://schemas.openxmlformats.org/officeDocument/2006/relationships/hyperlink" Target="https://github.com/jpaspm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logicopslab/BashScripting.git" TargetMode="Externa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jpaspm/shell_programming.git" TargetMode="External"/><Relationship Id="rId2" Type="http://schemas.openxmlformats.org/officeDocument/2006/relationships/hyperlink" Target="https://github.com/jpaspm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logicopslab/BashScripting.git" TargetMode="Externa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Shell Scripting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dirty="0"/>
              <a:t>Introduction and History</a:t>
            </a:r>
            <a:endParaRPr lang="en-US" dirty="0"/>
          </a:p>
          <a:p>
            <a:pPr marL="0" indent="0">
              <a:buNone/>
            </a:pPr>
            <a:endParaRPr lang="en-IN" dirty="0"/>
          </a:p>
          <a:p>
            <a:r>
              <a:rPr lang="en-IN" sz="3600" dirty="0">
                <a:hlinkClick r:id="rId2"/>
              </a:rPr>
              <a:t>https://github.com/jpaspm</a:t>
            </a:r>
            <a:endParaRPr lang="en-IN" sz="3600" dirty="0"/>
          </a:p>
          <a:p>
            <a:r>
              <a:rPr lang="en-IN" sz="3600" dirty="0">
                <a:hlinkClick r:id="rId3"/>
              </a:rPr>
              <a:t>https://github.com/jpaspm/shell_programming.git</a:t>
            </a:r>
            <a:endParaRPr lang="en-IN" sz="3600" dirty="0"/>
          </a:p>
          <a:p>
            <a:r>
              <a:rPr lang="en-IN" sz="3600" dirty="0">
                <a:hlinkClick r:id="rId4"/>
              </a:rPr>
              <a:t>https://github.com/logicopslab/BashScripting.git</a:t>
            </a:r>
            <a:endParaRPr lang="en-IN" sz="3600" dirty="0"/>
          </a:p>
          <a:p>
            <a:endParaRPr sz="3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6D3830-38CF-1688-987F-F991502C14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Git links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00BCED10-90E4-0A83-2F27-37EC16AC88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722" y="2731325"/>
            <a:ext cx="3034145" cy="3034145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175ED2AE-D2C2-4535-2861-2CE0FEB707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7498" y="2731324"/>
            <a:ext cx="3034146" cy="30341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42350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is a Shell?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Command-line interpreter</a:t>
            </a:r>
          </a:p>
          <a:p>
            <a:r>
              <a:t>Interface between user and kernel</a:t>
            </a:r>
          </a:p>
          <a:p>
            <a:r>
              <a:t>Executes commands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is Shell Scripting?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Sequence of shell commands</a:t>
            </a:r>
          </a:p>
          <a:p>
            <a:r>
              <a:t>Saved in a script file</a:t>
            </a:r>
          </a:p>
          <a:p>
            <a:r>
              <a:t>Used for automation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Why Shell Scripting?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System administration</a:t>
            </a:r>
          </a:p>
          <a:p>
            <a:r>
              <a:t>Task automation</a:t>
            </a:r>
          </a:p>
          <a:p>
            <a:r>
              <a:t>File &amp; process management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Features of Shell Scripting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Interpreted language</a:t>
            </a:r>
          </a:p>
          <a:p>
            <a:r>
              <a:t>Lightweight</a:t>
            </a:r>
          </a:p>
          <a:p>
            <a:r>
              <a:t>Powerful text processing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Early UNIX Era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Developed at AT&amp;T Bell Labs</a:t>
            </a:r>
          </a:p>
          <a:p>
            <a:r>
              <a:t>First shell by Ken Thompson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Bourne Shell (sh)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Developed by Stephen Bourne</a:t>
            </a:r>
          </a:p>
          <a:p>
            <a:r>
              <a:t>Introduced scripting, pipes, redirection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 Shell (csh)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Developed by Bill Joy</a:t>
            </a:r>
          </a:p>
          <a:p>
            <a:r>
              <a:t>C-like syntax</a:t>
            </a:r>
          </a:p>
          <a:p>
            <a:r>
              <a:t>Job control and history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Korn Shell (ksh)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Developed by David Korn</a:t>
            </a:r>
          </a:p>
          <a:p>
            <a:r>
              <a:t>Advanced scripting features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Bourne Again Shell (bash)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Developed for GNU Project</a:t>
            </a:r>
          </a:p>
          <a:p>
            <a:r>
              <a:t>Default Linux shell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Modern Shells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zsh – plugins &amp; customization</a:t>
            </a:r>
          </a:p>
          <a:p>
            <a:r>
              <a:t>fish – user friendly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Evolution Timeline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sh → csh → ksh → bash → zsh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Shell Scripting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DevOps</a:t>
            </a:r>
          </a:p>
          <a:p>
            <a:r>
              <a:t>Cloud automation</a:t>
            </a:r>
          </a:p>
          <a:p>
            <a:r>
              <a:t>CI/CD pipelines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RESOURCES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IN" dirty="0"/>
          </a:p>
          <a:p>
            <a:r>
              <a:rPr lang="en-IN" sz="3600" dirty="0">
                <a:hlinkClick r:id="rId2"/>
              </a:rPr>
              <a:t>https://github.com/jpaspm</a:t>
            </a:r>
            <a:endParaRPr lang="en-IN" sz="3600" dirty="0"/>
          </a:p>
          <a:p>
            <a:r>
              <a:rPr lang="en-IN" sz="3600" dirty="0">
                <a:hlinkClick r:id="rId3"/>
              </a:rPr>
              <a:t>https://github.com/jpaspm/shell_programming.git</a:t>
            </a:r>
            <a:endParaRPr lang="en-IN" sz="3600" dirty="0"/>
          </a:p>
          <a:p>
            <a:r>
              <a:rPr lang="en-IN" sz="3600" dirty="0">
                <a:hlinkClick r:id="rId4"/>
              </a:rPr>
              <a:t>https://github.com/logicopslab/BashScripting.git</a:t>
            </a:r>
            <a:endParaRPr lang="en-IN" sz="3600" dirty="0"/>
          </a:p>
          <a:p>
            <a:endParaRPr sz="3600" dirty="0"/>
          </a:p>
        </p:txBody>
      </p:sp>
    </p:spTree>
    <p:extLst>
      <p:ext uri="{BB962C8B-B14F-4D97-AF65-F5344CB8AC3E}">
        <p14:creationId xmlns:p14="http://schemas.microsoft.com/office/powerpoint/2010/main" val="186297406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Shell scripting is foundational</a:t>
            </a:r>
          </a:p>
          <a:p>
            <a:r>
              <a:t>Still widely used today</a:t>
            </a:r>
          </a:p>
        </p:txBody>
      </p:sp>
    </p:spTree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Wood Type">
  <a:themeElements>
    <a:clrScheme name="Wood Type">
      <a:dk1>
        <a:sysClr val="windowText" lastClr="000000"/>
      </a:dk1>
      <a:lt1>
        <a:sysClr val="window" lastClr="FFFFFF"/>
      </a:lt1>
      <a:dk2>
        <a:srgbClr val="696464"/>
      </a:dk2>
      <a:lt2>
        <a:srgbClr val="E9E5DC"/>
      </a:lt2>
      <a:accent1>
        <a:srgbClr val="D34817"/>
      </a:accent1>
      <a:accent2>
        <a:srgbClr val="9B2D1F"/>
      </a:accent2>
      <a:accent3>
        <a:srgbClr val="A28E6A"/>
      </a:accent3>
      <a:accent4>
        <a:srgbClr val="956251"/>
      </a:accent4>
      <a:accent5>
        <a:srgbClr val="918485"/>
      </a:accent5>
      <a:accent6>
        <a:srgbClr val="855D5D"/>
      </a:accent6>
      <a:hlink>
        <a:srgbClr val="CC9900"/>
      </a:hlink>
      <a:folHlink>
        <a:srgbClr val="96A9A9"/>
      </a:folHlink>
    </a:clrScheme>
    <a:fontScheme name="Wood Type">
      <a:majorFont>
        <a:latin typeface="Rockwell Condensed" panose="02060603050405020104"/>
        <a:ea typeface=""/>
        <a:cs typeface=""/>
        <a:font script="Grek" typeface="Cambria"/>
        <a:font script="Cyrl" typeface="Cambria"/>
        <a:font script="Jpan" typeface="HG明朝B"/>
        <a:font script="Hang" typeface="바탕"/>
        <a:font script="Hans" typeface="方正姚体"/>
        <a:font script="Hant" typeface="微軟正黑體"/>
        <a:font script="Arab" typeface="Times New Roman"/>
        <a:font script="Hebr" typeface="David"/>
        <a:font script="Thai" typeface="Jasmine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Rockwell" panose="02060603020205020403"/>
        <a:ea typeface=""/>
        <a:cs typeface=""/>
        <a:font script="Grek" typeface="Cambria"/>
        <a:font script="Cyrl" typeface="Cambria"/>
        <a:font script="Jpan" typeface="HG明朝B"/>
        <a:font script="Hang" typeface="바탕"/>
        <a:font script="Hans" typeface="方正姚体"/>
        <a:font script="Hant" typeface="標楷體"/>
        <a:font script="Arab" typeface="Times New Roman"/>
        <a:font script="Hebr" typeface="David"/>
        <a:font script="Thai" typeface="Jasmine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inorFont>
    </a:fontScheme>
    <a:fmtScheme name="Wood Type">
      <a:fillStyleLst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tint val="70000"/>
                <a:shade val="63000"/>
              </a:schemeClr>
              <a:schemeClr val="phClr">
                <a:tint val="10000"/>
                <a:satMod val="150000"/>
              </a:schemeClr>
            </a:duotone>
          </a:blip>
          <a:tile tx="0" ty="0" sx="60000" sy="59000" flip="none" algn="tl"/>
        </a:blipFill>
        <a:blipFill rotWithShape="1">
          <a:blip xmlns:r="http://schemas.openxmlformats.org/officeDocument/2006/relationships" r:embed="rId1">
            <a:duotone>
              <a:schemeClr val="phClr">
                <a:shade val="36000"/>
                <a:satMod val="120000"/>
              </a:schemeClr>
              <a:schemeClr val="phClr">
                <a:tint val="40000"/>
              </a:schemeClr>
            </a:duotone>
          </a:blip>
          <a:tile tx="0" ty="0" sx="60000" sy="59000" flip="none" algn="tl"/>
        </a:blip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softEdge rad="12700"/>
          </a:effectLst>
        </a:effectStyle>
        <a:effectStyle>
          <a:effectLst>
            <a:outerShdw blurRad="50800" dist="19050" dir="5400000" algn="tl" rotWithShape="0">
              <a:srgbClr val="000000">
                <a:alpha val="60000"/>
              </a:srgbClr>
            </a:outerShdw>
            <a:softEdge rad="12700"/>
          </a:effectLst>
        </a:effectStyle>
      </a:effectStyleLst>
      <a:bgFillStyleLst>
        <a:solidFill>
          <a:schemeClr val="phClr"/>
        </a:solidFill>
        <a:solidFill>
          <a:schemeClr val="phClr">
            <a:shade val="97000"/>
            <a:satMod val="150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75000"/>
                <a:shade val="58000"/>
                <a:satMod val="120000"/>
              </a:schemeClr>
              <a:schemeClr val="phClr">
                <a:tint val="50000"/>
                <a:shade val="96000"/>
              </a:schemeClr>
            </a:duotone>
          </a:blip>
          <a:tile tx="0" ty="0" sx="100000" sy="10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ood Type" id="{7ACABC62-BF99-48CF-A9DC-4DB89C7B13DC}" vid="{142A1326-48AB-42A9-8428-CB14AA30176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{1C56BE13-E4BA-3744-8775-32F73419B966}tf10001070</Template>
  <TotalTime>1169</TotalTime>
  <Words>234</Words>
  <Application>Microsoft Macintosh PowerPoint</Application>
  <PresentationFormat>On-screen Show (4:3)</PresentationFormat>
  <Paragraphs>56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2" baseType="lpstr">
      <vt:lpstr>Calibri</vt:lpstr>
      <vt:lpstr>Rockwell</vt:lpstr>
      <vt:lpstr>Rockwell Condensed</vt:lpstr>
      <vt:lpstr>Rockwell Extra Bold</vt:lpstr>
      <vt:lpstr>Wingdings</vt:lpstr>
      <vt:lpstr>Wood Type</vt:lpstr>
      <vt:lpstr>Shell Scripting</vt:lpstr>
      <vt:lpstr>Git links</vt:lpstr>
      <vt:lpstr>What is a Shell?</vt:lpstr>
      <vt:lpstr>What is Shell Scripting?</vt:lpstr>
      <vt:lpstr>Why Shell Scripting?</vt:lpstr>
      <vt:lpstr>Features of Shell Scripting</vt:lpstr>
      <vt:lpstr>Early UNIX Era</vt:lpstr>
      <vt:lpstr>Bourne Shell (sh)</vt:lpstr>
      <vt:lpstr>C Shell (csh)</vt:lpstr>
      <vt:lpstr>Korn Shell (ksh)</vt:lpstr>
      <vt:lpstr>Bourne Again Shell (bash)</vt:lpstr>
      <vt:lpstr>Modern Shells</vt:lpstr>
      <vt:lpstr>Evolution Timeline</vt:lpstr>
      <vt:lpstr>Shell Scripting Today</vt:lpstr>
      <vt:lpstr>RESOURCES</vt:lpstr>
      <vt:lpstr>Summary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Shell Scripting</dc:title>
  <dc:subject/>
  <dc:creator/>
  <cp:keywords/>
  <dc:description>generated using python-pptx</dc:description>
  <cp:lastModifiedBy>Jayaprakash Subramanian</cp:lastModifiedBy>
  <cp:revision>3</cp:revision>
  <dcterms:created xsi:type="dcterms:W3CDTF">2013-01-27T09:14:16Z</dcterms:created>
  <dcterms:modified xsi:type="dcterms:W3CDTF">2026-01-30T14:00:07Z</dcterms:modified>
  <cp:category/>
</cp:coreProperties>
</file>